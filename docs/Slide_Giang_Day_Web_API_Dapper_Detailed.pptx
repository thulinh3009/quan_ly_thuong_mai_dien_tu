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914400" y="914400"/>
            <a:ext cx="10362895" cy="5029200"/>
          </a:xfrm>
          <a:prstGeom prst="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371600"/>
            <a:ext cx="9448495" cy="1371600"/>
          </a:xfrm>
          <a:prstGeom prst="rect">
            <a:avLst/>
          </a:prstGeom>
          <a:noFill/>
        </p:spPr>
        <p:txBody>
          <a:bodyPr wrap="square" lIns="0" tIns="0" rIns="0" bIns="0">
            <a:spAutoFit/>
          </a:bodyPr>
          <a:lstStyle/>
          <a:p>
            <a:pPr algn="ctr">
              <a:defRPr sz="3800" b="1">
                <a:solidFill>
                  <a:srgbClr val="F1F5F9"/>
                </a:solidFill>
                <a:latin typeface="Georgia"/>
              </a:defRPr>
            </a:pPr>
            <a:r>
              <a:t>PHÁT TRIỂN PHẦN MỀM HƯỚNG DỊCH VỤ</a:t>
            </a:r>
          </a:p>
        </p:txBody>
      </p:sp>
      <p:sp>
        <p:nvSpPr>
          <p:cNvPr id="4" name="TextBox 3"/>
          <p:cNvSpPr txBox="1"/>
          <p:nvPr/>
        </p:nvSpPr>
        <p:spPr>
          <a:xfrm>
            <a:off x="1371600" y="2743200"/>
            <a:ext cx="9448495" cy="914400"/>
          </a:xfrm>
          <a:prstGeom prst="rect">
            <a:avLst/>
          </a:prstGeom>
          <a:noFill/>
        </p:spPr>
        <p:txBody>
          <a:bodyPr wrap="square" lIns="0" tIns="0" rIns="0" bIns="0">
            <a:spAutoFit/>
          </a:bodyPr>
          <a:lstStyle/>
          <a:p>
            <a:pPr algn="ctr">
              <a:defRPr sz="1800">
                <a:solidFill>
                  <a:srgbClr val="38BDF8"/>
                </a:solidFill>
                <a:latin typeface="Verdana"/>
              </a:defRPr>
            </a:pPr>
            <a:r>
              <a:t>Bộ Slide Giảng Dạy Đầy Đủ &amp; Chuyên Sâu (Bài 1 - Bài 8)</a:t>
            </a:r>
          </a:p>
        </p:txBody>
      </p:sp>
      <p:sp>
        <p:nvSpPr>
          <p:cNvPr id="5" name="Rectangle 4"/>
          <p:cNvSpPr/>
          <p:nvPr/>
        </p:nvSpPr>
        <p:spPr>
          <a:xfrm>
            <a:off x="4114800" y="3657600"/>
            <a:ext cx="3962095" cy="381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931920"/>
            <a:ext cx="9448495" cy="1645920"/>
          </a:xfrm>
          <a:prstGeom prst="rect">
            <a:avLst/>
          </a:prstGeom>
          <a:noFill/>
        </p:spPr>
        <p:txBody>
          <a:bodyPr wrap="square" lIns="0" tIns="0" rIns="0" bIns="0">
            <a:spAutoFit/>
          </a:bodyPr>
          <a:lstStyle/>
          <a:p>
            <a:pPr algn="ctr">
              <a:defRPr sz="1400" b="1">
                <a:solidFill>
                  <a:srgbClr val="F1F5F9"/>
                </a:solidFill>
                <a:latin typeface="Verdana"/>
              </a:defRPr>
            </a:pPr>
            <a:r>
              <a:t>Tác giả: NGUYỄN HỮU ĐÔNG</a:t>
            </a:r>
            <a:br/>
            <a:r>
              <a:t>Khoa Công nghệ thông tin</a:t>
            </a:r>
          </a:p>
          <a:p>
            <a:pPr algn="ctr">
              <a:defRPr sz="1200">
                <a:solidFill>
                  <a:srgbClr val="94A3B8"/>
                </a:solidFill>
                <a:latin typeface="Verdana"/>
              </a:defRPr>
            </a:pPr>
            <a:r>
              <a:t>Trường Đại học Sư phạm Kỹ thuật Hưng Yên</a:t>
            </a:r>
          </a:p>
          <a:p>
            <a:pPr algn="ctr">
              <a:defRPr sz="1100">
                <a:solidFill>
                  <a:srgbClr val="38BDF8"/>
                </a:solidFill>
                <a:latin typeface="Verdana"/>
              </a:defRPr>
            </a:pPr>
            <a:r>
              <a:t>Hưng Yên, 2026</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 / 88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KHÓA HỌC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Khung kế hoạch đào tạo &amp; Phân bổ thời lượng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Tổng thời lượng đề xuất: 60 tiết (30 tiết lý thuyết, 30 tiết thực hành) - Hình thức: 70% thực hành thực tế</a:t>
            </a:r>
          </a:p>
        </p:txBody>
      </p:sp>
      <p:graphicFrame>
        <p:nvGraphicFramePr>
          <p:cNvPr id="6" name="Table 5"/>
          <p:cNvGraphicFramePr>
            <a:graphicFrameLocks noGrp="1"/>
          </p:cNvGraphicFramePr>
          <p:nvPr/>
        </p:nvGraphicFramePr>
        <p:xfrm>
          <a:off x="685800" y="2011680"/>
          <a:ext cx="10820095" cy="40233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596335">
                  <a:extLst>
                    <a:ext uri="{9D8B030D-6E8A-4147-A177-3AD203B41FA5}">
                      <a16:colId xmlns:a16="http://schemas.microsoft.com/office/drawing/2014/main" val="20004"/>
                    </a:ext>
                  </a:extLst>
                </a:gridCol>
              </a:tblGrid>
              <a:tr h="447040">
                <a:tc>
                  <a:txBody>
                    <a:bodyPr/>
                    <a:lstStyle/>
                    <a:p>
                      <a:pPr algn="l"/>
                      <a:r>
                        <a:rPr sz="1100" b="1">
                          <a:solidFill>
                            <a:srgbClr val="38BDF8"/>
                          </a:solidFill>
                          <a:latin typeface="Verdana"/>
                        </a:rPr>
                        <a:t>Bài</a:t>
                      </a:r>
                    </a:p>
                  </a:txBody>
                  <a:tcPr marL="76200" marR="76200" marT="50800" marB="50800">
                    <a:solidFill>
                      <a:srgbClr val="1E293B"/>
                    </a:solidFill>
                  </a:tcPr>
                </a:tc>
                <a:tc>
                  <a:txBody>
                    <a:bodyPr/>
                    <a:lstStyle/>
                    <a:p>
                      <a:pPr algn="l"/>
                      <a:r>
                        <a:rPr sz="1100" b="1">
                          <a:solidFill>
                            <a:srgbClr val="38BDF8"/>
                          </a:solidFill>
                          <a:latin typeface="Verdana"/>
                        </a:rPr>
                        <a:t>Chủ đề chi tiết</a:t>
                      </a:r>
                    </a:p>
                  </a:txBody>
                  <a:tcPr marL="76200" marR="76200" marT="50800" marB="50800">
                    <a:solidFill>
                      <a:srgbClr val="1E293B"/>
                    </a:solidFill>
                  </a:tcPr>
                </a:tc>
                <a:tc>
                  <a:txBody>
                    <a:bodyPr/>
                    <a:lstStyle/>
                    <a:p>
                      <a:pPr algn="l"/>
                      <a:r>
                        <a:rPr sz="1100" b="1">
                          <a:solidFill>
                            <a:srgbClr val="38BDF8"/>
                          </a:solidFill>
                          <a:latin typeface="Verdana"/>
                        </a:rPr>
                        <a:t>Lý thuyết</a:t>
                      </a:r>
                    </a:p>
                  </a:txBody>
                  <a:tcPr marL="76200" marR="76200" marT="50800" marB="50800">
                    <a:solidFill>
                      <a:srgbClr val="1E293B"/>
                    </a:solidFill>
                  </a:tcPr>
                </a:tc>
                <a:tc>
                  <a:txBody>
                    <a:bodyPr/>
                    <a:lstStyle/>
                    <a:p>
                      <a:pPr algn="l"/>
                      <a:r>
                        <a:rPr sz="1100" b="1">
                          <a:solidFill>
                            <a:srgbClr val="38BDF8"/>
                          </a:solidFill>
                          <a:latin typeface="Verdana"/>
                        </a:rPr>
                        <a:t>Thực hành</a:t>
                      </a:r>
                    </a:p>
                  </a:txBody>
                  <a:tcPr marL="76200" marR="76200" marT="50800" marB="50800">
                    <a:solidFill>
                      <a:srgbClr val="1E293B"/>
                    </a:solidFill>
                  </a:tcPr>
                </a:tc>
                <a:tc>
                  <a:txBody>
                    <a:bodyPr/>
                    <a:lstStyle/>
                    <a:p>
                      <a:pPr algn="l"/>
                      <a:r>
                        <a:rPr sz="1100" b="1">
                          <a:solidFill>
                            <a:srgbClr val="38BDF8"/>
                          </a:solidFill>
                          <a:latin typeface="Verdana"/>
                        </a:rPr>
                        <a:t>Sản phẩm đầu ra cần hoàn thiện</a:t>
                      </a:r>
                    </a:p>
                  </a:txBody>
                  <a:tcPr marL="76200" marR="76200" marT="50800" marB="50800">
                    <a:solidFill>
                      <a:srgbClr val="1E293B"/>
                    </a:solidFill>
                  </a:tcPr>
                </a:tc>
                <a:extLst>
                  <a:ext uri="{0D108BD9-81ED-4DB2-BD59-A6C34878D82A}">
                    <a16:rowId xmlns:a16="http://schemas.microsoft.com/office/drawing/2014/main" val="10000"/>
                  </a:ext>
                </a:extLst>
              </a:tr>
              <a:tr h="447040">
                <a:tc>
                  <a:txBody>
                    <a:bodyPr/>
                    <a:lstStyle/>
                    <a:p>
                      <a:pPr algn="l"/>
                      <a:r>
                        <a:rPr sz="1000">
                          <a:solidFill>
                            <a:srgbClr val="F1F5F9"/>
                          </a:solidFill>
                          <a:latin typeface="Verdana"/>
                        </a:rPr>
                        <a:t>Bài 1</a:t>
                      </a:r>
                    </a:p>
                  </a:txBody>
                  <a:tcPr marL="76200" marR="76200" marT="50800" marB="50800">
                    <a:solidFill>
                      <a:srgbClr val="0F172A"/>
                    </a:solidFill>
                  </a:tcPr>
                </a:tc>
                <a:tc>
                  <a:txBody>
                    <a:bodyPr/>
                    <a:lstStyle/>
                    <a:p>
                      <a:pPr algn="l"/>
                      <a:r>
                        <a:rPr sz="1000">
                          <a:solidFill>
                            <a:srgbClr val="F1F5F9"/>
                          </a:solidFill>
                          <a:latin typeface="Verdana"/>
                        </a:rPr>
                        <a:t>Giới thiệu về Web API, REST &amp; ASP.NET Core</a:t>
                      </a:r>
                    </a:p>
                  </a:txBody>
                  <a:tcPr marL="76200" marR="76200" marT="50800" marB="50800">
                    <a:solidFill>
                      <a:srgbClr val="0F172A"/>
                    </a:solidFill>
                  </a:tcPr>
                </a:tc>
                <a:tc>
                  <a:txBody>
                    <a:bodyPr/>
                    <a:lstStyle/>
                    <a:p>
                      <a:pPr algn="l"/>
                      <a:r>
                        <a:rPr sz="1000">
                          <a:solidFill>
                            <a:srgbClr val="F1F5F9"/>
                          </a:solidFill>
                          <a:latin typeface="Verdana"/>
                        </a:rPr>
                        <a:t>3 tiết</a:t>
                      </a:r>
                    </a:p>
                  </a:txBody>
                  <a:tcPr marL="76200" marR="76200" marT="50800" marB="50800">
                    <a:solidFill>
                      <a:srgbClr val="0F172A"/>
                    </a:solidFill>
                  </a:tcPr>
                </a:tc>
                <a:tc>
                  <a:txBody>
                    <a:bodyPr/>
                    <a:lstStyle/>
                    <a:p>
                      <a:pPr algn="l"/>
                      <a:r>
                        <a:rPr sz="1000">
                          <a:solidFill>
                            <a:srgbClr val="F1F5F9"/>
                          </a:solidFill>
                          <a:latin typeface="Verdana"/>
                        </a:rPr>
                        <a:t>3 tiết</a:t>
                      </a:r>
                    </a:p>
                  </a:txBody>
                  <a:tcPr marL="76200" marR="76200" marT="50800" marB="50800">
                    <a:solidFill>
                      <a:srgbClr val="0F172A"/>
                    </a:solidFill>
                  </a:tcPr>
                </a:tc>
                <a:tc>
                  <a:txBody>
                    <a:bodyPr/>
                    <a:lstStyle/>
                    <a:p>
                      <a:pPr algn="l"/>
                      <a:r>
                        <a:rPr sz="1000">
                          <a:solidFill>
                            <a:srgbClr val="F1F5F9"/>
                          </a:solidFill>
                          <a:latin typeface="Verdana"/>
                        </a:rPr>
                        <a:t>API mẫu và Custom Middleware</a:t>
                      </a:r>
                    </a:p>
                  </a:txBody>
                  <a:tcPr marL="76200" marR="76200" marT="50800" marB="50800">
                    <a:solidFill>
                      <a:srgbClr val="0F172A"/>
                    </a:solidFill>
                  </a:tcPr>
                </a:tc>
                <a:extLst>
                  <a:ext uri="{0D108BD9-81ED-4DB2-BD59-A6C34878D82A}">
                    <a16:rowId xmlns:a16="http://schemas.microsoft.com/office/drawing/2014/main" val="10001"/>
                  </a:ext>
                </a:extLst>
              </a:tr>
              <a:tr h="447040">
                <a:tc>
                  <a:txBody>
                    <a:bodyPr/>
                    <a:lstStyle/>
                    <a:p>
                      <a:pPr algn="l"/>
                      <a:r>
                        <a:rPr sz="1000">
                          <a:solidFill>
                            <a:srgbClr val="F1F5F9"/>
                          </a:solidFill>
                          <a:latin typeface="Verdana"/>
                        </a:rPr>
                        <a:t>Bài 2</a:t>
                      </a:r>
                    </a:p>
                  </a:txBody>
                  <a:tcPr marL="76200" marR="76200" marT="50800" marB="50800">
                    <a:solidFill>
                      <a:srgbClr val="141E2D"/>
                    </a:solidFill>
                  </a:tcPr>
                </a:tc>
                <a:tc>
                  <a:txBody>
                    <a:bodyPr/>
                    <a:lstStyle/>
                    <a:p>
                      <a:pPr algn="l"/>
                      <a:r>
                        <a:rPr sz="1000">
                          <a:solidFill>
                            <a:srgbClr val="F1F5F9"/>
                          </a:solidFill>
                          <a:latin typeface="Verdana"/>
                        </a:rPr>
                        <a:t>Endpoint, binding, validation, Swagger</a:t>
                      </a:r>
                    </a:p>
                  </a:txBody>
                  <a:tcPr marL="76200" marR="76200" marT="50800" marB="50800">
                    <a:solidFill>
                      <a:srgbClr val="141E2D"/>
                    </a:solidFill>
                  </a:tcPr>
                </a:tc>
                <a:tc>
                  <a:txBody>
                    <a:bodyPr/>
                    <a:lstStyle/>
                    <a:p>
                      <a:pPr algn="l"/>
                      <a:r>
                        <a:rPr sz="1000">
                          <a:solidFill>
                            <a:srgbClr val="F1F5F9"/>
                          </a:solidFill>
                          <a:latin typeface="Verdana"/>
                        </a:rPr>
                        <a:t>2 tiết</a:t>
                      </a:r>
                    </a:p>
                  </a:txBody>
                  <a:tcPr marL="76200" marR="76200" marT="50800" marB="50800">
                    <a:solidFill>
                      <a:srgbClr val="141E2D"/>
                    </a:solidFill>
                  </a:tcPr>
                </a:tc>
                <a:tc>
                  <a:txBody>
                    <a:bodyPr/>
                    <a:lstStyle/>
                    <a:p>
                      <a:pPr algn="l"/>
                      <a:r>
                        <a:rPr sz="1000">
                          <a:solidFill>
                            <a:srgbClr val="F1F5F9"/>
                          </a:solidFill>
                          <a:latin typeface="Verdana"/>
                        </a:rPr>
                        <a:t>5 tiết</a:t>
                      </a:r>
                    </a:p>
                  </a:txBody>
                  <a:tcPr marL="76200" marR="76200" marT="50800" marB="50800">
                    <a:solidFill>
                      <a:srgbClr val="141E2D"/>
                    </a:solidFill>
                  </a:tcPr>
                </a:tc>
                <a:tc>
                  <a:txBody>
                    <a:bodyPr/>
                    <a:lstStyle/>
                    <a:p>
                      <a:pPr algn="l"/>
                      <a:r>
                        <a:rPr sz="1000">
                          <a:solidFill>
                            <a:srgbClr val="F1F5F9"/>
                          </a:solidFill>
                          <a:latin typeface="Verdana"/>
                        </a:rPr>
                        <a:t>CRUD API không dùng CSDL, FluentValidation</a:t>
                      </a:r>
                    </a:p>
                  </a:txBody>
                  <a:tcPr marL="76200" marR="76200" marT="50800" marB="50800">
                    <a:solidFill>
                      <a:srgbClr val="141E2D"/>
                    </a:solidFill>
                  </a:tcPr>
                </a:tc>
                <a:extLst>
                  <a:ext uri="{0D108BD9-81ED-4DB2-BD59-A6C34878D82A}">
                    <a16:rowId xmlns:a16="http://schemas.microsoft.com/office/drawing/2014/main" val="10002"/>
                  </a:ext>
                </a:extLst>
              </a:tr>
              <a:tr h="447040">
                <a:tc>
                  <a:txBody>
                    <a:bodyPr/>
                    <a:lstStyle/>
                    <a:p>
                      <a:pPr algn="l"/>
                      <a:r>
                        <a:rPr sz="1000">
                          <a:solidFill>
                            <a:srgbClr val="F1F5F9"/>
                          </a:solidFill>
                          <a:latin typeface="Verdana"/>
                        </a:rPr>
                        <a:t>Bài 3</a:t>
                      </a:r>
                    </a:p>
                  </a:txBody>
                  <a:tcPr marL="76200" marR="76200" marT="50800" marB="50800">
                    <a:solidFill>
                      <a:srgbClr val="0F172A"/>
                    </a:solidFill>
                  </a:tcPr>
                </a:tc>
                <a:tc>
                  <a:txBody>
                    <a:bodyPr/>
                    <a:lstStyle/>
                    <a:p>
                      <a:pPr algn="l"/>
                      <a:r>
                        <a:rPr sz="1000">
                          <a:solidFill>
                            <a:srgbClr val="F1F5F9"/>
                          </a:solidFill>
                          <a:latin typeface="Verdana"/>
                        </a:rPr>
                        <a:t>ADO.NET, Dapper, SQL transactions, repository</a:t>
                      </a:r>
                    </a:p>
                  </a:txBody>
                  <a:tcPr marL="76200" marR="76200" marT="50800" marB="50800">
                    <a:solidFill>
                      <a:srgbClr val="0F172A"/>
                    </a:solidFill>
                  </a:tcPr>
                </a:tc>
                <a:tc>
                  <a:txBody>
                    <a:bodyPr/>
                    <a:lstStyle/>
                    <a:p>
                      <a:pPr algn="l"/>
                      <a:r>
                        <a:rPr sz="1000">
                          <a:solidFill>
                            <a:srgbClr val="F1F5F9"/>
                          </a:solidFill>
                          <a:latin typeface="Verdana"/>
                        </a:rPr>
                        <a:t>3 tiết</a:t>
                      </a:r>
                    </a:p>
                  </a:txBody>
                  <a:tcPr marL="76200" marR="76200" marT="50800" marB="50800">
                    <a:solidFill>
                      <a:srgbClr val="0F172A"/>
                    </a:solidFill>
                  </a:tcPr>
                </a:tc>
                <a:tc>
                  <a:txBody>
                    <a:bodyPr/>
                    <a:lstStyle/>
                    <a:p>
                      <a:pPr algn="l"/>
                      <a:r>
                        <a:rPr sz="1000">
                          <a:solidFill>
                            <a:srgbClr val="F1F5F9"/>
                          </a:solidFill>
                          <a:latin typeface="Verdana"/>
                        </a:rPr>
                        <a:t>7 tiết</a:t>
                      </a:r>
                    </a:p>
                  </a:txBody>
                  <a:tcPr marL="76200" marR="76200" marT="50800" marB="50800">
                    <a:solidFill>
                      <a:srgbClr val="0F172A"/>
                    </a:solidFill>
                  </a:tcPr>
                </a:tc>
                <a:tc>
                  <a:txBody>
                    <a:bodyPr/>
                    <a:lstStyle/>
                    <a:p>
                      <a:pPr algn="l"/>
                      <a:r>
                        <a:rPr sz="1000">
                          <a:solidFill>
                            <a:srgbClr val="F1F5F9"/>
                          </a:solidFill>
                          <a:latin typeface="Verdana"/>
                        </a:rPr>
                        <a:t>CRUD API kết nối SQL Server hoàn chỉnh</a:t>
                      </a:r>
                    </a:p>
                  </a:txBody>
                  <a:tcPr marL="76200" marR="76200" marT="50800" marB="50800">
                    <a:solidFill>
                      <a:srgbClr val="0F172A"/>
                    </a:solidFill>
                  </a:tcPr>
                </a:tc>
                <a:extLst>
                  <a:ext uri="{0D108BD9-81ED-4DB2-BD59-A6C34878D82A}">
                    <a16:rowId xmlns:a16="http://schemas.microsoft.com/office/drawing/2014/main" val="10003"/>
                  </a:ext>
                </a:extLst>
              </a:tr>
              <a:tr h="447040">
                <a:tc>
                  <a:txBody>
                    <a:bodyPr/>
                    <a:lstStyle/>
                    <a:p>
                      <a:pPr algn="l"/>
                      <a:r>
                        <a:rPr sz="1000">
                          <a:solidFill>
                            <a:srgbClr val="F1F5F9"/>
                          </a:solidFill>
                          <a:latin typeface="Verdana"/>
                        </a:rPr>
                        <a:t>Bài 4</a:t>
                      </a:r>
                    </a:p>
                  </a:txBody>
                  <a:tcPr marL="76200" marR="76200" marT="50800" marB="50800">
                    <a:solidFill>
                      <a:srgbClr val="141E2D"/>
                    </a:solidFill>
                  </a:tcPr>
                </a:tc>
                <a:tc>
                  <a:txBody>
                    <a:bodyPr/>
                    <a:lstStyle/>
                    <a:p>
                      <a:pPr algn="l"/>
                      <a:r>
                        <a:rPr sz="1000">
                          <a:solidFill>
                            <a:srgbClr val="F1F5F9"/>
                          </a:solidFill>
                          <a:latin typeface="Verdana"/>
                        </a:rPr>
                        <a:t>Authentication, authorization &amp; API key security</a:t>
                      </a:r>
                    </a:p>
                  </a:txBody>
                  <a:tcPr marL="76200" marR="76200" marT="50800" marB="50800">
                    <a:solidFill>
                      <a:srgbClr val="141E2D"/>
                    </a:solidFill>
                  </a:tcPr>
                </a:tc>
                <a:tc>
                  <a:txBody>
                    <a:bodyPr/>
                    <a:lstStyle/>
                    <a:p>
                      <a:pPr algn="l"/>
                      <a:r>
                        <a:rPr sz="1000">
                          <a:solidFill>
                            <a:srgbClr val="F1F5F9"/>
                          </a:solidFill>
                          <a:latin typeface="Verdana"/>
                        </a:rPr>
                        <a:t>3 tiết</a:t>
                      </a:r>
                    </a:p>
                  </a:txBody>
                  <a:tcPr marL="76200" marR="76200" marT="50800" marB="50800">
                    <a:solidFill>
                      <a:srgbClr val="141E2D"/>
                    </a:solidFill>
                  </a:tcPr>
                </a:tc>
                <a:tc>
                  <a:txBody>
                    <a:bodyPr/>
                    <a:lstStyle/>
                    <a:p>
                      <a:pPr algn="l"/>
                      <a:r>
                        <a:rPr sz="1000">
                          <a:solidFill>
                            <a:srgbClr val="F1F5F9"/>
                          </a:solidFill>
                          <a:latin typeface="Verdana"/>
                        </a:rPr>
                        <a:t>5 tiết</a:t>
                      </a:r>
                    </a:p>
                  </a:txBody>
                  <a:tcPr marL="76200" marR="76200" marT="50800" marB="50800">
                    <a:solidFill>
                      <a:srgbClr val="141E2D"/>
                    </a:solidFill>
                  </a:tcPr>
                </a:tc>
                <a:tc>
                  <a:txBody>
                    <a:bodyPr/>
                    <a:lstStyle/>
                    <a:p>
                      <a:pPr algn="l"/>
                      <a:r>
                        <a:rPr sz="1000">
                          <a:solidFill>
                            <a:srgbClr val="F1F5F9"/>
                          </a:solidFill>
                          <a:latin typeface="Verdana"/>
                        </a:rPr>
                        <a:t>Module đăng nhập, JWT Access/Refresh Token</a:t>
                      </a:r>
                    </a:p>
                  </a:txBody>
                  <a:tcPr marL="76200" marR="76200" marT="50800" marB="50800">
                    <a:solidFill>
                      <a:srgbClr val="141E2D"/>
                    </a:solidFill>
                  </a:tcPr>
                </a:tc>
                <a:extLst>
                  <a:ext uri="{0D108BD9-81ED-4DB2-BD59-A6C34878D82A}">
                    <a16:rowId xmlns:a16="http://schemas.microsoft.com/office/drawing/2014/main" val="10004"/>
                  </a:ext>
                </a:extLst>
              </a:tr>
              <a:tr h="447040">
                <a:tc>
                  <a:txBody>
                    <a:bodyPr/>
                    <a:lstStyle/>
                    <a:p>
                      <a:pPr algn="l"/>
                      <a:r>
                        <a:rPr sz="1000">
                          <a:solidFill>
                            <a:srgbClr val="F1F5F9"/>
                          </a:solidFill>
                          <a:latin typeface="Verdana"/>
                        </a:rPr>
                        <a:t>Bài 5</a:t>
                      </a:r>
                    </a:p>
                  </a:txBody>
                  <a:tcPr marL="76200" marR="76200" marT="50800" marB="50800">
                    <a:solidFill>
                      <a:srgbClr val="0F172A"/>
                    </a:solidFill>
                  </a:tcPr>
                </a:tc>
                <a:tc>
                  <a:txBody>
                    <a:bodyPr/>
                    <a:lstStyle/>
                    <a:p>
                      <a:pPr algn="l"/>
                      <a:r>
                        <a:rPr sz="1000">
                          <a:solidFill>
                            <a:srgbClr val="F1F5F9"/>
                          </a:solidFill>
                          <a:latin typeface="Verdana"/>
                        </a:rPr>
                        <a:t>Global exceptions, logging, cache Redis, rate limit</a:t>
                      </a:r>
                    </a:p>
                  </a:txBody>
                  <a:tcPr marL="76200" marR="76200" marT="50800" marB="50800">
                    <a:solidFill>
                      <a:srgbClr val="0F172A"/>
                    </a:solidFill>
                  </a:tcPr>
                </a:tc>
                <a:tc>
                  <a:txBody>
                    <a:bodyPr/>
                    <a:lstStyle/>
                    <a:p>
                      <a:pPr algn="l"/>
                      <a:r>
                        <a:rPr sz="1000">
                          <a:solidFill>
                            <a:srgbClr val="F1F5F9"/>
                          </a:solidFill>
                          <a:latin typeface="Verdana"/>
                        </a:rPr>
                        <a:t>2 tiết</a:t>
                      </a:r>
                    </a:p>
                  </a:txBody>
                  <a:tcPr marL="76200" marR="76200" marT="50800" marB="50800">
                    <a:solidFill>
                      <a:srgbClr val="0F172A"/>
                    </a:solidFill>
                  </a:tcPr>
                </a:tc>
                <a:tc>
                  <a:txBody>
                    <a:bodyPr/>
                    <a:lstStyle/>
                    <a:p>
                      <a:pPr algn="l"/>
                      <a:r>
                        <a:rPr sz="1000">
                          <a:solidFill>
                            <a:srgbClr val="F1F5F9"/>
                          </a:solidFill>
                          <a:latin typeface="Verdana"/>
                        </a:rPr>
                        <a:t>4 tiết</a:t>
                      </a:r>
                    </a:p>
                  </a:txBody>
                  <a:tcPr marL="76200" marR="76200" marT="50800" marB="50800">
                    <a:solidFill>
                      <a:srgbClr val="0F172A"/>
                    </a:solidFill>
                  </a:tcPr>
                </a:tc>
                <a:tc>
                  <a:txBody>
                    <a:bodyPr/>
                    <a:lstStyle/>
                    <a:p>
                      <a:pPr algn="l"/>
                      <a:r>
                        <a:rPr sz="1000">
                          <a:solidFill>
                            <a:srgbClr val="F1F5F9"/>
                          </a:solidFill>
                          <a:latin typeface="Verdana"/>
                        </a:rPr>
                        <a:t>API xử lý lỗi chuẩn Problem Details, Redis Cache</a:t>
                      </a:r>
                    </a:p>
                  </a:txBody>
                  <a:tcPr marL="76200" marR="76200" marT="50800" marB="50800">
                    <a:solidFill>
                      <a:srgbClr val="0F172A"/>
                    </a:solidFill>
                  </a:tcPr>
                </a:tc>
                <a:extLst>
                  <a:ext uri="{0D108BD9-81ED-4DB2-BD59-A6C34878D82A}">
                    <a16:rowId xmlns:a16="http://schemas.microsoft.com/office/drawing/2014/main" val="10005"/>
                  </a:ext>
                </a:extLst>
              </a:tr>
              <a:tr h="447040">
                <a:tc>
                  <a:txBody>
                    <a:bodyPr/>
                    <a:lstStyle/>
                    <a:p>
                      <a:pPr algn="l"/>
                      <a:r>
                        <a:rPr sz="1000">
                          <a:solidFill>
                            <a:srgbClr val="F1F5F9"/>
                          </a:solidFill>
                          <a:latin typeface="Verdana"/>
                        </a:rPr>
                        <a:t>Bài 6</a:t>
                      </a:r>
                    </a:p>
                  </a:txBody>
                  <a:tcPr marL="76200" marR="76200" marT="50800" marB="50800">
                    <a:solidFill>
                      <a:srgbClr val="141E2D"/>
                    </a:solidFill>
                  </a:tcPr>
                </a:tc>
                <a:tc>
                  <a:txBody>
                    <a:bodyPr/>
                    <a:lstStyle/>
                    <a:p>
                      <a:pPr algn="l"/>
                      <a:r>
                        <a:rPr sz="1000">
                          <a:solidFill>
                            <a:srgbClr val="F1F5F9"/>
                          </a:solidFill>
                          <a:latin typeface="Verdana"/>
                        </a:rPr>
                        <a:t>Clean Architecture, gRPC, API Gateway, Docker</a:t>
                      </a:r>
                    </a:p>
                  </a:txBody>
                  <a:tcPr marL="76200" marR="76200" marT="50800" marB="50800">
                    <a:solidFill>
                      <a:srgbClr val="141E2D"/>
                    </a:solidFill>
                  </a:tcPr>
                </a:tc>
                <a:tc>
                  <a:txBody>
                    <a:bodyPr/>
                    <a:lstStyle/>
                    <a:p>
                      <a:pPr algn="l"/>
                      <a:r>
                        <a:rPr sz="1000">
                          <a:solidFill>
                            <a:srgbClr val="F1F5F9"/>
                          </a:solidFill>
                          <a:latin typeface="Verdana"/>
                        </a:rPr>
                        <a:t>3 tiết</a:t>
                      </a:r>
                    </a:p>
                  </a:txBody>
                  <a:tcPr marL="76200" marR="76200" marT="50800" marB="50800">
                    <a:solidFill>
                      <a:srgbClr val="141E2D"/>
                    </a:solidFill>
                  </a:tcPr>
                </a:tc>
                <a:tc>
                  <a:txBody>
                    <a:bodyPr/>
                    <a:lstStyle/>
                    <a:p>
                      <a:pPr algn="l"/>
                      <a:r>
                        <a:rPr sz="1000">
                          <a:solidFill>
                            <a:srgbClr val="F1F5F9"/>
                          </a:solidFill>
                          <a:latin typeface="Verdana"/>
                        </a:rPr>
                        <a:t>5 tiết</a:t>
                      </a:r>
                    </a:p>
                  </a:txBody>
                  <a:tcPr marL="76200" marR="76200" marT="50800" marB="50800">
                    <a:solidFill>
                      <a:srgbClr val="141E2D"/>
                    </a:solidFill>
                  </a:tcPr>
                </a:tc>
                <a:tc>
                  <a:txBody>
                    <a:bodyPr/>
                    <a:lstStyle/>
                    <a:p>
                      <a:pPr algn="l"/>
                      <a:r>
                        <a:rPr sz="1000">
                          <a:solidFill>
                            <a:srgbClr val="F1F5F9"/>
                          </a:solidFill>
                          <a:latin typeface="Verdana"/>
                        </a:rPr>
                        <a:t>Solution Clean Architecture chạy Docker Compose</a:t>
                      </a:r>
                    </a:p>
                  </a:txBody>
                  <a:tcPr marL="76200" marR="76200" marT="50800" marB="50800">
                    <a:solidFill>
                      <a:srgbClr val="141E2D"/>
                    </a:solidFill>
                  </a:tcPr>
                </a:tc>
                <a:extLst>
                  <a:ext uri="{0D108BD9-81ED-4DB2-BD59-A6C34878D82A}">
                    <a16:rowId xmlns:a16="http://schemas.microsoft.com/office/drawing/2014/main" val="10006"/>
                  </a:ext>
                </a:extLst>
              </a:tr>
              <a:tr h="447040">
                <a:tc>
                  <a:txBody>
                    <a:bodyPr/>
                    <a:lstStyle/>
                    <a:p>
                      <a:pPr algn="l"/>
                      <a:r>
                        <a:rPr sz="1000">
                          <a:solidFill>
                            <a:srgbClr val="F1F5F9"/>
                          </a:solidFill>
                          <a:latin typeface="Verdana"/>
                        </a:rPr>
                        <a:t>Bài 7</a:t>
                      </a:r>
                    </a:p>
                  </a:txBody>
                  <a:tcPr marL="76200" marR="76200" marT="50800" marB="50800">
                    <a:solidFill>
                      <a:srgbClr val="0F172A"/>
                    </a:solidFill>
                  </a:tcPr>
                </a:tc>
                <a:tc>
                  <a:txBody>
                    <a:bodyPr/>
                    <a:lstStyle/>
                    <a:p>
                      <a:pPr algn="l"/>
                      <a:r>
                        <a:rPr sz="1000">
                          <a:solidFill>
                            <a:srgbClr val="F1F5F9"/>
                          </a:solidFill>
                          <a:latin typeface="Verdana"/>
                        </a:rPr>
                        <a:t>Unit test (xUnit, Moq), Integration test, CI/CD</a:t>
                      </a:r>
                    </a:p>
                  </a:txBody>
                  <a:tcPr marL="76200" marR="76200" marT="50800" marB="50800">
                    <a:solidFill>
                      <a:srgbClr val="0F172A"/>
                    </a:solidFill>
                  </a:tcPr>
                </a:tc>
                <a:tc>
                  <a:txBody>
                    <a:bodyPr/>
                    <a:lstStyle/>
                    <a:p>
                      <a:pPr algn="l"/>
                      <a:r>
                        <a:rPr sz="1000">
                          <a:solidFill>
                            <a:srgbClr val="F1F5F9"/>
                          </a:solidFill>
                          <a:latin typeface="Verdana"/>
                        </a:rPr>
                        <a:t>2 tiết</a:t>
                      </a:r>
                    </a:p>
                  </a:txBody>
                  <a:tcPr marL="76200" marR="76200" marT="50800" marB="50800">
                    <a:solidFill>
                      <a:srgbClr val="0F172A"/>
                    </a:solidFill>
                  </a:tcPr>
                </a:tc>
                <a:tc>
                  <a:txBody>
                    <a:bodyPr/>
                    <a:lstStyle/>
                    <a:p>
                      <a:pPr algn="l"/>
                      <a:r>
                        <a:rPr sz="1000">
                          <a:solidFill>
                            <a:srgbClr val="F1F5F9"/>
                          </a:solidFill>
                          <a:latin typeface="Verdana"/>
                        </a:rPr>
                        <a:t>5 tiết</a:t>
                      </a:r>
                    </a:p>
                  </a:txBody>
                  <a:tcPr marL="76200" marR="76200" marT="50800" marB="50800">
                    <a:solidFill>
                      <a:srgbClr val="0F172A"/>
                    </a:solidFill>
                  </a:tcPr>
                </a:tc>
                <a:tc>
                  <a:txBody>
                    <a:bodyPr/>
                    <a:lstStyle/>
                    <a:p>
                      <a:pPr algn="l"/>
                      <a:r>
                        <a:rPr sz="1000">
                          <a:solidFill>
                            <a:srgbClr val="F1F5F9"/>
                          </a:solidFill>
                          <a:latin typeface="Verdana"/>
                        </a:rPr>
                        <a:t>Bộ test case phủ kín nghiệp vụ &amp; workflow CI</a:t>
                      </a:r>
                    </a:p>
                  </a:txBody>
                  <a:tcPr marL="76200" marR="76200" marT="50800" marB="50800">
                    <a:solidFill>
                      <a:srgbClr val="0F172A"/>
                    </a:solidFill>
                  </a:tcPr>
                </a:tc>
                <a:extLst>
                  <a:ext uri="{0D108BD9-81ED-4DB2-BD59-A6C34878D82A}">
                    <a16:rowId xmlns:a16="http://schemas.microsoft.com/office/drawing/2014/main" val="10007"/>
                  </a:ext>
                </a:extLst>
              </a:tr>
              <a:tr h="447040">
                <a:tc>
                  <a:txBody>
                    <a:bodyPr/>
                    <a:lstStyle/>
                    <a:p>
                      <a:pPr algn="l"/>
                      <a:r>
                        <a:rPr sz="1000">
                          <a:solidFill>
                            <a:srgbClr val="F1F5F9"/>
                          </a:solidFill>
                          <a:latin typeface="Verdana"/>
                        </a:rPr>
                        <a:t>Bài 8</a:t>
                      </a:r>
                    </a:p>
                  </a:txBody>
                  <a:tcPr marL="76200" marR="76200" marT="50800" marB="50800">
                    <a:solidFill>
                      <a:srgbClr val="141E2D"/>
                    </a:solidFill>
                  </a:tcPr>
                </a:tc>
                <a:tc>
                  <a:txBody>
                    <a:bodyPr/>
                    <a:lstStyle/>
                    <a:p>
                      <a:pPr algn="l"/>
                      <a:r>
                        <a:rPr sz="1000">
                          <a:solidFill>
                            <a:srgbClr val="F1F5F9"/>
                          </a:solidFill>
                          <a:latin typeface="Verdana"/>
                        </a:rPr>
                        <a:t>Đồ án tổng hợp - Hệ thống thương mại điện tử</a:t>
                      </a:r>
                    </a:p>
                  </a:txBody>
                  <a:tcPr marL="76200" marR="76200" marT="50800" marB="50800">
                    <a:solidFill>
                      <a:srgbClr val="141E2D"/>
                    </a:solidFill>
                  </a:tcPr>
                </a:tc>
                <a:tc>
                  <a:txBody>
                    <a:bodyPr/>
                    <a:lstStyle/>
                    <a:p>
                      <a:pPr algn="l"/>
                      <a:r>
                        <a:rPr sz="1000">
                          <a:solidFill>
                            <a:srgbClr val="F1F5F9"/>
                          </a:solidFill>
                          <a:latin typeface="Verdana"/>
                        </a:rPr>
                        <a:t>0 tiết</a:t>
                      </a:r>
                    </a:p>
                  </a:txBody>
                  <a:tcPr marL="76200" marR="76200" marT="50800" marB="50800">
                    <a:solidFill>
                      <a:srgbClr val="141E2D"/>
                    </a:solidFill>
                  </a:tcPr>
                </a:tc>
                <a:tc>
                  <a:txBody>
                    <a:bodyPr/>
                    <a:lstStyle/>
                    <a:p>
                      <a:pPr algn="l"/>
                      <a:r>
                        <a:rPr sz="1000">
                          <a:solidFill>
                            <a:srgbClr val="F1F5F9"/>
                          </a:solidFill>
                          <a:latin typeface="Verdana"/>
                        </a:rPr>
                        <a:t>8 tiết</a:t>
                      </a:r>
                    </a:p>
                  </a:txBody>
                  <a:tcPr marL="76200" marR="76200" marT="50800" marB="50800">
                    <a:solidFill>
                      <a:srgbClr val="141E2D"/>
                    </a:solidFill>
                  </a:tcPr>
                </a:tc>
                <a:tc>
                  <a:txBody>
                    <a:bodyPr/>
                    <a:lstStyle/>
                    <a:p>
                      <a:pPr algn="l"/>
                      <a:r>
                        <a:rPr sz="1000">
                          <a:solidFill>
                            <a:srgbClr val="F1F5F9"/>
                          </a:solidFill>
                          <a:latin typeface="Verdana"/>
                        </a:rPr>
                        <a:t>Hệ thống hoàn chỉnh (Frontend + Backend), báo cáo</a:t>
                      </a:r>
                    </a:p>
                  </a:txBody>
                  <a:tcPr marL="76200" marR="76200" marT="50800" marB="50800">
                    <a:solidFill>
                      <a:srgbClr val="141E2D"/>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 / 88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1</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GIỚI THIỆU VỀ WEB API VÀ ASP.NET CORE</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Tìm hiểu các khái niệm nền tảng của lập trình dịch vụ Web, kiến trúc RESTful, HTTP Pipeline, Middleware và Dependency Injection trong ASP.NET Core.</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 / 88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WEB API &amp; REST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Khái niệm Web API và Mô hình Client-Server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Định nghĩa Web API</a:t>
            </a:r>
          </a:p>
          <a:p>
            <a:pPr>
              <a:spcAft>
                <a:spcPts val="600"/>
              </a:spcAft>
              <a:defRPr sz="1300">
                <a:solidFill>
                  <a:srgbClr val="F1F5F9"/>
                </a:solidFill>
                <a:latin typeface="Verdana"/>
              </a:defRPr>
            </a:pPr>
            <a:r>
              <a:t>Web API (Application Programming Interface) là giao diện lập trình ứng dụng qua môi trường Web, cung cấp endpoints cho phép trao đổi dữ liệu qua giao thức HTTP/HTTPS.</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Nền tảng giao tiếp</a:t>
            </a:r>
          </a:p>
          <a:p>
            <a:pPr>
              <a:spcAft>
                <a:spcPts val="600"/>
              </a:spcAft>
              <a:defRPr sz="1300">
                <a:solidFill>
                  <a:srgbClr val="F1F5F9"/>
                </a:solidFill>
                <a:latin typeface="Verdana"/>
              </a:defRPr>
            </a:pPr>
            <a:r>
              <a:t>Mọi giao tiếp đều dựa trên cấu trúc Request (Yêu cầu) từ Client và Response (Phản hồi) từ Server. Dữ liệu trao đổi chủ yếu là định dạng JSON hoặc XML.</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Độc lập kiến trúc</a:t>
            </a:r>
          </a:p>
          <a:p>
            <a:pPr>
              <a:spcAft>
                <a:spcPts val="600"/>
              </a:spcAft>
              <a:defRPr sz="1300">
                <a:solidFill>
                  <a:srgbClr val="F1F5F9"/>
                </a:solidFill>
                <a:latin typeface="Verdana"/>
              </a:defRPr>
            </a:pPr>
            <a:r>
              <a:t>Client (React, Angular, iOS, Android, IoT) hoàn toàn độc lập với ngôn ngữ phát triển Backend (C#, Java, Python, Go). Dữ liệu là cầu nối duy nhất.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 / 88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WEB API &amp; REST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Kiến trúc RESTful API &amp; 4 nguyên tắc cốt lõi</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Client-Server Separation</a:t>
            </a:r>
          </a:p>
          <a:p>
            <a:pPr>
              <a:spcAft>
                <a:spcPts val="600"/>
              </a:spcAft>
              <a:defRPr sz="1300">
                <a:solidFill>
                  <a:srgbClr val="F1F5F9"/>
                </a:solidFill>
                <a:latin typeface="Verdana"/>
              </a:defRPr>
            </a:pPr>
            <a:r>
              <a:t>Tách biệt tuyệt đối giữa giao diện hiển thị người dùng (Client) và logic xử lý dữ liệu (Server), giúp mở rộng hệ thống độc lập.</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Stateless (Phi trạng thái)</a:t>
            </a:r>
          </a:p>
          <a:p>
            <a:pPr>
              <a:spcAft>
                <a:spcPts val="600"/>
              </a:spcAft>
              <a:defRPr sz="1300">
                <a:solidFill>
                  <a:srgbClr val="F1F5F9"/>
                </a:solidFill>
                <a:latin typeface="Verdana"/>
              </a:defRPr>
            </a:pPr>
            <a:r>
              <a:t>Server không lưu trạng thái ngữ cảnh của Client. Mỗi Request gửi lên phải chứa đủ thông tin để hiểu và xử lý (ví dụ: JWT Auth Token).</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Uniform Interface / Cache</a:t>
            </a:r>
          </a:p>
          <a:p>
            <a:pPr>
              <a:spcAft>
                <a:spcPts val="600"/>
              </a:spcAft>
              <a:defRPr sz="1300">
                <a:solidFill>
                  <a:srgbClr val="F1F5F9"/>
                </a:solidFill>
                <a:latin typeface="Verdana"/>
              </a:defRPr>
            </a:pPr>
            <a:r>
              <a:t>Giao diện nhất quán sử dụng chuẩn URI, HTTP Methods. Phản hồi xác định rõ dữ liệu có được lưu bộ nhớ đệm (Cache) ở Client không.</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 / 88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WEB API &amp; REST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HTTP Methods phổ biến &amp; Tính chất Idempotent</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Hiểu và phân biệt các phương thức truyền tải tài nguyên dựa trên tính chất Idempotent (Chạy lại nhiều lần thu được cùng trạng thái hệ thống).</a:t>
            </a:r>
          </a:p>
        </p:txBody>
      </p:sp>
      <p:graphicFrame>
        <p:nvGraphicFramePr>
          <p:cNvPr id="6" name="Table 5"/>
          <p:cNvGraphicFramePr>
            <a:graphicFrameLocks noGrp="1"/>
          </p:cNvGraphicFramePr>
          <p:nvPr/>
        </p:nvGraphicFramePr>
        <p:xfrm>
          <a:off x="685800" y="2011680"/>
          <a:ext cx="10820095" cy="40233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876495">
                  <a:extLst>
                    <a:ext uri="{9D8B030D-6E8A-4147-A177-3AD203B41FA5}">
                      <a16:colId xmlns:a16="http://schemas.microsoft.com/office/drawing/2014/main" val="20003"/>
                    </a:ext>
                  </a:extLst>
                </a:gridCol>
              </a:tblGrid>
              <a:tr h="670560">
                <a:tc>
                  <a:txBody>
                    <a:bodyPr/>
                    <a:lstStyle/>
                    <a:p>
                      <a:pPr algn="l"/>
                      <a:r>
                        <a:rPr sz="1100" b="1">
                          <a:solidFill>
                            <a:srgbClr val="38BDF8"/>
                          </a:solidFill>
                          <a:latin typeface="Verdana"/>
                        </a:rPr>
                        <a:t>HTTP Method</a:t>
                      </a:r>
                    </a:p>
                  </a:txBody>
                  <a:tcPr marL="76200" marR="76200" marT="50800" marB="50800">
                    <a:solidFill>
                      <a:srgbClr val="1E293B"/>
                    </a:solidFill>
                  </a:tcPr>
                </a:tc>
                <a:tc>
                  <a:txBody>
                    <a:bodyPr/>
                    <a:lstStyle/>
                    <a:p>
                      <a:pPr algn="l"/>
                      <a:r>
                        <a:rPr sz="1100" b="1">
                          <a:solidFill>
                            <a:srgbClr val="38BDF8"/>
                          </a:solidFill>
                          <a:latin typeface="Verdana"/>
                        </a:rPr>
                        <a:t>Thao tác nghiệp vụ</a:t>
                      </a:r>
                    </a:p>
                  </a:txBody>
                  <a:tcPr marL="76200" marR="76200" marT="50800" marB="50800">
                    <a:solidFill>
                      <a:srgbClr val="1E293B"/>
                    </a:solidFill>
                  </a:tcPr>
                </a:tc>
                <a:tc>
                  <a:txBody>
                    <a:bodyPr/>
                    <a:lstStyle/>
                    <a:p>
                      <a:pPr algn="l"/>
                      <a:r>
                        <a:rPr sz="1100" b="1">
                          <a:solidFill>
                            <a:srgbClr val="38BDF8"/>
                          </a:solidFill>
                          <a:latin typeface="Verdana"/>
                        </a:rPr>
                        <a:t>Tính chất Idempotent</a:t>
                      </a:r>
                    </a:p>
                  </a:txBody>
                  <a:tcPr marL="76200" marR="76200" marT="50800" marB="50800">
                    <a:solidFill>
                      <a:srgbClr val="1E293B"/>
                    </a:solidFill>
                  </a:tcPr>
                </a:tc>
                <a:tc>
                  <a:txBody>
                    <a:bodyPr/>
                    <a:lstStyle/>
                    <a:p>
                      <a:pPr algn="l"/>
                      <a:r>
                        <a:rPr sz="1100" b="1">
                          <a:solidFill>
                            <a:srgbClr val="38BDF8"/>
                          </a:solidFill>
                          <a:latin typeface="Verdana"/>
                        </a:rPr>
                        <a:t>Đặc tính kỹ thuật &amp; Hành vi của Server</a:t>
                      </a:r>
                    </a:p>
                  </a:txBody>
                  <a:tcPr marL="76200" marR="76200" marT="50800" marB="50800">
                    <a:solidFill>
                      <a:srgbClr val="1E293B"/>
                    </a:solidFill>
                  </a:tcPr>
                </a:tc>
                <a:extLst>
                  <a:ext uri="{0D108BD9-81ED-4DB2-BD59-A6C34878D82A}">
                    <a16:rowId xmlns:a16="http://schemas.microsoft.com/office/drawing/2014/main" val="10000"/>
                  </a:ext>
                </a:extLst>
              </a:tr>
              <a:tr h="670560">
                <a:tc>
                  <a:txBody>
                    <a:bodyPr/>
                    <a:lstStyle/>
                    <a:p>
                      <a:pPr algn="l"/>
                      <a:r>
                        <a:rPr sz="1000">
                          <a:solidFill>
                            <a:srgbClr val="F1F5F9"/>
                          </a:solidFill>
                          <a:latin typeface="Verdana"/>
                        </a:rPr>
                        <a:t>GET</a:t>
                      </a:r>
                    </a:p>
                  </a:txBody>
                  <a:tcPr marL="76200" marR="76200" marT="50800" marB="50800">
                    <a:solidFill>
                      <a:srgbClr val="0F172A"/>
                    </a:solidFill>
                  </a:tcPr>
                </a:tc>
                <a:tc>
                  <a:txBody>
                    <a:bodyPr/>
                    <a:lstStyle/>
                    <a:p>
                      <a:pPr algn="l"/>
                      <a:r>
                        <a:rPr sz="1000">
                          <a:solidFill>
                            <a:srgbClr val="F1F5F9"/>
                          </a:solidFill>
                          <a:latin typeface="Verdana"/>
                        </a:rPr>
                        <a:t>Truy vấn tài nguyên</a:t>
                      </a:r>
                    </a:p>
                  </a:txBody>
                  <a:tcPr marL="76200" marR="76200" marT="50800" marB="50800">
                    <a:solidFill>
                      <a:srgbClr val="0F172A"/>
                    </a:solidFill>
                  </a:tcPr>
                </a:tc>
                <a:tc>
                  <a:txBody>
                    <a:bodyPr/>
                    <a:lstStyle/>
                    <a:p>
                      <a:pPr algn="l"/>
                      <a:r>
                        <a:rPr sz="1000">
                          <a:solidFill>
                            <a:srgbClr val="F1F5F9"/>
                          </a:solidFill>
                          <a:latin typeface="Verdana"/>
                        </a:rPr>
                        <a:t>Có (Idempotent)</a:t>
                      </a:r>
                    </a:p>
                  </a:txBody>
                  <a:tcPr marL="76200" marR="76200" marT="50800" marB="50800">
                    <a:solidFill>
                      <a:srgbClr val="0F172A"/>
                    </a:solidFill>
                  </a:tcPr>
                </a:tc>
                <a:tc>
                  <a:txBody>
                    <a:bodyPr/>
                    <a:lstStyle/>
                    <a:p>
                      <a:pPr algn="l"/>
                      <a:r>
                        <a:rPr sz="1000">
                          <a:solidFill>
                            <a:srgbClr val="F1F5F9"/>
                          </a:solidFill>
                          <a:latin typeface="Verdana"/>
                        </a:rPr>
                        <a:t>Chỉ đọc dữ liệu, không làm thay đổi trạng thái database.</a:t>
                      </a:r>
                    </a:p>
                  </a:txBody>
                  <a:tcPr marL="76200" marR="76200" marT="50800" marB="50800">
                    <a:solidFill>
                      <a:srgbClr val="0F172A"/>
                    </a:solidFill>
                  </a:tcPr>
                </a:tc>
                <a:extLst>
                  <a:ext uri="{0D108BD9-81ED-4DB2-BD59-A6C34878D82A}">
                    <a16:rowId xmlns:a16="http://schemas.microsoft.com/office/drawing/2014/main" val="10001"/>
                  </a:ext>
                </a:extLst>
              </a:tr>
              <a:tr h="670560">
                <a:tc>
                  <a:txBody>
                    <a:bodyPr/>
                    <a:lstStyle/>
                    <a:p>
                      <a:pPr algn="l"/>
                      <a:r>
                        <a:rPr sz="1000">
                          <a:solidFill>
                            <a:srgbClr val="F1F5F9"/>
                          </a:solidFill>
                          <a:latin typeface="Verdana"/>
                        </a:rPr>
                        <a:t>POST</a:t>
                      </a:r>
                    </a:p>
                  </a:txBody>
                  <a:tcPr marL="76200" marR="76200" marT="50800" marB="50800">
                    <a:solidFill>
                      <a:srgbClr val="141E2D"/>
                    </a:solidFill>
                  </a:tcPr>
                </a:tc>
                <a:tc>
                  <a:txBody>
                    <a:bodyPr/>
                    <a:lstStyle/>
                    <a:p>
                      <a:pPr algn="l"/>
                      <a:r>
                        <a:rPr sz="1000">
                          <a:solidFill>
                            <a:srgbClr val="F1F5F9"/>
                          </a:solidFill>
                          <a:latin typeface="Verdana"/>
                        </a:rPr>
                        <a:t>Tạo mới tài nguyên</a:t>
                      </a:r>
                    </a:p>
                  </a:txBody>
                  <a:tcPr marL="76200" marR="76200" marT="50800" marB="50800">
                    <a:solidFill>
                      <a:srgbClr val="141E2D"/>
                    </a:solidFill>
                  </a:tcPr>
                </a:tc>
                <a:tc>
                  <a:txBody>
                    <a:bodyPr/>
                    <a:lstStyle/>
                    <a:p>
                      <a:pPr algn="l"/>
                      <a:r>
                        <a:rPr sz="1000">
                          <a:solidFill>
                            <a:srgbClr val="F1F5F9"/>
                          </a:solidFill>
                          <a:latin typeface="Verdana"/>
                        </a:rPr>
                        <a:t>Không (Non-Idempotent)</a:t>
                      </a:r>
                    </a:p>
                  </a:txBody>
                  <a:tcPr marL="76200" marR="76200" marT="50800" marB="50800">
                    <a:solidFill>
                      <a:srgbClr val="141E2D"/>
                    </a:solidFill>
                  </a:tcPr>
                </a:tc>
                <a:tc>
                  <a:txBody>
                    <a:bodyPr/>
                    <a:lstStyle/>
                    <a:p>
                      <a:pPr algn="l"/>
                      <a:r>
                        <a:rPr sz="1000">
                          <a:solidFill>
                            <a:srgbClr val="F1F5F9"/>
                          </a:solidFill>
                          <a:latin typeface="Verdana"/>
                        </a:rPr>
                        <a:t>Tạo bản ghi mới. Chạy N lần tạo N bản ghi mới trùng lặp.</a:t>
                      </a:r>
                    </a:p>
                  </a:txBody>
                  <a:tcPr marL="76200" marR="76200" marT="50800" marB="50800">
                    <a:solidFill>
                      <a:srgbClr val="141E2D"/>
                    </a:solidFill>
                  </a:tcPr>
                </a:tc>
                <a:extLst>
                  <a:ext uri="{0D108BD9-81ED-4DB2-BD59-A6C34878D82A}">
                    <a16:rowId xmlns:a16="http://schemas.microsoft.com/office/drawing/2014/main" val="10002"/>
                  </a:ext>
                </a:extLst>
              </a:tr>
              <a:tr h="670560">
                <a:tc>
                  <a:txBody>
                    <a:bodyPr/>
                    <a:lstStyle/>
                    <a:p>
                      <a:pPr algn="l"/>
                      <a:r>
                        <a:rPr sz="1000">
                          <a:solidFill>
                            <a:srgbClr val="F1F5F9"/>
                          </a:solidFill>
                          <a:latin typeface="Verdana"/>
                        </a:rPr>
                        <a:t>PUT</a:t>
                      </a:r>
                    </a:p>
                  </a:txBody>
                  <a:tcPr marL="76200" marR="76200" marT="50800" marB="50800">
                    <a:solidFill>
                      <a:srgbClr val="0F172A"/>
                    </a:solidFill>
                  </a:tcPr>
                </a:tc>
                <a:tc>
                  <a:txBody>
                    <a:bodyPr/>
                    <a:lstStyle/>
                    <a:p>
                      <a:pPr algn="l"/>
                      <a:r>
                        <a:rPr sz="1000">
                          <a:solidFill>
                            <a:srgbClr val="F1F5F9"/>
                          </a:solidFill>
                          <a:latin typeface="Verdana"/>
                        </a:rPr>
                        <a:t>Cập nhật toàn bộ</a:t>
                      </a:r>
                    </a:p>
                  </a:txBody>
                  <a:tcPr marL="76200" marR="76200" marT="50800" marB="50800">
                    <a:solidFill>
                      <a:srgbClr val="0F172A"/>
                    </a:solidFill>
                  </a:tcPr>
                </a:tc>
                <a:tc>
                  <a:txBody>
                    <a:bodyPr/>
                    <a:lstStyle/>
                    <a:p>
                      <a:pPr algn="l"/>
                      <a:r>
                        <a:rPr sz="1000">
                          <a:solidFill>
                            <a:srgbClr val="F1F5F9"/>
                          </a:solidFill>
                          <a:latin typeface="Verdana"/>
                        </a:rPr>
                        <a:t>Có (Idempotent)</a:t>
                      </a:r>
                    </a:p>
                  </a:txBody>
                  <a:tcPr marL="76200" marR="76200" marT="50800" marB="50800">
                    <a:solidFill>
                      <a:srgbClr val="0F172A"/>
                    </a:solidFill>
                  </a:tcPr>
                </a:tc>
                <a:tc>
                  <a:txBody>
                    <a:bodyPr/>
                    <a:lstStyle/>
                    <a:p>
                      <a:pPr algn="l"/>
                      <a:r>
                        <a:rPr sz="1000">
                          <a:solidFill>
                            <a:srgbClr val="F1F5F9"/>
                          </a:solidFill>
                          <a:latin typeface="Verdana"/>
                        </a:rPr>
                        <a:t>Thay thế toàn bộ biểu diễn tài nguyên. Chạy N lần hệ thống vẫn như cũ.</a:t>
                      </a:r>
                    </a:p>
                  </a:txBody>
                  <a:tcPr marL="76200" marR="76200" marT="50800" marB="50800">
                    <a:solidFill>
                      <a:srgbClr val="0F172A"/>
                    </a:solidFill>
                  </a:tcPr>
                </a:tc>
                <a:extLst>
                  <a:ext uri="{0D108BD9-81ED-4DB2-BD59-A6C34878D82A}">
                    <a16:rowId xmlns:a16="http://schemas.microsoft.com/office/drawing/2014/main" val="10003"/>
                  </a:ext>
                </a:extLst>
              </a:tr>
              <a:tr h="670560">
                <a:tc>
                  <a:txBody>
                    <a:bodyPr/>
                    <a:lstStyle/>
                    <a:p>
                      <a:pPr algn="l"/>
                      <a:r>
                        <a:rPr sz="1000">
                          <a:solidFill>
                            <a:srgbClr val="F1F5F9"/>
                          </a:solidFill>
                          <a:latin typeface="Verdana"/>
                        </a:rPr>
                        <a:t>PATCH</a:t>
                      </a:r>
                    </a:p>
                  </a:txBody>
                  <a:tcPr marL="76200" marR="76200" marT="50800" marB="50800">
                    <a:solidFill>
                      <a:srgbClr val="141E2D"/>
                    </a:solidFill>
                  </a:tcPr>
                </a:tc>
                <a:tc>
                  <a:txBody>
                    <a:bodyPr/>
                    <a:lstStyle/>
                    <a:p>
                      <a:pPr algn="l"/>
                      <a:r>
                        <a:rPr sz="1000">
                          <a:solidFill>
                            <a:srgbClr val="F1F5F9"/>
                          </a:solidFill>
                          <a:latin typeface="Verdana"/>
                        </a:rPr>
                        <a:t>Cập nhật một phần</a:t>
                      </a:r>
                    </a:p>
                  </a:txBody>
                  <a:tcPr marL="76200" marR="76200" marT="50800" marB="50800">
                    <a:solidFill>
                      <a:srgbClr val="141E2D"/>
                    </a:solidFill>
                  </a:tcPr>
                </a:tc>
                <a:tc>
                  <a:txBody>
                    <a:bodyPr/>
                    <a:lstStyle/>
                    <a:p>
                      <a:pPr algn="l"/>
                      <a:r>
                        <a:rPr sz="1000">
                          <a:solidFill>
                            <a:srgbClr val="F1F5F9"/>
                          </a:solidFill>
                          <a:latin typeface="Verdana"/>
                        </a:rPr>
                        <a:t>Không (Non-Idempotent)</a:t>
                      </a:r>
                    </a:p>
                  </a:txBody>
                  <a:tcPr marL="76200" marR="76200" marT="50800" marB="50800">
                    <a:solidFill>
                      <a:srgbClr val="141E2D"/>
                    </a:solidFill>
                  </a:tcPr>
                </a:tc>
                <a:tc>
                  <a:txBody>
                    <a:bodyPr/>
                    <a:lstStyle/>
                    <a:p>
                      <a:pPr algn="l"/>
                      <a:r>
                        <a:rPr sz="1000">
                          <a:solidFill>
                            <a:srgbClr val="F1F5F9"/>
                          </a:solidFill>
                          <a:latin typeface="Verdana"/>
                        </a:rPr>
                        <a:t>Chỉ sửa đổi các thuộc tính chỉ định. Có thể không idempotent.</a:t>
                      </a:r>
                    </a:p>
                  </a:txBody>
                  <a:tcPr marL="76200" marR="76200" marT="50800" marB="50800">
                    <a:solidFill>
                      <a:srgbClr val="141E2D"/>
                    </a:solidFill>
                  </a:tcPr>
                </a:tc>
                <a:extLst>
                  <a:ext uri="{0D108BD9-81ED-4DB2-BD59-A6C34878D82A}">
                    <a16:rowId xmlns:a16="http://schemas.microsoft.com/office/drawing/2014/main" val="10004"/>
                  </a:ext>
                </a:extLst>
              </a:tr>
              <a:tr h="670560">
                <a:tc>
                  <a:txBody>
                    <a:bodyPr/>
                    <a:lstStyle/>
                    <a:p>
                      <a:pPr algn="l"/>
                      <a:r>
                        <a:rPr sz="1000">
                          <a:solidFill>
                            <a:srgbClr val="F1F5F9"/>
                          </a:solidFill>
                          <a:latin typeface="Verdana"/>
                        </a:rPr>
                        <a:t>DELETE</a:t>
                      </a:r>
                    </a:p>
                  </a:txBody>
                  <a:tcPr marL="76200" marR="76200" marT="50800" marB="50800">
                    <a:solidFill>
                      <a:srgbClr val="0F172A"/>
                    </a:solidFill>
                  </a:tcPr>
                </a:tc>
                <a:tc>
                  <a:txBody>
                    <a:bodyPr/>
                    <a:lstStyle/>
                    <a:p>
                      <a:pPr algn="l"/>
                      <a:r>
                        <a:rPr sz="1000">
                          <a:solidFill>
                            <a:srgbClr val="F1F5F9"/>
                          </a:solidFill>
                          <a:latin typeface="Verdana"/>
                        </a:rPr>
                        <a:t>Xóa tài nguyên</a:t>
                      </a:r>
                    </a:p>
                  </a:txBody>
                  <a:tcPr marL="76200" marR="76200" marT="50800" marB="50800">
                    <a:solidFill>
                      <a:srgbClr val="0F172A"/>
                    </a:solidFill>
                  </a:tcPr>
                </a:tc>
                <a:tc>
                  <a:txBody>
                    <a:bodyPr/>
                    <a:lstStyle/>
                    <a:p>
                      <a:pPr algn="l"/>
                      <a:r>
                        <a:rPr sz="1000">
                          <a:solidFill>
                            <a:srgbClr val="F1F5F9"/>
                          </a:solidFill>
                          <a:latin typeface="Verdana"/>
                        </a:rPr>
                        <a:t>Có (Idempotent)</a:t>
                      </a:r>
                    </a:p>
                  </a:txBody>
                  <a:tcPr marL="76200" marR="76200" marT="50800" marB="50800">
                    <a:solidFill>
                      <a:srgbClr val="0F172A"/>
                    </a:solidFill>
                  </a:tcPr>
                </a:tc>
                <a:tc>
                  <a:txBody>
                    <a:bodyPr/>
                    <a:lstStyle/>
                    <a:p>
                      <a:pPr algn="l"/>
                      <a:r>
                        <a:rPr sz="1000">
                          <a:solidFill>
                            <a:srgbClr val="F1F5F9"/>
                          </a:solidFill>
                          <a:latin typeface="Verdana"/>
                        </a:rPr>
                        <a:t>Xóa bản ghi. Chạy lần đầu xóa thực tế, lần sau trả về 404 nhưng DB không đổi.</a:t>
                      </a:r>
                    </a:p>
                  </a:txBody>
                  <a:tcPr marL="76200" marR="76200" marT="50800" marB="50800">
                    <a:solidFill>
                      <a:srgbClr val="0F17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 / 88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WEB API &amp; REST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Best Practices trong thiết kế RESTful API chuẩn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Quy ước đặt tên tài nguyên URI</a:t>
            </a:r>
          </a:p>
          <a:p>
            <a:pPr>
              <a:spcAft>
                <a:spcPts val="800"/>
              </a:spcAft>
              <a:defRPr sz="1300">
                <a:solidFill>
                  <a:srgbClr val="F1F5F9"/>
                </a:solidFill>
                <a:latin typeface="Verdana"/>
              </a:defRPr>
            </a:pPr>
            <a:r>
              <a:t>• Sử dụng danh từ số nhiều cho Endpoint đại diện cho Collection: GET /api/products, POST /api/products.</a:t>
            </a:r>
          </a:p>
          <a:p>
            <a:pPr>
              <a:spcAft>
                <a:spcPts val="800"/>
              </a:spcAft>
              <a:defRPr sz="1300">
                <a:solidFill>
                  <a:srgbClr val="F1F5F9"/>
                </a:solidFill>
                <a:latin typeface="Verdana"/>
              </a:defRPr>
            </a:pPr>
            <a:r>
              <a:t>• Thể hiện mối quan hệ phân cấp lồng nhau qua đường dẫn URL: GET /api/users/10/orders.</a:t>
            </a:r>
          </a:p>
          <a:p>
            <a:pPr>
              <a:spcAft>
                <a:spcPts val="800"/>
              </a:spcAft>
              <a:defRPr sz="1300">
                <a:solidFill>
                  <a:srgbClr val="F1F5F9"/>
                </a:solidFill>
                <a:latin typeface="Verdana"/>
              </a:defRPr>
            </a:pPr>
            <a:r>
              <a:t>• Tuyệt đối không đưa động từ hành động CRUD vào đường dẫn: tránh GET /api/getProducts, dùng GET /api/products.</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Sử dụng đúng HTTP Status Codes</a:t>
            </a:r>
          </a:p>
          <a:p>
            <a:pPr>
              <a:spcAft>
                <a:spcPts val="800"/>
              </a:spcAft>
              <a:defRPr sz="1300">
                <a:solidFill>
                  <a:srgbClr val="F1F5F9"/>
                </a:solidFill>
                <a:latin typeface="Verdana"/>
              </a:defRPr>
            </a:pPr>
            <a:r>
              <a:t>• 2xx (Thành công): 200 OK, 201 Created (kèm location), 204 No Content (sử dụng cho DELETE thành công).</a:t>
            </a:r>
          </a:p>
          <a:p>
            <a:pPr>
              <a:spcAft>
                <a:spcPts val="800"/>
              </a:spcAft>
              <a:defRPr sz="1300">
                <a:solidFill>
                  <a:srgbClr val="F1F5F9"/>
                </a:solidFill>
                <a:latin typeface="Verdana"/>
              </a:defRPr>
            </a:pPr>
            <a:r>
              <a:t>• 4xx (Lỗi từ phía Client): 400 Bad Request (sai validation), 401 Unauthorized, 403 Forbidden, 404 Not Found.</a:t>
            </a:r>
          </a:p>
          <a:p>
            <a:pPr>
              <a:spcAft>
                <a:spcPts val="800"/>
              </a:spcAft>
              <a:defRPr sz="1300">
                <a:solidFill>
                  <a:srgbClr val="F1F5F9"/>
                </a:solidFill>
                <a:latin typeface="Verdana"/>
              </a:defRPr>
            </a:pPr>
            <a:r>
              <a:t>• 5xx (Lỗi từ hệ thống Server): 500 Internal Server Error (lỗi runtime chưa xử lý).</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 / 88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WEB API &amp; REST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Chuẩn giao tiếp phổ biến: REST vs GraphQL vs gRPC</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Đối chiếu các tiêu chí kỹ thuật để lựa chọn chuẩn giao thức phù hợp cho kiến trúc phần mềm hướng dịch vụ.</a:t>
            </a:r>
          </a:p>
        </p:txBody>
      </p:sp>
      <p:graphicFrame>
        <p:nvGraphicFramePr>
          <p:cNvPr id="6" name="Table 5"/>
          <p:cNvGraphicFramePr>
            <a:graphicFrameLocks noGrp="1"/>
          </p:cNvGraphicFramePr>
          <p:nvPr/>
        </p:nvGraphicFramePr>
        <p:xfrm>
          <a:off x="685800" y="2011680"/>
          <a:ext cx="10818265" cy="4023360"/>
        </p:xfrm>
        <a:graphic>
          <a:graphicData uri="http://schemas.openxmlformats.org/drawingml/2006/table">
            <a:tbl>
              <a:tblPr firstRow="1" bandRow="1">
                <a:tableStyleId>{5C22544A-7EE6-4342-B048-85BDC9FD1C3A}</a:tableStyleId>
              </a:tblPr>
              <a:tblGrid>
                <a:gridCol w="2133295">
                  <a:extLst>
                    <a:ext uri="{9D8B030D-6E8A-4147-A177-3AD203B41FA5}">
                      <a16:colId xmlns:a16="http://schemas.microsoft.com/office/drawing/2014/main" val="20000"/>
                    </a:ext>
                  </a:extLst>
                </a:gridCol>
                <a:gridCol w="2894990">
                  <a:extLst>
                    <a:ext uri="{9D8B030D-6E8A-4147-A177-3AD203B41FA5}">
                      <a16:colId xmlns:a16="http://schemas.microsoft.com/office/drawing/2014/main" val="20001"/>
                    </a:ext>
                  </a:extLst>
                </a:gridCol>
                <a:gridCol w="2894990">
                  <a:extLst>
                    <a:ext uri="{9D8B030D-6E8A-4147-A177-3AD203B41FA5}">
                      <a16:colId xmlns:a16="http://schemas.microsoft.com/office/drawing/2014/main" val="20002"/>
                    </a:ext>
                  </a:extLst>
                </a:gridCol>
                <a:gridCol w="2894990">
                  <a:extLst>
                    <a:ext uri="{9D8B030D-6E8A-4147-A177-3AD203B41FA5}">
                      <a16:colId xmlns:a16="http://schemas.microsoft.com/office/drawing/2014/main" val="20003"/>
                    </a:ext>
                  </a:extLst>
                </a:gridCol>
              </a:tblGrid>
              <a:tr h="670560">
                <a:tc>
                  <a:txBody>
                    <a:bodyPr/>
                    <a:lstStyle/>
                    <a:p>
                      <a:pPr algn="l"/>
                      <a:r>
                        <a:rPr sz="1100" b="1">
                          <a:solidFill>
                            <a:srgbClr val="38BDF8"/>
                          </a:solidFill>
                          <a:latin typeface="Verdana"/>
                        </a:rPr>
                        <a:t>Tiêu chí so sánh</a:t>
                      </a:r>
                    </a:p>
                  </a:txBody>
                  <a:tcPr marL="76200" marR="76200" marT="50800" marB="50800">
                    <a:solidFill>
                      <a:srgbClr val="1E293B"/>
                    </a:solidFill>
                  </a:tcPr>
                </a:tc>
                <a:tc>
                  <a:txBody>
                    <a:bodyPr/>
                    <a:lstStyle/>
                    <a:p>
                      <a:pPr algn="l"/>
                      <a:r>
                        <a:rPr sz="1100" b="1">
                          <a:solidFill>
                            <a:srgbClr val="38BDF8"/>
                          </a:solidFill>
                          <a:latin typeface="Verdana"/>
                        </a:rPr>
                        <a:t>RESTful API</a:t>
                      </a:r>
                    </a:p>
                  </a:txBody>
                  <a:tcPr marL="76200" marR="76200" marT="50800" marB="50800">
                    <a:solidFill>
                      <a:srgbClr val="1E293B"/>
                    </a:solidFill>
                  </a:tcPr>
                </a:tc>
                <a:tc>
                  <a:txBody>
                    <a:bodyPr/>
                    <a:lstStyle/>
                    <a:p>
                      <a:pPr algn="l"/>
                      <a:r>
                        <a:rPr sz="1100" b="1">
                          <a:solidFill>
                            <a:srgbClr val="38BDF8"/>
                          </a:solidFill>
                          <a:latin typeface="Verdana"/>
                        </a:rPr>
                        <a:t>GraphQL</a:t>
                      </a:r>
                    </a:p>
                  </a:txBody>
                  <a:tcPr marL="76200" marR="76200" marT="50800" marB="50800">
                    <a:solidFill>
                      <a:srgbClr val="1E293B"/>
                    </a:solidFill>
                  </a:tcPr>
                </a:tc>
                <a:tc>
                  <a:txBody>
                    <a:bodyPr/>
                    <a:lstStyle/>
                    <a:p>
                      <a:pPr algn="l"/>
                      <a:r>
                        <a:rPr sz="1100" b="1">
                          <a:solidFill>
                            <a:srgbClr val="38BDF8"/>
                          </a:solidFill>
                          <a:latin typeface="Verdana"/>
                        </a:rPr>
                        <a:t>gRPC (Google RPC)</a:t>
                      </a:r>
                    </a:p>
                  </a:txBody>
                  <a:tcPr marL="76200" marR="76200" marT="50800" marB="50800">
                    <a:solidFill>
                      <a:srgbClr val="1E293B"/>
                    </a:solidFill>
                  </a:tcPr>
                </a:tc>
                <a:extLst>
                  <a:ext uri="{0D108BD9-81ED-4DB2-BD59-A6C34878D82A}">
                    <a16:rowId xmlns:a16="http://schemas.microsoft.com/office/drawing/2014/main" val="10000"/>
                  </a:ext>
                </a:extLst>
              </a:tr>
              <a:tr h="670560">
                <a:tc>
                  <a:txBody>
                    <a:bodyPr/>
                    <a:lstStyle/>
                    <a:p>
                      <a:pPr algn="l"/>
                      <a:r>
                        <a:rPr sz="1000">
                          <a:solidFill>
                            <a:srgbClr val="F1F5F9"/>
                          </a:solidFill>
                          <a:latin typeface="Verdana"/>
                        </a:rPr>
                        <a:t>Giao thức mạng</a:t>
                      </a:r>
                    </a:p>
                  </a:txBody>
                  <a:tcPr marL="76200" marR="76200" marT="50800" marB="50800">
                    <a:solidFill>
                      <a:srgbClr val="0F172A"/>
                    </a:solidFill>
                  </a:tcPr>
                </a:tc>
                <a:tc>
                  <a:txBody>
                    <a:bodyPr/>
                    <a:lstStyle/>
                    <a:p>
                      <a:pPr algn="l"/>
                      <a:r>
                        <a:rPr sz="1000">
                          <a:solidFill>
                            <a:srgbClr val="F1F5F9"/>
                          </a:solidFill>
                          <a:latin typeface="Verdana"/>
                        </a:rPr>
                        <a:t>HTTP/1.1 hoặc HTTP/2</a:t>
                      </a:r>
                    </a:p>
                  </a:txBody>
                  <a:tcPr marL="76200" marR="76200" marT="50800" marB="50800">
                    <a:solidFill>
                      <a:srgbClr val="0F172A"/>
                    </a:solidFill>
                  </a:tcPr>
                </a:tc>
                <a:tc>
                  <a:txBody>
                    <a:bodyPr/>
                    <a:lstStyle/>
                    <a:p>
                      <a:pPr algn="l"/>
                      <a:r>
                        <a:rPr sz="1000">
                          <a:solidFill>
                            <a:srgbClr val="F1F5F9"/>
                          </a:solidFill>
                          <a:latin typeface="Verdana"/>
                        </a:rPr>
                        <a:t>HTTP/1.1</a:t>
                      </a:r>
                    </a:p>
                  </a:txBody>
                  <a:tcPr marL="76200" marR="76200" marT="50800" marB="50800">
                    <a:solidFill>
                      <a:srgbClr val="0F172A"/>
                    </a:solidFill>
                  </a:tcPr>
                </a:tc>
                <a:tc>
                  <a:txBody>
                    <a:bodyPr/>
                    <a:lstStyle/>
                    <a:p>
                      <a:pPr algn="l"/>
                      <a:r>
                        <a:rPr sz="1000">
                          <a:solidFill>
                            <a:srgbClr val="F1F5F9"/>
                          </a:solidFill>
                          <a:latin typeface="Verdana"/>
                        </a:rPr>
                        <a:t>HTTP/2 (Streaming hai chiều)</a:t>
                      </a:r>
                    </a:p>
                  </a:txBody>
                  <a:tcPr marL="76200" marR="76200" marT="50800" marB="50800">
                    <a:solidFill>
                      <a:srgbClr val="0F172A"/>
                    </a:solidFill>
                  </a:tcPr>
                </a:tc>
                <a:extLst>
                  <a:ext uri="{0D108BD9-81ED-4DB2-BD59-A6C34878D82A}">
                    <a16:rowId xmlns:a16="http://schemas.microsoft.com/office/drawing/2014/main" val="10001"/>
                  </a:ext>
                </a:extLst>
              </a:tr>
              <a:tr h="670560">
                <a:tc>
                  <a:txBody>
                    <a:bodyPr/>
                    <a:lstStyle/>
                    <a:p>
                      <a:pPr algn="l"/>
                      <a:r>
                        <a:rPr sz="1000">
                          <a:solidFill>
                            <a:srgbClr val="F1F5F9"/>
                          </a:solidFill>
                          <a:latin typeface="Verdana"/>
                        </a:rPr>
                        <a:t>Định dạng dữ liệu</a:t>
                      </a:r>
                    </a:p>
                  </a:txBody>
                  <a:tcPr marL="76200" marR="76200" marT="50800" marB="50800">
                    <a:solidFill>
                      <a:srgbClr val="141E2D"/>
                    </a:solidFill>
                  </a:tcPr>
                </a:tc>
                <a:tc>
                  <a:txBody>
                    <a:bodyPr/>
                    <a:lstStyle/>
                    <a:p>
                      <a:pPr algn="l"/>
                      <a:r>
                        <a:rPr sz="1000">
                          <a:solidFill>
                            <a:srgbClr val="F1F5F9"/>
                          </a:solidFill>
                          <a:latin typeface="Verdana"/>
                        </a:rPr>
                        <a:t>JSON, XML (Plain text)</a:t>
                      </a:r>
                    </a:p>
                  </a:txBody>
                  <a:tcPr marL="76200" marR="76200" marT="50800" marB="50800">
                    <a:solidFill>
                      <a:srgbClr val="141E2D"/>
                    </a:solidFill>
                  </a:tcPr>
                </a:tc>
                <a:tc>
                  <a:txBody>
                    <a:bodyPr/>
                    <a:lstStyle/>
                    <a:p>
                      <a:pPr algn="l"/>
                      <a:r>
                        <a:rPr sz="1000">
                          <a:solidFill>
                            <a:srgbClr val="F1F5F9"/>
                          </a:solidFill>
                          <a:latin typeface="Verdana"/>
                        </a:rPr>
                        <a:t>JSON</a:t>
                      </a:r>
                    </a:p>
                  </a:txBody>
                  <a:tcPr marL="76200" marR="76200" marT="50800" marB="50800">
                    <a:solidFill>
                      <a:srgbClr val="141E2D"/>
                    </a:solidFill>
                  </a:tcPr>
                </a:tc>
                <a:tc>
                  <a:txBody>
                    <a:bodyPr/>
                    <a:lstStyle/>
                    <a:p>
                      <a:pPr algn="l"/>
                      <a:r>
                        <a:rPr sz="1000">
                          <a:solidFill>
                            <a:srgbClr val="F1F5F9"/>
                          </a:solidFill>
                          <a:latin typeface="Verdana"/>
                        </a:rPr>
                        <a:t>Protocol Buffers (Mã hóa nhị phân)</a:t>
                      </a:r>
                    </a:p>
                  </a:txBody>
                  <a:tcPr marL="76200" marR="76200" marT="50800" marB="50800">
                    <a:solidFill>
                      <a:srgbClr val="141E2D"/>
                    </a:solidFill>
                  </a:tcPr>
                </a:tc>
                <a:extLst>
                  <a:ext uri="{0D108BD9-81ED-4DB2-BD59-A6C34878D82A}">
                    <a16:rowId xmlns:a16="http://schemas.microsoft.com/office/drawing/2014/main" val="10002"/>
                  </a:ext>
                </a:extLst>
              </a:tr>
              <a:tr h="670560">
                <a:tc>
                  <a:txBody>
                    <a:bodyPr/>
                    <a:lstStyle/>
                    <a:p>
                      <a:pPr algn="l"/>
                      <a:r>
                        <a:rPr sz="1000">
                          <a:solidFill>
                            <a:srgbClr val="F1F5F9"/>
                          </a:solidFill>
                          <a:latin typeface="Verdana"/>
                        </a:rPr>
                        <a:t>Cơ chế lấy dữ liệu</a:t>
                      </a:r>
                    </a:p>
                  </a:txBody>
                  <a:tcPr marL="76200" marR="76200" marT="50800" marB="50800">
                    <a:solidFill>
                      <a:srgbClr val="0F172A"/>
                    </a:solidFill>
                  </a:tcPr>
                </a:tc>
                <a:tc>
                  <a:txBody>
                    <a:bodyPr/>
                    <a:lstStyle/>
                    <a:p>
                      <a:pPr algn="l"/>
                      <a:r>
                        <a:rPr sz="1000">
                          <a:solidFill>
                            <a:srgbClr val="F1F5F9"/>
                          </a:solidFill>
                          <a:latin typeface="Verdana"/>
                        </a:rPr>
                        <a:t>Over-fetching / Under-fetching</a:t>
                      </a:r>
                    </a:p>
                  </a:txBody>
                  <a:tcPr marL="76200" marR="76200" marT="50800" marB="50800">
                    <a:solidFill>
                      <a:srgbClr val="0F172A"/>
                    </a:solidFill>
                  </a:tcPr>
                </a:tc>
                <a:tc>
                  <a:txBody>
                    <a:bodyPr/>
                    <a:lstStyle/>
                    <a:p>
                      <a:pPr algn="l"/>
                      <a:r>
                        <a:rPr sz="1000">
                          <a:solidFill>
                            <a:srgbClr val="F1F5F9"/>
                          </a:solidFill>
                          <a:latin typeface="Verdana"/>
                        </a:rPr>
                        <a:t>Client truy vấn chính xác trường cần</a:t>
                      </a:r>
                    </a:p>
                  </a:txBody>
                  <a:tcPr marL="76200" marR="76200" marT="50800" marB="50800">
                    <a:solidFill>
                      <a:srgbClr val="0F172A"/>
                    </a:solidFill>
                  </a:tcPr>
                </a:tc>
                <a:tc>
                  <a:txBody>
                    <a:bodyPr/>
                    <a:lstStyle/>
                    <a:p>
                      <a:pPr algn="l"/>
                      <a:r>
                        <a:rPr sz="1000">
                          <a:solidFill>
                            <a:srgbClr val="F1F5F9"/>
                          </a:solidFill>
                          <a:latin typeface="Verdana"/>
                        </a:rPr>
                        <a:t>Định nghĩa trước qua file hợp đồng .proto</a:t>
                      </a:r>
                    </a:p>
                  </a:txBody>
                  <a:tcPr marL="76200" marR="76200" marT="50800" marB="50800">
                    <a:solidFill>
                      <a:srgbClr val="0F172A"/>
                    </a:solidFill>
                  </a:tcPr>
                </a:tc>
                <a:extLst>
                  <a:ext uri="{0D108BD9-81ED-4DB2-BD59-A6C34878D82A}">
                    <a16:rowId xmlns:a16="http://schemas.microsoft.com/office/drawing/2014/main" val="10003"/>
                  </a:ext>
                </a:extLst>
              </a:tr>
              <a:tr h="670560">
                <a:tc>
                  <a:txBody>
                    <a:bodyPr/>
                    <a:lstStyle/>
                    <a:p>
                      <a:pPr algn="l"/>
                      <a:r>
                        <a:rPr sz="1000">
                          <a:solidFill>
                            <a:srgbClr val="F1F5F9"/>
                          </a:solidFill>
                          <a:latin typeface="Verdana"/>
                        </a:rPr>
                        <a:t>Hiệu năng tốc độ</a:t>
                      </a:r>
                    </a:p>
                  </a:txBody>
                  <a:tcPr marL="76200" marR="76200" marT="50800" marB="50800">
                    <a:solidFill>
                      <a:srgbClr val="141E2D"/>
                    </a:solidFill>
                  </a:tcPr>
                </a:tc>
                <a:tc>
                  <a:txBody>
                    <a:bodyPr/>
                    <a:lstStyle/>
                    <a:p>
                      <a:pPr algn="l"/>
                      <a:r>
                        <a:rPr sz="1000">
                          <a:solidFill>
                            <a:srgbClr val="F1F5F9"/>
                          </a:solidFill>
                          <a:latin typeface="Verdana"/>
                        </a:rPr>
                        <a:t>Trung bình - Khá</a:t>
                      </a:r>
                    </a:p>
                  </a:txBody>
                  <a:tcPr marL="76200" marR="76200" marT="50800" marB="50800">
                    <a:solidFill>
                      <a:srgbClr val="141E2D"/>
                    </a:solidFill>
                  </a:tcPr>
                </a:tc>
                <a:tc>
                  <a:txBody>
                    <a:bodyPr/>
                    <a:lstStyle/>
                    <a:p>
                      <a:pPr algn="l"/>
                      <a:r>
                        <a:rPr sz="1000">
                          <a:solidFill>
                            <a:srgbClr val="F1F5F9"/>
                          </a:solidFill>
                          <a:latin typeface="Verdana"/>
                        </a:rPr>
                        <a:t>Trung bình</a:t>
                      </a:r>
                    </a:p>
                  </a:txBody>
                  <a:tcPr marL="76200" marR="76200" marT="50800" marB="50800">
                    <a:solidFill>
                      <a:srgbClr val="141E2D"/>
                    </a:solidFill>
                  </a:tcPr>
                </a:tc>
                <a:tc>
                  <a:txBody>
                    <a:bodyPr/>
                    <a:lstStyle/>
                    <a:p>
                      <a:pPr algn="l"/>
                      <a:r>
                        <a:rPr sz="1000">
                          <a:solidFill>
                            <a:srgbClr val="F1F5F9"/>
                          </a:solidFill>
                          <a:latin typeface="Verdana"/>
                        </a:rPr>
                        <a:t>Cực nhanh (Dữ liệu nhỏ, nén nhị phân)</a:t>
                      </a:r>
                    </a:p>
                  </a:txBody>
                  <a:tcPr marL="76200" marR="76200" marT="50800" marB="50800">
                    <a:solidFill>
                      <a:srgbClr val="141E2D"/>
                    </a:solidFill>
                  </a:tcPr>
                </a:tc>
                <a:extLst>
                  <a:ext uri="{0D108BD9-81ED-4DB2-BD59-A6C34878D82A}">
                    <a16:rowId xmlns:a16="http://schemas.microsoft.com/office/drawing/2014/main" val="10004"/>
                  </a:ext>
                </a:extLst>
              </a:tr>
              <a:tr h="670560">
                <a:tc>
                  <a:txBody>
                    <a:bodyPr/>
                    <a:lstStyle/>
                    <a:p>
                      <a:pPr algn="l"/>
                      <a:r>
                        <a:rPr sz="1000">
                          <a:solidFill>
                            <a:srgbClr val="F1F5F9"/>
                          </a:solidFill>
                          <a:latin typeface="Verdana"/>
                        </a:rPr>
                        <a:t>Mục đích sử dụng</a:t>
                      </a:r>
                    </a:p>
                  </a:txBody>
                  <a:tcPr marL="76200" marR="76200" marT="50800" marB="50800">
                    <a:solidFill>
                      <a:srgbClr val="0F172A"/>
                    </a:solidFill>
                  </a:tcPr>
                </a:tc>
                <a:tc>
                  <a:txBody>
                    <a:bodyPr/>
                    <a:lstStyle/>
                    <a:p>
                      <a:pPr algn="l"/>
                      <a:r>
                        <a:rPr sz="1000">
                          <a:solidFill>
                            <a:srgbClr val="F1F5F9"/>
                          </a:solidFill>
                          <a:latin typeface="Verdana"/>
                        </a:rPr>
                        <a:t>API công cộng, Web/Mobile ứng dụng</a:t>
                      </a:r>
                    </a:p>
                  </a:txBody>
                  <a:tcPr marL="76200" marR="76200" marT="50800" marB="50800">
                    <a:solidFill>
                      <a:srgbClr val="0F172A"/>
                    </a:solidFill>
                  </a:tcPr>
                </a:tc>
                <a:tc>
                  <a:txBody>
                    <a:bodyPr/>
                    <a:lstStyle/>
                    <a:p>
                      <a:pPr algn="l"/>
                      <a:r>
                        <a:rPr sz="1000">
                          <a:solidFill>
                            <a:srgbClr val="F1F5F9"/>
                          </a:solidFill>
                          <a:latin typeface="Verdana"/>
                        </a:rPr>
                        <a:t>Frontend cần truy vấn linh động nhiều bảng</a:t>
                      </a:r>
                    </a:p>
                  </a:txBody>
                  <a:tcPr marL="76200" marR="76200" marT="50800" marB="50800">
                    <a:solidFill>
                      <a:srgbClr val="0F172A"/>
                    </a:solidFill>
                  </a:tcPr>
                </a:tc>
                <a:tc>
                  <a:txBody>
                    <a:bodyPr/>
                    <a:lstStyle/>
                    <a:p>
                      <a:pPr algn="l"/>
                      <a:r>
                        <a:rPr sz="1000">
                          <a:solidFill>
                            <a:srgbClr val="F1F5F9"/>
                          </a:solidFill>
                          <a:latin typeface="Verdana"/>
                        </a:rPr>
                        <a:t>Giao tiếp nội bộ giữa các dịch vụ Microservices</a:t>
                      </a:r>
                    </a:p>
                  </a:txBody>
                  <a:tcPr marL="76200" marR="76200" marT="50800" marB="50800">
                    <a:solidFill>
                      <a:srgbClr val="0F17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 / 88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MÔI TRƯỜNG &amp; KIẾN TRÚC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Cài đặt môi trường phát triển &amp; Cấu trúc thư mục</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Bộ công cụ .NET SDK</a:t>
            </a:r>
          </a:p>
          <a:p>
            <a:pPr>
              <a:spcAft>
                <a:spcPts val="600"/>
              </a:spcAft>
              <a:defRPr sz="1300">
                <a:solidFill>
                  <a:srgbClr val="F1F5F9"/>
                </a:solidFill>
                <a:latin typeface="Verdana"/>
              </a:defRPr>
            </a:pPr>
            <a:r>
              <a:t>Cài đặt bộ .NET SDK (phiên bản LTS 8.0/10.0 mới nhất). Kiểm tra môi trường hoạt động bằng câu lệnh CLI: "dotnet --version".</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IDE &amp; CSDL SQL Server</a:t>
            </a:r>
          </a:p>
          <a:p>
            <a:pPr>
              <a:spcAft>
                <a:spcPts val="600"/>
              </a:spcAft>
              <a:defRPr sz="1300">
                <a:solidFill>
                  <a:srgbClr val="F1F5F9"/>
                </a:solidFill>
                <a:latin typeface="Verdana"/>
              </a:defRPr>
            </a:pPr>
            <a:r>
              <a:t>Sử dụng Visual Studio (chọn workload ASP.NET and Web Development) hoặc VS Code (cài đặt C# Dev Kit). CSDL SQL Server Express + SSMS.</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Cấu trúc thư mục chuẩn</a:t>
            </a:r>
          </a:p>
          <a:p>
            <a:pPr>
              <a:spcAft>
                <a:spcPts val="600"/>
              </a:spcAft>
              <a:defRPr sz="1200">
                <a:solidFill>
                  <a:srgbClr val="F1F5F9"/>
                </a:solidFill>
                <a:latin typeface="Verdana"/>
              </a:defRPr>
            </a:pPr>
            <a:r>
              <a:t>• Controllers/ : Chứa file xử lý request.</a:t>
            </a:r>
          </a:p>
          <a:p>
            <a:pPr>
              <a:spcAft>
                <a:spcPts val="600"/>
              </a:spcAft>
              <a:defRPr sz="1200">
                <a:solidFill>
                  <a:srgbClr val="F1F5F9"/>
                </a:solidFill>
                <a:latin typeface="Verdana"/>
              </a:defRPr>
            </a:pPr>
            <a:r>
              <a:t>• Properties/launchSettings.json : Cấu hình port.</a:t>
            </a:r>
          </a:p>
          <a:p>
            <a:pPr>
              <a:spcAft>
                <a:spcPts val="600"/>
              </a:spcAft>
              <a:defRPr sz="1200">
                <a:solidFill>
                  <a:srgbClr val="F1F5F9"/>
                </a:solidFill>
                <a:latin typeface="Verdana"/>
              </a:defRPr>
            </a:pPr>
            <a:r>
              <a:t>• appsettings.json : Lưu connection string, secrets.</a:t>
            </a:r>
          </a:p>
          <a:p>
            <a:pPr>
              <a:spcAft>
                <a:spcPts val="600"/>
              </a:spcAft>
              <a:defRPr sz="1200">
                <a:solidFill>
                  <a:srgbClr val="F1F5F9"/>
                </a:solidFill>
                <a:latin typeface="Verdana"/>
              </a:defRPr>
            </a:pPr>
            <a:r>
              <a:t>• Program.cs : Điểm khởi chạy cấu hình chính.</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9 / 88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KIẾN TRÚC ASP.NET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File Program.cs - Trái tim vận hành của ứng dụng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cú pháp tối giản Top-level statements gộp cấu hình vào một tệp.</a:t>
            </a:r>
          </a:p>
          <a:p>
            <a:pPr>
              <a:spcAft>
                <a:spcPts val="800"/>
              </a:spcAft>
              <a:defRPr sz="1200">
                <a:solidFill>
                  <a:srgbClr val="F1F5F9"/>
                </a:solidFill>
                <a:latin typeface="Verdana"/>
              </a:defRPr>
            </a:pPr>
            <a:r>
              <a:t>• Phân tách rõ ràng làm hai giai đoạn chính: 1. Đăng ký Services (DI Container); 2. Cấu hình Pipeline (Middlewares).</a:t>
            </a:r>
          </a:p>
          <a:p>
            <a:pPr>
              <a:spcAft>
                <a:spcPts val="800"/>
              </a:spcAft>
              <a:defRPr sz="1200">
                <a:solidFill>
                  <a:srgbClr val="F1F5F9"/>
                </a:solidFill>
                <a:latin typeface="Verdana"/>
              </a:defRPr>
            </a:pPr>
            <a:r>
              <a:t>• Sử dụng WebApplicationBuilder để quản lý môi trường.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builder.Services.AddControllers()</a:t>
            </a:r>
          </a:p>
          <a:p>
            <a:pPr>
              <a:spcAft>
                <a:spcPts val="400"/>
              </a:spcAft>
              <a:defRPr sz="1100">
                <a:solidFill>
                  <a:srgbClr val="10B981"/>
                </a:solidFill>
                <a:latin typeface="Verdana"/>
              </a:defRPr>
            </a:pPr>
            <a:r>
              <a:t>✔ app.UseMiddleware()</a:t>
            </a:r>
          </a:p>
          <a:p>
            <a:pPr>
              <a:spcAft>
                <a:spcPts val="400"/>
              </a:spcAft>
              <a:defRPr sz="1100">
                <a:solidFill>
                  <a:srgbClr val="10B981"/>
                </a:solidFill>
                <a:latin typeface="Verdana"/>
              </a:defRPr>
            </a:pPr>
            <a:r>
              <a:t>✔ app.Run()</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var builder = WebApplication.CreateBuilder(args);</a:t>
            </a:r>
            <a:br/>
            <a:br/>
            <a:r>
              <a:t>// 1. ĐĂNG KÝ CÁC DỊCH VỤ VÀO CONTAINER (DI)</a:t>
            </a:r>
            <a:br/>
            <a:r>
              <a:t>builder.Services.AddControllers();</a:t>
            </a:r>
            <a:br/>
            <a:r>
              <a:t>builder.Services.AddEndpointsApiExplorer();</a:t>
            </a:r>
            <a:br/>
            <a:r>
              <a:t>builder.Services.AddSwaggerGen();</a:t>
            </a:r>
            <a:br/>
            <a:br/>
            <a:r>
              <a:t>var app = builder.Build();</a:t>
            </a:r>
            <a:br/>
            <a:br/>
            <a:r>
              <a:t>// 2. CẤU HÌNH HTTP REQUEST PIPELINE (MIDDLEWARES)</a:t>
            </a:r>
            <a:br/>
            <a:r>
              <a:t>if (app.Environment.IsDevelopment())</a:t>
            </a:r>
            <a:br/>
            <a:r>
              <a:t>{</a:t>
            </a:r>
            <a:br/>
            <a:r>
              <a:t>    app.UseSwagger();</a:t>
            </a:r>
            <a:br/>
            <a:r>
              <a:t>    app.UseSwaggerUI();</a:t>
            </a:r>
            <a:br/>
            <a:r>
              <a:t>}</a:t>
            </a:r>
            <a:br/>
            <a:r>
              <a:t>app.UseHttpsRedirection();</a:t>
            </a:r>
            <a:br/>
            <a:r>
              <a:t>app.UseAuthorization();</a:t>
            </a:r>
            <a:br/>
            <a:r>
              <a:t>app.MapControllers(); // Ánh xạ routing controller</a:t>
            </a:r>
            <a:br/>
            <a:br/>
            <a:r>
              <a:t>app.Run(); // Khởi chạy server Web</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10 / 88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HTTP PIPELINE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Cơ chế Middleware và HTTP Request Pipeline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Middleware là gì?</a:t>
            </a:r>
          </a:p>
          <a:p>
            <a:pPr>
              <a:spcAft>
                <a:spcPts val="800"/>
              </a:spcAft>
              <a:defRPr sz="1300">
                <a:solidFill>
                  <a:srgbClr val="F1F5F9"/>
                </a:solidFill>
                <a:latin typeface="Verdana"/>
              </a:defRPr>
            </a:pPr>
            <a:r>
              <a:t>• Middleware là những khối lệnh liên tiếp cấu thành chuỗi xử lý HTTP Request Pipeline.</a:t>
            </a:r>
          </a:p>
          <a:p>
            <a:pPr>
              <a:spcAft>
                <a:spcPts val="800"/>
              </a:spcAft>
              <a:defRPr sz="1300">
                <a:solidFill>
                  <a:srgbClr val="F1F5F9"/>
                </a:solidFill>
                <a:latin typeface="Verdana"/>
              </a:defRPr>
            </a:pPr>
            <a:r>
              <a:t>• Mỗi Middleware có quyền chặn (Short-circuit) Request hoặc đẩy sang Middleware kế tiếp qua RequestDelegate.</a:t>
            </a:r>
          </a:p>
          <a:p>
            <a:pPr>
              <a:spcAft>
                <a:spcPts val="800"/>
              </a:spcAft>
              <a:defRPr sz="1300">
                <a:solidFill>
                  <a:srgbClr val="F1F5F9"/>
                </a:solidFill>
                <a:latin typeface="Verdana"/>
              </a:defRPr>
            </a:pPr>
            <a:r>
              <a:t>• Request đi xuôi chiều qua chuỗi Middleware, Response quay ngược chiều trở lại để gửi về Client.</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Luồng đi thực tế của Request</a:t>
            </a:r>
          </a:p>
          <a:p>
            <a:pPr>
              <a:spcAft>
                <a:spcPts val="800"/>
              </a:spcAft>
              <a:defRPr sz="1300">
                <a:solidFill>
                  <a:srgbClr val="F1F5F9"/>
                </a:solidFill>
                <a:latin typeface="Verdana"/>
              </a:defRPr>
            </a:pPr>
            <a:r>
              <a:t>• Request -&gt; [Middleware 1: Logging] -&gt; [Middleware 2: Security] -&gt; [Middleware 3: Routing] -&gt; Controller Action.</a:t>
            </a:r>
          </a:p>
          <a:p>
            <a:pPr>
              <a:spcAft>
                <a:spcPts val="800"/>
              </a:spcAft>
              <a:defRPr sz="1300">
                <a:solidFill>
                  <a:srgbClr val="F1F5F9"/>
                </a:solidFill>
                <a:latin typeface="Verdana"/>
              </a:defRPr>
            </a:pPr>
            <a:r>
              <a:t>• Response &lt;- [Middleware 1] &lt;- [Middleware 2] &lt;- [Middleware 3] &lt;- Trả về dữ liệu JSON.</a:t>
            </a:r>
          </a:p>
          <a:p>
            <a:pPr>
              <a:spcAft>
                <a:spcPts val="800"/>
              </a:spcAft>
              <a:defRPr sz="1300">
                <a:solidFill>
                  <a:srgbClr val="F1F5F9"/>
                </a:solidFill>
                <a:latin typeface="Verdana"/>
              </a:defRPr>
            </a:pPr>
            <a:r>
              <a:t>• Đăng ký sai thứ tự Middleware sẽ phá vỡ logic bảo mật và định tuyến hệ thống.</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11 / 88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HTTP PIPELINE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hành viết Custom Middleware đo hiệu năng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Middleware nhận RequestDelegate (con trỏ gọi Middleware tiếp theo) và ILogger qua Constructor.</a:t>
            </a:r>
          </a:p>
          <a:p>
            <a:pPr>
              <a:spcAft>
                <a:spcPts val="800"/>
              </a:spcAft>
              <a:defRPr sz="1200">
                <a:solidFill>
                  <a:srgbClr val="F1F5F9"/>
                </a:solidFill>
                <a:latin typeface="Verdana"/>
              </a:defRPr>
            </a:pPr>
            <a:r>
              <a:t>• Hàm InvokeAsync xử lý bất đồng bộ. Sử dụng Stopwatch để đo chính xác thời gian chạy.</a:t>
            </a:r>
          </a:p>
          <a:p>
            <a:pPr>
              <a:spcAft>
                <a:spcPts val="800"/>
              </a:spcAft>
              <a:defRPr sz="1200">
                <a:solidFill>
                  <a:srgbClr val="F1F5F9"/>
                </a:solidFill>
                <a:latin typeface="Verdana"/>
              </a:defRPr>
            </a:pPr>
            <a:r>
              <a:t>• Gọi await _next(context) để nhường quyền xử lý tiếp theo.</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public async Task InvokeAsync(HttpContext context)</a:t>
            </a:r>
          </a:p>
          <a:p>
            <a:pPr>
              <a:spcAft>
                <a:spcPts val="400"/>
              </a:spcAft>
              <a:defRPr sz="1100">
                <a:solidFill>
                  <a:srgbClr val="10B981"/>
                </a:solidFill>
                <a:latin typeface="Verdana"/>
              </a:defRPr>
            </a:pPr>
            <a:r>
              <a:t>✔ await _next(context)</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System.Diagnostics;</a:t>
            </a:r>
            <a:br/>
            <a:br/>
            <a:r>
              <a:t>public class RequestTimingMiddleware</a:t>
            </a:r>
            <a:br/>
            <a:r>
              <a:t>{</a:t>
            </a:r>
            <a:br/>
            <a:r>
              <a:t>    private readonly RequestDelegate _next;</a:t>
            </a:r>
            <a:br/>
            <a:r>
              <a:t>    private readonly ILogger&lt;RequestTimingMiddleware&gt; _logger;</a:t>
            </a:r>
            <a:br/>
            <a:br/>
            <a:r>
              <a:t>    public RequestTimingMiddleware(RequestDelegate next, </a:t>
            </a:r>
            <a:br/>
            <a:r>
              <a:t>                                   ILogger&lt;RequestTimingMiddleware&gt; logger)</a:t>
            </a:r>
            <a:br/>
            <a:r>
              <a:t>    {</a:t>
            </a:r>
            <a:br/>
            <a:r>
              <a:t>        _next = next;</a:t>
            </a:r>
            <a:br/>
            <a:r>
              <a:t>        _logger = logger;</a:t>
            </a:r>
            <a:br/>
            <a:r>
              <a:t>    }</a:t>
            </a:r>
            <a:br/>
            <a:br/>
            <a:r>
              <a:t>    public async Task InvokeAsync(HttpContext context)</a:t>
            </a:r>
            <a:br/>
            <a:r>
              <a:t>    {</a:t>
            </a:r>
            <a:br/>
            <a:r>
              <a:t>        var stopwatch = Stopwatch.StartNew();</a:t>
            </a:r>
            <a:br/>
            <a:r>
              <a:t>        </a:t>
            </a:r>
            <a:br/>
            <a:r>
              <a:t>        await _next(context); // Chuyển sang Middleware tiếp theo</a:t>
            </a:r>
            <a:br/>
            <a:r>
              <a:t>        </a:t>
            </a:r>
            <a:br/>
            <a:r>
              <a:t>        stopwatch.Stop();</a:t>
            </a:r>
            <a:br/>
            <a:r>
              <a:t>        var elapsed = stopwatch.ElapsedMilliseconds;</a:t>
            </a:r>
            <a:br/>
            <a:r>
              <a:t>        _logger.LogInformation("HTTP {Method} {Path} xử lý trong {Elapsed} ms",</a:t>
            </a:r>
            <a:br/>
            <a:r>
              <a:t>            context.Request.Method, context.Request.Path, elapsed);</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12 / 88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DEPENDENCY INJECTION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Dependency Injection (DI) &amp; Phân biệt 3 loại Lifetimes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Kỹ thuật Inversion of Control (IoC) cho phép Container quản lý vòng đời đối tượng và tự bơm phụ thuộc qua Constructor.</a:t>
            </a:r>
          </a:p>
        </p:txBody>
      </p:sp>
      <p:graphicFrame>
        <p:nvGraphicFramePr>
          <p:cNvPr id="6" name="Table 5"/>
          <p:cNvGraphicFramePr>
            <a:graphicFrameLocks noGrp="1"/>
          </p:cNvGraphicFramePr>
          <p:nvPr/>
        </p:nvGraphicFramePr>
        <p:xfrm>
          <a:off x="685800" y="2011680"/>
          <a:ext cx="12191695" cy="40233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962095">
                  <a:extLst>
                    <a:ext uri="{9D8B030D-6E8A-4147-A177-3AD203B41FA5}">
                      <a16:colId xmlns:a16="http://schemas.microsoft.com/office/drawing/2014/main" val="20003"/>
                    </a:ext>
                  </a:extLst>
                </a:gridCol>
              </a:tblGrid>
              <a:tr h="1005840">
                <a:tc>
                  <a:txBody>
                    <a:bodyPr/>
                    <a:lstStyle/>
                    <a:p>
                      <a:pPr algn="l"/>
                      <a:r>
                        <a:rPr sz="1100" b="1">
                          <a:solidFill>
                            <a:srgbClr val="38BDF8"/>
                          </a:solidFill>
                          <a:latin typeface="Verdana"/>
                        </a:rPr>
                        <a:t>Vòng đời Service</a:t>
                      </a:r>
                    </a:p>
                  </a:txBody>
                  <a:tcPr marL="76200" marR="76200" marT="50800" marB="50800">
                    <a:solidFill>
                      <a:srgbClr val="1E293B"/>
                    </a:solidFill>
                  </a:tcPr>
                </a:tc>
                <a:tc>
                  <a:txBody>
                    <a:bodyPr/>
                    <a:lstStyle/>
                    <a:p>
                      <a:pPr algn="l"/>
                      <a:r>
                        <a:rPr sz="1100" b="1">
                          <a:solidFill>
                            <a:srgbClr val="38BDF8"/>
                          </a:solidFill>
                          <a:latin typeface="Verdana"/>
                        </a:rPr>
                        <a:t>Cách đăng ký trong Program.cs</a:t>
                      </a:r>
                    </a:p>
                  </a:txBody>
                  <a:tcPr marL="76200" marR="76200" marT="50800" marB="50800">
                    <a:solidFill>
                      <a:srgbClr val="1E293B"/>
                    </a:solidFill>
                  </a:tcPr>
                </a:tc>
                <a:tc>
                  <a:txBody>
                    <a:bodyPr/>
                    <a:lstStyle/>
                    <a:p>
                      <a:pPr algn="l"/>
                      <a:r>
                        <a:rPr sz="1100" b="1">
                          <a:solidFill>
                            <a:srgbClr val="38BDF8"/>
                          </a:solidFill>
                          <a:latin typeface="Verdana"/>
                        </a:rPr>
                        <a:t>Tần suất khởi tạo thực tế</a:t>
                      </a:r>
                    </a:p>
                  </a:txBody>
                  <a:tcPr marL="76200" marR="76200" marT="50800" marB="50800">
                    <a:solidFill>
                      <a:srgbClr val="1E293B"/>
                    </a:solidFill>
                  </a:tcPr>
                </a:tc>
                <a:tc>
                  <a:txBody>
                    <a:bodyPr/>
                    <a:lstStyle/>
                    <a:p>
                      <a:pPr algn="l"/>
                      <a:r>
                        <a:rPr sz="1100" b="1">
                          <a:solidFill>
                            <a:srgbClr val="38BDF8"/>
                          </a:solidFill>
                          <a:latin typeface="Verdana"/>
                        </a:rPr>
                        <a:t>Trường hợp áp dụng thực tế</a:t>
                      </a:r>
                    </a:p>
                  </a:txBody>
                  <a:tcPr marL="76200" marR="76200" marT="50800" marB="50800">
                    <a:solidFill>
                      <a:srgbClr val="1E293B"/>
                    </a:solidFill>
                  </a:tcPr>
                </a:tc>
                <a:extLst>
                  <a:ext uri="{0D108BD9-81ED-4DB2-BD59-A6C34878D82A}">
                    <a16:rowId xmlns:a16="http://schemas.microsoft.com/office/drawing/2014/main" val="10000"/>
                  </a:ext>
                </a:extLst>
              </a:tr>
              <a:tr h="1005840">
                <a:tc>
                  <a:txBody>
                    <a:bodyPr/>
                    <a:lstStyle/>
                    <a:p>
                      <a:pPr algn="l"/>
                      <a:r>
                        <a:rPr sz="1000">
                          <a:solidFill>
                            <a:srgbClr val="F1F5F9"/>
                          </a:solidFill>
                          <a:latin typeface="Verdana"/>
                        </a:rPr>
                        <a:t>Transient</a:t>
                      </a:r>
                    </a:p>
                  </a:txBody>
                  <a:tcPr marL="76200" marR="76200" marT="50800" marB="50800">
                    <a:solidFill>
                      <a:srgbClr val="0F172A"/>
                    </a:solidFill>
                  </a:tcPr>
                </a:tc>
                <a:tc>
                  <a:txBody>
                    <a:bodyPr/>
                    <a:lstStyle/>
                    <a:p>
                      <a:pPr algn="l"/>
                      <a:r>
                        <a:rPr sz="1000">
                          <a:solidFill>
                            <a:srgbClr val="F1F5F9"/>
                          </a:solidFill>
                          <a:latin typeface="Verdana"/>
                        </a:rPr>
                        <a:t>builder.Services.AddTransient()</a:t>
                      </a:r>
                    </a:p>
                  </a:txBody>
                  <a:tcPr marL="76200" marR="76200" marT="50800" marB="50800">
                    <a:solidFill>
                      <a:srgbClr val="0F172A"/>
                    </a:solidFill>
                  </a:tcPr>
                </a:tc>
                <a:tc>
                  <a:txBody>
                    <a:bodyPr/>
                    <a:lstStyle/>
                    <a:p>
                      <a:pPr algn="l"/>
                      <a:r>
                        <a:rPr sz="1000">
                          <a:solidFill>
                            <a:srgbClr val="F1F5F9"/>
                          </a:solidFill>
                          <a:latin typeface="Verdana"/>
                        </a:rPr>
                        <a:t>Mỗi lần được yêu cầu (Every time requested).</a:t>
                      </a:r>
                    </a:p>
                  </a:txBody>
                  <a:tcPr marL="76200" marR="76200" marT="50800" marB="50800">
                    <a:solidFill>
                      <a:srgbClr val="0F172A"/>
                    </a:solidFill>
                  </a:tcPr>
                </a:tc>
                <a:tc>
                  <a:txBody>
                    <a:bodyPr/>
                    <a:lstStyle/>
                    <a:p>
                      <a:pPr algn="l"/>
                      <a:r>
                        <a:rPr sz="1000">
                          <a:solidFill>
                            <a:srgbClr val="F1F5F9"/>
                          </a:solidFill>
                          <a:latin typeface="Verdana"/>
                        </a:rPr>
                        <a:t>Các service xử lý logic nghiệp vụ nhẹ, không lưu trữ trạng thái.</a:t>
                      </a:r>
                    </a:p>
                  </a:txBody>
                  <a:tcPr marL="76200" marR="76200" marT="50800" marB="50800">
                    <a:solidFill>
                      <a:srgbClr val="0F172A"/>
                    </a:solidFill>
                  </a:tcPr>
                </a:tc>
                <a:extLst>
                  <a:ext uri="{0D108BD9-81ED-4DB2-BD59-A6C34878D82A}">
                    <a16:rowId xmlns:a16="http://schemas.microsoft.com/office/drawing/2014/main" val="10001"/>
                  </a:ext>
                </a:extLst>
              </a:tr>
              <a:tr h="1005840">
                <a:tc>
                  <a:txBody>
                    <a:bodyPr/>
                    <a:lstStyle/>
                    <a:p>
                      <a:pPr algn="l"/>
                      <a:r>
                        <a:rPr sz="1000">
                          <a:solidFill>
                            <a:srgbClr val="F1F5F9"/>
                          </a:solidFill>
                          <a:latin typeface="Verdana"/>
                        </a:rPr>
                        <a:t>Scoped</a:t>
                      </a:r>
                    </a:p>
                  </a:txBody>
                  <a:tcPr marL="76200" marR="76200" marT="50800" marB="50800">
                    <a:solidFill>
                      <a:srgbClr val="141E2D"/>
                    </a:solidFill>
                  </a:tcPr>
                </a:tc>
                <a:tc>
                  <a:txBody>
                    <a:bodyPr/>
                    <a:lstStyle/>
                    <a:p>
                      <a:pPr algn="l"/>
                      <a:r>
                        <a:rPr sz="1000">
                          <a:solidFill>
                            <a:srgbClr val="F1F5F9"/>
                          </a:solidFill>
                          <a:latin typeface="Verdana"/>
                        </a:rPr>
                        <a:t>builder.Services.AddScoped()</a:t>
                      </a:r>
                    </a:p>
                  </a:txBody>
                  <a:tcPr marL="76200" marR="76200" marT="50800" marB="50800">
                    <a:solidFill>
                      <a:srgbClr val="141E2D"/>
                    </a:solidFill>
                  </a:tcPr>
                </a:tc>
                <a:tc>
                  <a:txBody>
                    <a:bodyPr/>
                    <a:lstStyle/>
                    <a:p>
                      <a:pPr algn="l"/>
                      <a:r>
                        <a:rPr sz="1000">
                          <a:solidFill>
                            <a:srgbClr val="F1F5F9"/>
                          </a:solidFill>
                          <a:latin typeface="Verdana"/>
                        </a:rPr>
                        <a:t>Khởi tạo duy nhất 1 lần cho mỗi HTTP Request.</a:t>
                      </a:r>
                    </a:p>
                  </a:txBody>
                  <a:tcPr marL="76200" marR="76200" marT="50800" marB="50800">
                    <a:solidFill>
                      <a:srgbClr val="141E2D"/>
                    </a:solidFill>
                  </a:tcPr>
                </a:tc>
                <a:tc>
                  <a:txBody>
                    <a:bodyPr/>
                    <a:lstStyle/>
                    <a:p>
                      <a:pPr algn="l"/>
                      <a:r>
                        <a:rPr sz="1000">
                          <a:solidFill>
                            <a:srgbClr val="F1F5F9"/>
                          </a:solidFill>
                          <a:latin typeface="Verdana"/>
                        </a:rPr>
                        <a:t>Lớp xử lý Database Context (DbContext), Repository kết nối CSDL.</a:t>
                      </a:r>
                    </a:p>
                  </a:txBody>
                  <a:tcPr marL="76200" marR="76200" marT="50800" marB="50800">
                    <a:solidFill>
                      <a:srgbClr val="141E2D"/>
                    </a:solidFill>
                  </a:tcPr>
                </a:tc>
                <a:extLst>
                  <a:ext uri="{0D108BD9-81ED-4DB2-BD59-A6C34878D82A}">
                    <a16:rowId xmlns:a16="http://schemas.microsoft.com/office/drawing/2014/main" val="10002"/>
                  </a:ext>
                </a:extLst>
              </a:tr>
              <a:tr h="1005840">
                <a:tc>
                  <a:txBody>
                    <a:bodyPr/>
                    <a:lstStyle/>
                    <a:p>
                      <a:pPr algn="l"/>
                      <a:r>
                        <a:rPr sz="1000">
                          <a:solidFill>
                            <a:srgbClr val="F1F5F9"/>
                          </a:solidFill>
                          <a:latin typeface="Verdana"/>
                        </a:rPr>
                        <a:t>Singleton</a:t>
                      </a:r>
                    </a:p>
                  </a:txBody>
                  <a:tcPr marL="76200" marR="76200" marT="50800" marB="50800">
                    <a:solidFill>
                      <a:srgbClr val="0F172A"/>
                    </a:solidFill>
                  </a:tcPr>
                </a:tc>
                <a:tc>
                  <a:txBody>
                    <a:bodyPr/>
                    <a:lstStyle/>
                    <a:p>
                      <a:pPr algn="l"/>
                      <a:r>
                        <a:rPr sz="1000">
                          <a:solidFill>
                            <a:srgbClr val="F1F5F9"/>
                          </a:solidFill>
                          <a:latin typeface="Verdana"/>
                        </a:rPr>
                        <a:t>builder.Services.AddSingleton()</a:t>
                      </a:r>
                    </a:p>
                  </a:txBody>
                  <a:tcPr marL="76200" marR="76200" marT="50800" marB="50800">
                    <a:solidFill>
                      <a:srgbClr val="0F172A"/>
                    </a:solidFill>
                  </a:tcPr>
                </a:tc>
                <a:tc>
                  <a:txBody>
                    <a:bodyPr/>
                    <a:lstStyle/>
                    <a:p>
                      <a:pPr algn="l"/>
                      <a:r>
                        <a:rPr sz="1000">
                          <a:solidFill>
                            <a:srgbClr val="F1F5F9"/>
                          </a:solidFill>
                          <a:latin typeface="Verdana"/>
                        </a:rPr>
                        <a:t>Khởi tạo duy nhất 1 lần cho toàn bộ vòng đời App.</a:t>
                      </a:r>
                    </a:p>
                  </a:txBody>
                  <a:tcPr marL="76200" marR="76200" marT="50800" marB="50800">
                    <a:solidFill>
                      <a:srgbClr val="0F172A"/>
                    </a:solidFill>
                  </a:tcPr>
                </a:tc>
                <a:tc>
                  <a:txBody>
                    <a:bodyPr/>
                    <a:lstStyle/>
                    <a:p>
                      <a:pPr algn="l"/>
                      <a:r>
                        <a:rPr sz="1000">
                          <a:solidFill>
                            <a:srgbClr val="F1F5F9"/>
                          </a:solidFill>
                          <a:latin typeface="Verdana"/>
                        </a:rPr>
                        <a:t>Các dịch vụ dùng chung: Caching In-Memory, cấu hình Settings, Logging.</a:t>
                      </a:r>
                    </a:p>
                  </a:txBody>
                  <a:tcPr marL="76200" marR="76200" marT="50800" marB="50800">
                    <a:solidFill>
                      <a:srgbClr val="0F172A"/>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13 / 88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1: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1: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Phân biệt sự khác nhau về mục đích sử dụng và tính chất Idempotent giữa 2 phương thức HTTP: PUT và PATCH.</a:t>
            </a:r>
          </a:p>
          <a:p>
            <a:pPr>
              <a:spcAft>
                <a:spcPts val="1000"/>
              </a:spcAft>
              <a:defRPr sz="1300">
                <a:solidFill>
                  <a:srgbClr val="F1F5F9"/>
                </a:solidFill>
                <a:latin typeface="Verdana"/>
              </a:defRPr>
            </a:pPr>
            <a:r>
              <a:t>• Hiện tượng 'Captive Dependency' là gì? Điều gì xảy ra nếu Inject một Scoped Service vào một Singleton Service?</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Sử dụng lệnh CLI 'dotnet new webapi -n Lesson1_Sample' để tạo một dự án ASP.NET Core Web API mới hoàn chỉnh.</a:t>
            </a:r>
          </a:p>
          <a:p>
            <a:pPr>
              <a:spcAft>
                <a:spcPts val="1000"/>
              </a:spcAft>
              <a:defRPr sz="1300">
                <a:solidFill>
                  <a:srgbClr val="F1F5F9"/>
                </a:solidFill>
                <a:latin typeface="Verdana"/>
              </a:defRPr>
            </a:pPr>
            <a:r>
              <a:t>✔ Viết một Custom Middleware kiểm tra Header 'X-Api-Key': Nếu có giá trị hợp lệ thì đi tiếp, ngược lại trả về ngay HTTP 401 Unauthorized.</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14 / 88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2</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XÂY DỰNG WEB API CƠ BẢN VÀ XỬ LÝ REQUEST</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Thiết lập endpoint sử dụng Controller vs Minimal APIs. Tìm hiểu kỹ thuật Routing, Binding dữ liệu, cấu hình JSON Serialization và tự động hóa Validation.</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15 / 88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ENDPOINTS</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So sánh mô hình Controller-based API và Minimal APIs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Mô hình Controller-based API (Truyền thống)</a:t>
            </a:r>
          </a:p>
          <a:p>
            <a:pPr>
              <a:spcAft>
                <a:spcPts val="800"/>
              </a:spcAft>
              <a:defRPr sz="1300">
                <a:solidFill>
                  <a:srgbClr val="F1F5F9"/>
                </a:solidFill>
                <a:latin typeface="Verdana"/>
              </a:defRPr>
            </a:pPr>
            <a:r>
              <a:t>• Tách biệt các nhóm endpoint theo chức năng vào từng lớp Controller kế thừa từ ControllerBase.</a:t>
            </a:r>
          </a:p>
          <a:p>
            <a:pPr>
              <a:spcAft>
                <a:spcPts val="800"/>
              </a:spcAft>
              <a:defRPr sz="1300">
                <a:solidFill>
                  <a:srgbClr val="F1F5F9"/>
                </a:solidFill>
                <a:latin typeface="Verdana"/>
              </a:defRPr>
            </a:pPr>
            <a:r>
              <a:t>• Sử dụng attribute [ApiController] để kích hoạt các hành vi thông minh (Validation tự động, bóc tách DTO).</a:t>
            </a:r>
          </a:p>
          <a:p>
            <a:pPr>
              <a:spcAft>
                <a:spcPts val="800"/>
              </a:spcAft>
              <a:defRPr sz="1300">
                <a:solidFill>
                  <a:srgbClr val="F1F5F9"/>
                </a:solidFill>
                <a:latin typeface="Verdana"/>
              </a:defRPr>
            </a:pPr>
            <a:r>
              <a:t>• Cấu trúc chặt chẽ, lý tưởng cho dự án quy mô vừa và lớn có nghiệp vụ phức tạp.</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Mô hình Minimal APIs (Mới từ .NET 6)</a:t>
            </a:r>
          </a:p>
          <a:p>
            <a:pPr>
              <a:spcAft>
                <a:spcPts val="800"/>
              </a:spcAft>
              <a:defRPr sz="1300">
                <a:solidFill>
                  <a:srgbClr val="F1F5F9"/>
                </a:solidFill>
                <a:latin typeface="Verdana"/>
              </a:defRPr>
            </a:pPr>
            <a:r>
              <a:t>• Khai báo trực tiếp Endpoint tại file Program.cs qua các hàm mở rộng App.MapGet, App.MapPost.</a:t>
            </a:r>
          </a:p>
          <a:p>
            <a:pPr>
              <a:spcAft>
                <a:spcPts val="800"/>
              </a:spcAft>
              <a:defRPr sz="1300">
                <a:solidFill>
                  <a:srgbClr val="F1F5F9"/>
                </a:solidFill>
                <a:latin typeface="Verdana"/>
              </a:defRPr>
            </a:pPr>
            <a:r>
              <a:t>• Mã nguồn mỏng nhẹ, hiệu năng cao hơn do bỏ bớt cơ chế xử lý reflection của Controller.</a:t>
            </a:r>
          </a:p>
          <a:p>
            <a:pPr>
              <a:spcAft>
                <a:spcPts val="800"/>
              </a:spcAft>
              <a:defRPr sz="1300">
                <a:solidFill>
                  <a:srgbClr val="F1F5F9"/>
                </a:solidFill>
                <a:latin typeface="Verdana"/>
              </a:defRPr>
            </a:pPr>
            <a:r>
              <a:t>• Thích hợp xây dựng ứng dụng nhỏ, Microservices hoặc Single-File APIs.</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16 / 88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ROUTING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Thiết lập định tuyến và Attribute Routing nâng cao</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Attribute Routing cho phép cấu hình URL ngay trên đầu Controller hoặc Action Method.</a:t>
            </a:r>
          </a:p>
          <a:p>
            <a:pPr>
              <a:spcAft>
                <a:spcPts val="800"/>
              </a:spcAft>
              <a:defRPr sz="1200">
                <a:solidFill>
                  <a:srgbClr val="F1F5F9"/>
                </a:solidFill>
                <a:latin typeface="Verdana"/>
              </a:defRPr>
            </a:pPr>
            <a:r>
              <a:t>• Sử dụng route constraint (ràng buộc route) ví dụ {id:int} để hạn chế kiểu dữ liệu đầu vào.</a:t>
            </a:r>
          </a:p>
          <a:p>
            <a:pPr>
              <a:spcAft>
                <a:spcPts val="800"/>
              </a:spcAft>
              <a:defRPr sz="1200">
                <a:solidFill>
                  <a:srgbClr val="F1F5F9"/>
                </a:solidFill>
                <a:latin typeface="Verdana"/>
              </a:defRPr>
            </a:pPr>
            <a:r>
              <a:t>• Token [controller] tự động lấy tên lớp Controller làm tiền tố đường dẫn.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[Route("api/v1/[controller]")]</a:t>
            </a:r>
          </a:p>
          <a:p>
            <a:pPr>
              <a:spcAft>
                <a:spcPts val="400"/>
              </a:spcAft>
              <a:defRPr sz="1100">
                <a:solidFill>
                  <a:srgbClr val="10B981"/>
                </a:solidFill>
                <a:latin typeface="Verdana"/>
              </a:defRPr>
            </a:pPr>
            <a:r>
              <a:t>✔ [HttpGet("{id:int}")]</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[ApiController]</a:t>
            </a:r>
            <a:br/>
            <a:r>
              <a:t>[Route("api/v1/[controller]")] // URL gốc: api/v1/categories</a:t>
            </a:r>
            <a:br/>
            <a:r>
              <a:t>public class CategoriesController : ControllerBase</a:t>
            </a:r>
            <a:br/>
            <a:r>
              <a:t>{</a:t>
            </a:r>
            <a:br/>
            <a:r>
              <a:t>    [HttpGet] // URL: GET api/v1/categories</a:t>
            </a:r>
            <a:br/>
            <a:r>
              <a:t>    public IActionResult GetCategories() =&gt; Ok();</a:t>
            </a:r>
            <a:br/>
            <a:br/>
            <a:r>
              <a:t>    [HttpGet("{id:int}")] // Constraint: id phải là số nguyên</a:t>
            </a:r>
            <a:br/>
            <a:r>
              <a:t>    public IActionResult GetById(int id) =&gt; Ok();</a:t>
            </a:r>
            <a:br/>
            <a:br/>
            <a:r>
              <a:t>    [HttpGet("{catId}/products/{prodId}")] // URL phân cấp phức tạp</a:t>
            </a:r>
            <a:br/>
            <a:r>
              <a:t>    public IActionResult GetProduct(int catId, int prodId) =&gt; Ok();</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17 / 88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DATA BINDING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Bóc tách dữ liệu Request bằng Data Binding Attributes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[FromRoute] &amp; [FromQuery]</a:t>
            </a:r>
          </a:p>
          <a:p>
            <a:pPr>
              <a:spcAft>
                <a:spcPts val="600"/>
              </a:spcAft>
              <a:defRPr sz="1300">
                <a:solidFill>
                  <a:srgbClr val="F1F5F9"/>
                </a:solidFill>
                <a:latin typeface="Verdana"/>
              </a:defRPr>
            </a:pPr>
            <a:r>
              <a:t>FromRoute lấy trực tiếp từ tham số URL. FromQuery bóc tách tham số từ chuỗi truy vấn (ví dụ: products?page=1&amp;pageSize=10).</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[FromBody] &amp; [FromHeader]</a:t>
            </a:r>
          </a:p>
          <a:p>
            <a:pPr>
              <a:spcAft>
                <a:spcPts val="600"/>
              </a:spcAft>
              <a:defRPr sz="1300">
                <a:solidFill>
                  <a:srgbClr val="F1F5F9"/>
                </a:solidFill>
                <a:latin typeface="Verdana"/>
              </a:defRPr>
            </a:pPr>
            <a:r>
              <a:t>FromBody phân tích dữ liệu JSON gửi ở phần thân HTTP Request để map vào đối tượng C# DTO. FromHeader đọc thuộc tính từ HTTP Header.</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Ứng dụng kết hợp</a:t>
            </a:r>
          </a:p>
          <a:p>
            <a:pPr>
              <a:spcAft>
                <a:spcPts val="600"/>
              </a:spcAft>
              <a:defRPr sz="1200">
                <a:solidFill>
                  <a:srgbClr val="F1F5F9"/>
                </a:solidFill>
                <a:latin typeface="Verdana"/>
              </a:defRPr>
            </a:pPr>
            <a:r>
              <a:t>• [HttpPost('{storeId:int}/products')]</a:t>
            </a:r>
          </a:p>
          <a:p>
            <a:pPr>
              <a:spcAft>
                <a:spcPts val="600"/>
              </a:spcAft>
              <a:defRPr sz="1200">
                <a:solidFill>
                  <a:srgbClr val="F1F5F9"/>
                </a:solidFill>
                <a:latin typeface="Verdana"/>
              </a:defRPr>
            </a:pPr>
            <a:r>
              <a:t>• CreateProduct([FromRoute] int storeId, [FromBody] ProductDto dto, [FromHeader(Name = 'X-Device-Id')] string deviceId)</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18 / 88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SERIALIZATION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Cấu hình JSON Serialization với System.Text.Json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thư viện hiệu năng cao System.Text.Json làm mặc định từ .NET Core.</a:t>
            </a:r>
          </a:p>
          <a:p>
            <a:pPr>
              <a:spcAft>
                <a:spcPts val="800"/>
              </a:spcAft>
              <a:defRPr sz="1200">
                <a:solidFill>
                  <a:srgbClr val="F1F5F9"/>
                </a:solidFill>
                <a:latin typeface="Verdana"/>
              </a:defRPr>
            </a:pPr>
            <a:r>
              <a:t>• Cấu hình linh động qua AddJsonOptions trong Program.cs.</a:t>
            </a:r>
          </a:p>
          <a:p>
            <a:pPr>
              <a:spcAft>
                <a:spcPts val="800"/>
              </a:spcAft>
              <a:defRPr sz="1200">
                <a:solidFill>
                  <a:srgbClr val="F1F5F9"/>
                </a:solidFill>
                <a:latin typeface="Verdana"/>
              </a:defRPr>
            </a:pPr>
            <a:r>
              <a:t>• Hỗ trợ bỏ qua trường null, chuyển đổi định dạng camelCase / PascalCase và đọc chuỗi số an toàn.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AddJsonOptions</a:t>
            </a:r>
          </a:p>
          <a:p>
            <a:pPr>
              <a:spcAft>
                <a:spcPts val="400"/>
              </a:spcAft>
              <a:defRPr sz="1100">
                <a:solidFill>
                  <a:srgbClr val="10B981"/>
                </a:solidFill>
                <a:latin typeface="Verdana"/>
              </a:defRPr>
            </a:pPr>
            <a:r>
              <a:t>✔ PropertyNamingPolicy</a:t>
            </a:r>
          </a:p>
          <a:p>
            <a:pPr>
              <a:spcAft>
                <a:spcPts val="400"/>
              </a:spcAft>
              <a:defRPr sz="1100">
                <a:solidFill>
                  <a:srgbClr val="10B981"/>
                </a:solidFill>
                <a:latin typeface="Verdana"/>
              </a:defRPr>
            </a:pPr>
            <a:r>
              <a:t>✔ DefaultIgnoreCondition</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builder.Services.AddControllers()</a:t>
            </a:r>
            <a:br/>
            <a:r>
              <a:t>    .AddJsonOptions(options =&gt;</a:t>
            </a:r>
            <a:br/>
            <a:r>
              <a:t>    {</a:t>
            </a:r>
            <a:br/>
            <a:r>
              <a:t>        // 1. Giữ nguyên định dạng PascalCase giống thuộc tính C#</a:t>
            </a:r>
            <a:br/>
            <a:r>
              <a:t>        options.JsonSerializerOptions.PropertyNamingPolicy = null;</a:t>
            </a:r>
            <a:br/>
            <a:r>
              <a:t>        </a:t>
            </a:r>
            <a:br/>
            <a:r>
              <a:t>        // 2. Bỏ qua các thuộc tính mang giá trị null trong JSON trả về</a:t>
            </a:r>
            <a:br/>
            <a:r>
              <a:t>        options.JsonSerializerOptions.DefaultIgnoreCondition = </a:t>
            </a:r>
            <a:br/>
            <a:r>
              <a:t>            System.Text.Json.Serialization.JsonIgnoreCondition.WhenWritingNull;</a:t>
            </a:r>
            <a:br/>
            <a:r>
              <a:t>            </a:t>
            </a:r>
            <a:br/>
            <a:r>
              <a:t>        // 3. Tự động đọc đổi từ chuỗi "123" sang số nguyên 123 an toàn</a:t>
            </a:r>
            <a:br/>
            <a:r>
              <a:t>        options.JsonSerializerOptions.NumberHandling = </a:t>
            </a:r>
            <a:br/>
            <a:r>
              <a:t>            System.Text.Json.Serialization.JsonNumberHandling.AllowReadingFromString;</a:t>
            </a:r>
            <a:br/>
            <a:r>
              <a:t>    });</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19 / 88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DATA VALIDATION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Kiểm soát dữ liệu đầu vào bằng Data Annotations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Đặt các thẻ ràng buộc trực tiếp trên thuộc tính của Data Transfer Object (DTO).</a:t>
            </a:r>
          </a:p>
          <a:p>
            <a:pPr>
              <a:spcAft>
                <a:spcPts val="800"/>
              </a:spcAft>
              <a:defRPr sz="1200">
                <a:solidFill>
                  <a:srgbClr val="F1F5F9"/>
                </a:solidFill>
                <a:latin typeface="Verdana"/>
              </a:defRPr>
            </a:pPr>
            <a:r>
              <a:t>• Sử dụng thuộc tính kiểm tra cơ bản: [Required], [StringLength], [Range], [EmailAddress].</a:t>
            </a:r>
          </a:p>
          <a:p>
            <a:pPr>
              <a:spcAft>
                <a:spcPts val="800"/>
              </a:spcAft>
              <a:defRPr sz="1200">
                <a:solidFill>
                  <a:srgbClr val="F1F5F9"/>
                </a:solidFill>
                <a:latin typeface="Verdana"/>
              </a:defRPr>
            </a:pPr>
            <a:r>
              <a:t>• Mã lỗi và thông báo lỗi tùy chọn được cấu hình trực quan.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[Required]</a:t>
            </a:r>
          </a:p>
          <a:p>
            <a:pPr>
              <a:spcAft>
                <a:spcPts val="400"/>
              </a:spcAft>
              <a:defRPr sz="1100">
                <a:solidFill>
                  <a:srgbClr val="10B981"/>
                </a:solidFill>
                <a:latin typeface="Verdana"/>
              </a:defRPr>
            </a:pPr>
            <a:r>
              <a:t>✔ [StringLength]</a:t>
            </a:r>
          </a:p>
          <a:p>
            <a:pPr>
              <a:spcAft>
                <a:spcPts val="400"/>
              </a:spcAft>
              <a:defRPr sz="1100">
                <a:solidFill>
                  <a:srgbClr val="10B981"/>
                </a:solidFill>
                <a:latin typeface="Verdana"/>
              </a:defRPr>
            </a:pPr>
            <a:r>
              <a:t>✔ [Range]</a:t>
            </a:r>
          </a:p>
          <a:p>
            <a:pPr>
              <a:spcAft>
                <a:spcPts val="400"/>
              </a:spcAft>
              <a:defRPr sz="1100">
                <a:solidFill>
                  <a:srgbClr val="10B981"/>
                </a:solidFill>
                <a:latin typeface="Verdana"/>
              </a:defRPr>
            </a:pPr>
            <a:r>
              <a:t>✔ [EmailAddress]</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System.ComponentModel.DataAnnotations;</a:t>
            </a:r>
            <a:br/>
            <a:br/>
            <a:r>
              <a:t>public class CreateProductDto</a:t>
            </a:r>
            <a:br/>
            <a:r>
              <a:t>{</a:t>
            </a:r>
            <a:br/>
            <a:r>
              <a:t>    [Required(ErrorMessage = "Tên sản phẩm không được để trống")]</a:t>
            </a:r>
            <a:br/>
            <a:r>
              <a:t>    [StringLength(100, MinimumLength = 3, </a:t>
            </a:r>
            <a:br/>
            <a:r>
              <a:t>        ErrorMessage = "Tên sản phẩm phải từ 3 đến 100 ký tự")]</a:t>
            </a:r>
            <a:br/>
            <a:r>
              <a:t>    public string Name { get; set; } = string.Empty;</a:t>
            </a:r>
            <a:br/>
            <a:br/>
            <a:r>
              <a:t>    [Range(0.01, 100000.00, ErrorMessage = "Giá phải từ 0.01 đến 100,000")]</a:t>
            </a:r>
            <a:br/>
            <a:r>
              <a:t>    public decimal Price { get; set; }</a:t>
            </a:r>
            <a:br/>
            <a:br/>
            <a:r>
              <a:t>    [EmailAddress(ErrorMessage = "Email người tạo không hợp lệ")]</a:t>
            </a:r>
            <a:br/>
            <a:r>
              <a:t>    public string ContactEmail { get; set; } = string.Empty;</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20 / 88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DATA VALIDATION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Validation nâng cao tách biệt với FluentValidation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FluentValidation tách biệt hoàn toàn code kiểm tra dữ liệu ra khỏi lớp dữ liệu DTO.</a:t>
            </a:r>
          </a:p>
          <a:p>
            <a:pPr>
              <a:spcAft>
                <a:spcPts val="800"/>
              </a:spcAft>
              <a:defRPr sz="1200">
                <a:solidFill>
                  <a:srgbClr val="F1F5F9"/>
                </a:solidFill>
                <a:latin typeface="Verdana"/>
              </a:defRPr>
            </a:pPr>
            <a:r>
              <a:t>• Cú pháp mượt mà, dễ đọc, hỗ trợ lập trình luật điều kiện phức tạp.</a:t>
            </a:r>
          </a:p>
          <a:p>
            <a:pPr>
              <a:spcAft>
                <a:spcPts val="800"/>
              </a:spcAft>
              <a:defRPr sz="1200">
                <a:solidFill>
                  <a:srgbClr val="F1F5F9"/>
                </a:solidFill>
                <a:latin typeface="Verdana"/>
              </a:defRPr>
            </a:pPr>
            <a:r>
              <a:t>• Đăng ký tự động quét toàn bộ Validator qua Assembly chứa.</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AbstractValidator&lt;T&gt;</a:t>
            </a:r>
          </a:p>
          <a:p>
            <a:pPr>
              <a:spcAft>
                <a:spcPts val="400"/>
              </a:spcAft>
              <a:defRPr sz="1100">
                <a:solidFill>
                  <a:srgbClr val="10B981"/>
                </a:solidFill>
                <a:latin typeface="Verdana"/>
              </a:defRPr>
            </a:pPr>
            <a:r>
              <a:t>✔ RuleFor</a:t>
            </a:r>
          </a:p>
          <a:p>
            <a:pPr>
              <a:spcAft>
                <a:spcPts val="400"/>
              </a:spcAft>
              <a:defRPr sz="1100">
                <a:solidFill>
                  <a:srgbClr val="10B981"/>
                </a:solidFill>
                <a:latin typeface="Verdana"/>
              </a:defRPr>
            </a:pPr>
            <a:r>
              <a:t>✔ When</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FluentValidation;</a:t>
            </a:r>
            <a:br/>
            <a:br/>
            <a:r>
              <a:t>public class CreateProductDtoValidator : AbstractValidator&lt;CreateProductDto&gt;</a:t>
            </a:r>
            <a:br/>
            <a:r>
              <a:t>{</a:t>
            </a:r>
            <a:br/>
            <a:r>
              <a:t>    public CreateProductDtoValidator()</a:t>
            </a:r>
            <a:br/>
            <a:r>
              <a:t>    {</a:t>
            </a:r>
            <a:br/>
            <a:r>
              <a:t>        RuleFor(x =&gt; x.Name)</a:t>
            </a:r>
            <a:br/>
            <a:r>
              <a:t>            .NotEmpty().WithMessage("Tên sản phẩm bắt buộc phải có.")</a:t>
            </a:r>
            <a:br/>
            <a:r>
              <a:t>            .Length(3, 100).WithMessage("Độ dài tên từ 3-100 ký tự.");</a:t>
            </a:r>
            <a:br/>
            <a:br/>
            <a:r>
              <a:t>        RuleFor(x =&gt; x.Price)</a:t>
            </a:r>
            <a:br/>
            <a:r>
              <a:t>            .GreaterThan(0).WithMessage("Giá phải lớn hơn 0.");</a:t>
            </a:r>
            <a:br/>
            <a:br/>
            <a:r>
              <a:t>        // Kiểm tra điều kiện phụ thuộc logic</a:t>
            </a:r>
            <a:br/>
            <a:r>
              <a:t>        When(x =&gt; x.Price &gt; 1000, () =&gt; {</a:t>
            </a:r>
            <a:br/>
            <a:r>
              <a:t>            RuleFor(x =&gt; x.ContactEmail)</a:t>
            </a:r>
            <a:br/>
            <a:r>
              <a:t>                .NotEmpty().WithMessage("Sản phẩm đắt tiền cần Email.");</a:t>
            </a:r>
            <a:br/>
            <a:r>
              <a:t>        });</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21 / 88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API DOCUMENTATION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Cấu hình tài liệu tự động Swagger / OpenAPI nâng cao</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Cấu hình SwaggerGen</a:t>
            </a:r>
          </a:p>
          <a:p>
            <a:pPr>
              <a:spcAft>
                <a:spcPts val="600"/>
              </a:spcAft>
              <a:defRPr sz="1300">
                <a:solidFill>
                  <a:srgbClr val="F1F5F9"/>
                </a:solidFill>
                <a:latin typeface="Verdana"/>
              </a:defRPr>
            </a:pPr>
            <a:r>
              <a:t>Đăng ký dịch vụ trong Program.cs và thiết lập các thông số cơ bản về phiên bản API, tên bộ phận chịu trách nhiệm kỹ thuật và email phản hồi.</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XML Documentation</a:t>
            </a:r>
          </a:p>
          <a:p>
            <a:pPr>
              <a:spcAft>
                <a:spcPts val="600"/>
              </a:spcAft>
              <a:defRPr sz="1300">
                <a:solidFill>
                  <a:srgbClr val="F1F5F9"/>
                </a:solidFill>
                <a:latin typeface="Verdana"/>
              </a:defRPr>
            </a:pPr>
            <a:r>
              <a:t>Kích hoạt trong file .csproj để trích xuất XML comments thành mô tả chi tiết cho từng API Endpoint trên giao diện trực quan Swagger UI.</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Khai báo Response Code</a:t>
            </a:r>
          </a:p>
          <a:p>
            <a:pPr>
              <a:spcAft>
                <a:spcPts val="600"/>
              </a:spcAft>
              <a:defRPr sz="1300">
                <a:solidFill>
                  <a:srgbClr val="F1F5F9"/>
                </a:solidFill>
                <a:latin typeface="Verdana"/>
              </a:defRPr>
            </a:pPr>
            <a:r>
              <a:t>Sử dụng attribute [ProducesResponseType] trên Controller Action để minh họa đầy đủ cấu trúc dữ liệu trả về cho mã 200, 400, 404.</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22 / 88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API TESTING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Kiểm thử thủ công và tự động hóa với Postman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Postman Collections</a:t>
            </a:r>
          </a:p>
          <a:p>
            <a:pPr>
              <a:spcAft>
                <a:spcPts val="600"/>
              </a:spcAft>
              <a:defRPr sz="1300">
                <a:solidFill>
                  <a:srgbClr val="F1F5F9"/>
                </a:solidFill>
                <a:latin typeface="Verdana"/>
              </a:defRPr>
            </a:pPr>
            <a:r>
              <a:t>Gom nhóm toàn bộ danh sách API theo module nghiệp vụ (Products, Orders, Customers) phục vụ việc chạy kiểm thử đồng loạt.</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Environments (Môi trường)</a:t>
            </a:r>
          </a:p>
          <a:p>
            <a:pPr>
              <a:spcAft>
                <a:spcPts val="600"/>
              </a:spcAft>
              <a:defRPr sz="1300">
                <a:solidFill>
                  <a:srgbClr val="F1F5F9"/>
                </a:solidFill>
                <a:latin typeface="Verdana"/>
              </a:defRPr>
            </a:pPr>
            <a:r>
              <a:t>Tạo các biến môi trường như {{baseUrl}} giúp chuyển đổi nhanh chóng địa chỉ API giữa localhost (Dev) và domain thực tế (Production).</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Viết Test Script tự động</a:t>
            </a:r>
          </a:p>
          <a:p>
            <a:pPr>
              <a:spcAft>
                <a:spcPts val="600"/>
              </a:spcAft>
              <a:defRPr sz="1300">
                <a:solidFill>
                  <a:srgbClr val="F1F5F9"/>
                </a:solidFill>
                <a:latin typeface="Verdana"/>
              </a:defRPr>
            </a:pPr>
            <a:r>
              <a:t>Viết mã Javascript kiểm chứng mã trạng thái trả về (pm.response.to.have.status(200)) và cấu trúc thuộc tính của dữ liệu JSON phản hồi.</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23 / 88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2: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2: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Khi nào nên sử dụng [FromQuery] và khi nào bắt buộc dùng [FromBody]?</a:t>
            </a:r>
          </a:p>
          <a:p>
            <a:pPr>
              <a:spcAft>
                <a:spcPts val="1000"/>
              </a:spcAft>
              <a:defRPr sz="1300">
                <a:solidFill>
                  <a:srgbClr val="F1F5F9"/>
                </a:solidFill>
                <a:latin typeface="Verdana"/>
              </a:defRPr>
            </a:pPr>
            <a:r>
              <a:t>• Ưu điểm lớn nhất của FluentValidation so với Data Annotations truyền thống là gì?</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Tạo một Controller tên StudentsController thực hiện CRUD sinh viên hỗ trợ phân trang dữ liệu qua page, pageSize.</a:t>
            </a:r>
          </a:p>
          <a:p>
            <a:pPr>
              <a:spcAft>
                <a:spcPts val="1000"/>
              </a:spcAft>
              <a:defRPr sz="1300">
                <a:solidFill>
                  <a:srgbClr val="F1F5F9"/>
                </a:solidFill>
                <a:latin typeface="Verdana"/>
              </a:defRPr>
            </a:pPr>
            <a:r>
              <a:t>✔ Thiết kế CreateStudentDto ràng buộc chặt chẽ: Mã SV đúng 8 ký tự, tuổi từ 18-60 bằng FluentValidation và kiểm thử trên Swagger UI.</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24 / 88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3</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THAO TÁC CƠ SỞ DỮ LIỆU VỚI ADO.NET VÀ DAPPER</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Tìm hiểu các cơ chế truy cập CSDL trong .NET. Làm việc với ADO.NET thuần, Micro-ORM Dapper, kiểm soát SqlTransaction và thiết lập Repository Pattern.</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25 / 88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DATA ACCESS</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Tổng quan và So sánh các công cụ truy cập CSDL</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Đối chiếu các tiêu chí kỹ thuật cốt lõi giữa ADO.NET thuần, Micro-ORM Dapper và Entity Framework Core để lựa chọn phương án triển khai phù hợp.</a:t>
            </a:r>
          </a:p>
        </p:txBody>
      </p:sp>
      <p:graphicFrame>
        <p:nvGraphicFramePr>
          <p:cNvPr id="6" name="Table 5"/>
          <p:cNvGraphicFramePr>
            <a:graphicFrameLocks noGrp="1"/>
          </p:cNvGraphicFramePr>
          <p:nvPr/>
        </p:nvGraphicFramePr>
        <p:xfrm>
          <a:off x="685800" y="2011680"/>
          <a:ext cx="10361980" cy="4023360"/>
        </p:xfrm>
        <a:graphic>
          <a:graphicData uri="http://schemas.openxmlformats.org/drawingml/2006/table">
            <a:tbl>
              <a:tblPr firstRow="1" bandRow="1">
                <a:tableStyleId>{5C22544A-7EE6-4342-B048-85BDC9FD1C3A}</a:tableStyleId>
              </a:tblPr>
              <a:tblGrid>
                <a:gridCol w="2133295">
                  <a:extLst>
                    <a:ext uri="{9D8B030D-6E8A-4147-A177-3AD203B41FA5}">
                      <a16:colId xmlns:a16="http://schemas.microsoft.com/office/drawing/2014/main" val="20000"/>
                    </a:ext>
                  </a:extLst>
                </a:gridCol>
                <a:gridCol w="2133295">
                  <a:extLst>
                    <a:ext uri="{9D8B030D-6E8A-4147-A177-3AD203B41FA5}">
                      <a16:colId xmlns:a16="http://schemas.microsoft.com/office/drawing/2014/main" val="20001"/>
                    </a:ext>
                  </a:extLst>
                </a:gridCol>
                <a:gridCol w="289499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670560">
                <a:tc>
                  <a:txBody>
                    <a:bodyPr/>
                    <a:lstStyle/>
                    <a:p>
                      <a:pPr algn="l"/>
                      <a:r>
                        <a:rPr sz="1100" b="1">
                          <a:solidFill>
                            <a:srgbClr val="38BDF8"/>
                          </a:solidFill>
                          <a:latin typeface="Verdana"/>
                        </a:rPr>
                        <a:t>Tiêu chí so sánh</a:t>
                      </a:r>
                    </a:p>
                  </a:txBody>
                  <a:tcPr marL="76200" marR="76200" marT="50800" marB="50800">
                    <a:solidFill>
                      <a:srgbClr val="1E293B"/>
                    </a:solidFill>
                  </a:tcPr>
                </a:tc>
                <a:tc>
                  <a:txBody>
                    <a:bodyPr/>
                    <a:lstStyle/>
                    <a:p>
                      <a:pPr algn="l"/>
                      <a:r>
                        <a:rPr sz="1100" b="1">
                          <a:solidFill>
                            <a:srgbClr val="38BDF8"/>
                          </a:solidFill>
                          <a:latin typeface="Verdana"/>
                        </a:rPr>
                        <a:t>ADO.NET Thuần</a:t>
                      </a:r>
                    </a:p>
                  </a:txBody>
                  <a:tcPr marL="76200" marR="76200" marT="50800" marB="50800">
                    <a:solidFill>
                      <a:srgbClr val="1E293B"/>
                    </a:solidFill>
                  </a:tcPr>
                </a:tc>
                <a:tc>
                  <a:txBody>
                    <a:bodyPr/>
                    <a:lstStyle/>
                    <a:p>
                      <a:pPr algn="l"/>
                      <a:r>
                        <a:rPr sz="1100" b="1">
                          <a:solidFill>
                            <a:srgbClr val="38BDF8"/>
                          </a:solidFill>
                          <a:latin typeface="Verdana"/>
                        </a:rPr>
                        <a:t>Dapper (Micro-ORM)</a:t>
                      </a:r>
                    </a:p>
                  </a:txBody>
                  <a:tcPr marL="76200" marR="76200" marT="50800" marB="50800">
                    <a:solidFill>
                      <a:srgbClr val="1E293B"/>
                    </a:solidFill>
                  </a:tcPr>
                </a:tc>
                <a:tc>
                  <a:txBody>
                    <a:bodyPr/>
                    <a:lstStyle/>
                    <a:p>
                      <a:pPr algn="l"/>
                      <a:r>
                        <a:rPr sz="1100" b="1">
                          <a:solidFill>
                            <a:srgbClr val="38BDF8"/>
                          </a:solidFill>
                          <a:latin typeface="Verdana"/>
                        </a:rPr>
                        <a:t>Entity Framework Core (Full ORM)</a:t>
                      </a:r>
                    </a:p>
                  </a:txBody>
                  <a:tcPr marL="76200" marR="76200" marT="50800" marB="50800">
                    <a:solidFill>
                      <a:srgbClr val="1E293B"/>
                    </a:solidFill>
                  </a:tcPr>
                </a:tc>
                <a:extLst>
                  <a:ext uri="{0D108BD9-81ED-4DB2-BD59-A6C34878D82A}">
                    <a16:rowId xmlns:a16="http://schemas.microsoft.com/office/drawing/2014/main" val="10000"/>
                  </a:ext>
                </a:extLst>
              </a:tr>
              <a:tr h="670560">
                <a:tc>
                  <a:txBody>
                    <a:bodyPr/>
                    <a:lstStyle/>
                    <a:p>
                      <a:pPr algn="l"/>
                      <a:r>
                        <a:rPr sz="1000">
                          <a:solidFill>
                            <a:srgbClr val="F1F5F9"/>
                          </a:solidFill>
                          <a:latin typeface="Verdana"/>
                        </a:rPr>
                        <a:t>Tốc độ thực thi</a:t>
                      </a:r>
                    </a:p>
                  </a:txBody>
                  <a:tcPr marL="76200" marR="76200" marT="50800" marB="50800">
                    <a:solidFill>
                      <a:srgbClr val="0F172A"/>
                    </a:solidFill>
                  </a:tcPr>
                </a:tc>
                <a:tc>
                  <a:txBody>
                    <a:bodyPr/>
                    <a:lstStyle/>
                    <a:p>
                      <a:pPr algn="l"/>
                      <a:r>
                        <a:rPr sz="1000">
                          <a:solidFill>
                            <a:srgbClr val="F1F5F9"/>
                          </a:solidFill>
                          <a:latin typeface="Verdana"/>
                        </a:rPr>
                        <a:t>Nhanh nhất (Tối ưu tuyệt đối)</a:t>
                      </a:r>
                    </a:p>
                  </a:txBody>
                  <a:tcPr marL="76200" marR="76200" marT="50800" marB="50800">
                    <a:solidFill>
                      <a:srgbClr val="0F172A"/>
                    </a:solidFill>
                  </a:tcPr>
                </a:tc>
                <a:tc>
                  <a:txBody>
                    <a:bodyPr/>
                    <a:lstStyle/>
                    <a:p>
                      <a:pPr algn="l"/>
                      <a:r>
                        <a:rPr sz="1000">
                          <a:solidFill>
                            <a:srgbClr val="F1F5F9"/>
                          </a:solidFill>
                          <a:latin typeface="Verdana"/>
                        </a:rPr>
                        <a:t>Rất nhanh (~99% ADO.NET thuần)</a:t>
                      </a:r>
                    </a:p>
                  </a:txBody>
                  <a:tcPr marL="76200" marR="76200" marT="50800" marB="50800">
                    <a:solidFill>
                      <a:srgbClr val="0F172A"/>
                    </a:solidFill>
                  </a:tcPr>
                </a:tc>
                <a:tc>
                  <a:txBody>
                    <a:bodyPr/>
                    <a:lstStyle/>
                    <a:p>
                      <a:pPr algn="l"/>
                      <a:r>
                        <a:rPr sz="1000">
                          <a:solidFill>
                            <a:srgbClr val="F1F5F9"/>
                          </a:solidFill>
                          <a:latin typeface="Verdana"/>
                        </a:rPr>
                        <a:t>Chậm hơn (Phải dịch truy vấn LINQ sang SQL)</a:t>
                      </a:r>
                    </a:p>
                  </a:txBody>
                  <a:tcPr marL="76200" marR="76200" marT="50800" marB="50800">
                    <a:solidFill>
                      <a:srgbClr val="0F172A"/>
                    </a:solidFill>
                  </a:tcPr>
                </a:tc>
                <a:extLst>
                  <a:ext uri="{0D108BD9-81ED-4DB2-BD59-A6C34878D82A}">
                    <a16:rowId xmlns:a16="http://schemas.microsoft.com/office/drawing/2014/main" val="10001"/>
                  </a:ext>
                </a:extLst>
              </a:tr>
              <a:tr h="670560">
                <a:tc>
                  <a:txBody>
                    <a:bodyPr/>
                    <a:lstStyle/>
                    <a:p>
                      <a:pPr algn="l"/>
                      <a:r>
                        <a:rPr sz="1000">
                          <a:solidFill>
                            <a:srgbClr val="F1F5F9"/>
                          </a:solidFill>
                          <a:latin typeface="Verdana"/>
                        </a:rPr>
                        <a:t>Công sức viết code</a:t>
                      </a:r>
                    </a:p>
                  </a:txBody>
                  <a:tcPr marL="76200" marR="76200" marT="50800" marB="50800">
                    <a:solidFill>
                      <a:srgbClr val="141E2D"/>
                    </a:solidFill>
                  </a:tcPr>
                </a:tc>
                <a:tc>
                  <a:txBody>
                    <a:bodyPr/>
                    <a:lstStyle/>
                    <a:p>
                      <a:pPr algn="l"/>
                      <a:r>
                        <a:rPr sz="1000">
                          <a:solidFill>
                            <a:srgbClr val="F1F5F9"/>
                          </a:solidFill>
                          <a:latin typeface="Verdana"/>
                        </a:rPr>
                        <a:t>Nhiều code rác / Boilerplate</a:t>
                      </a:r>
                    </a:p>
                  </a:txBody>
                  <a:tcPr marL="76200" marR="76200" marT="50800" marB="50800">
                    <a:solidFill>
                      <a:srgbClr val="141E2D"/>
                    </a:solidFill>
                  </a:tcPr>
                </a:tc>
                <a:tc>
                  <a:txBody>
                    <a:bodyPr/>
                    <a:lstStyle/>
                    <a:p>
                      <a:pPr algn="l"/>
                      <a:r>
                        <a:rPr sz="1000">
                          <a:solidFill>
                            <a:srgbClr val="F1F5F9"/>
                          </a:solidFill>
                          <a:latin typeface="Verdana"/>
                        </a:rPr>
                        <a:t>Rất ít code, tự động ánh xạ đối tượng</a:t>
                      </a:r>
                    </a:p>
                  </a:txBody>
                  <a:tcPr marL="76200" marR="76200" marT="50800" marB="50800">
                    <a:solidFill>
                      <a:srgbClr val="141E2D"/>
                    </a:solidFill>
                  </a:tcPr>
                </a:tc>
                <a:tc>
                  <a:txBody>
                    <a:bodyPr/>
                    <a:lstStyle/>
                    <a:p>
                      <a:pPr algn="l"/>
                      <a:r>
                        <a:rPr sz="1000">
                          <a:solidFill>
                            <a:srgbClr val="F1F5F9"/>
                          </a:solidFill>
                          <a:latin typeface="Verdana"/>
                        </a:rPr>
                        <a:t>Ít nhất (Tự sinh query, quản lý Migration)</a:t>
                      </a:r>
                    </a:p>
                  </a:txBody>
                  <a:tcPr marL="76200" marR="76200" marT="50800" marB="50800">
                    <a:solidFill>
                      <a:srgbClr val="141E2D"/>
                    </a:solidFill>
                  </a:tcPr>
                </a:tc>
                <a:extLst>
                  <a:ext uri="{0D108BD9-81ED-4DB2-BD59-A6C34878D82A}">
                    <a16:rowId xmlns:a16="http://schemas.microsoft.com/office/drawing/2014/main" val="10002"/>
                  </a:ext>
                </a:extLst>
              </a:tr>
              <a:tr h="670560">
                <a:tc>
                  <a:txBody>
                    <a:bodyPr/>
                    <a:lstStyle/>
                    <a:p>
                      <a:pPr algn="l"/>
                      <a:r>
                        <a:rPr sz="1000">
                          <a:solidFill>
                            <a:srgbClr val="F1F5F9"/>
                          </a:solidFill>
                          <a:latin typeface="Verdana"/>
                        </a:rPr>
                        <a:t>Mức độ kiểm soát SQL</a:t>
                      </a:r>
                    </a:p>
                  </a:txBody>
                  <a:tcPr marL="76200" marR="76200" marT="50800" marB="50800">
                    <a:solidFill>
                      <a:srgbClr val="0F172A"/>
                    </a:solidFill>
                  </a:tcPr>
                </a:tc>
                <a:tc>
                  <a:txBody>
                    <a:bodyPr/>
                    <a:lstStyle/>
                    <a:p>
                      <a:pPr algn="l"/>
                      <a:r>
                        <a:rPr sz="1000">
                          <a:solidFill>
                            <a:srgbClr val="F1F5F9"/>
                          </a:solidFill>
                          <a:latin typeface="Verdana"/>
                        </a:rPr>
                        <a:t>100% kiểm soát câu lệnh thô</a:t>
                      </a:r>
                    </a:p>
                  </a:txBody>
                  <a:tcPr marL="76200" marR="76200" marT="50800" marB="50800">
                    <a:solidFill>
                      <a:srgbClr val="0F172A"/>
                    </a:solidFill>
                  </a:tcPr>
                </a:tc>
                <a:tc>
                  <a:txBody>
                    <a:bodyPr/>
                    <a:lstStyle/>
                    <a:p>
                      <a:pPr algn="l"/>
                      <a:r>
                        <a:rPr sz="1000">
                          <a:solidFill>
                            <a:srgbClr val="F1F5F9"/>
                          </a:solidFill>
                          <a:latin typeface="Verdana"/>
                        </a:rPr>
                        <a:t>100% kiểm soát câu lệnh thô</a:t>
                      </a:r>
                    </a:p>
                  </a:txBody>
                  <a:tcPr marL="76200" marR="76200" marT="50800" marB="50800">
                    <a:solidFill>
                      <a:srgbClr val="0F172A"/>
                    </a:solidFill>
                  </a:tcPr>
                </a:tc>
                <a:tc>
                  <a:txBody>
                    <a:bodyPr/>
                    <a:lstStyle/>
                    <a:p>
                      <a:pPr algn="l"/>
                      <a:r>
                        <a:rPr sz="1000">
                          <a:solidFill>
                            <a:srgbClr val="F1F5F9"/>
                          </a:solidFill>
                          <a:latin typeface="Verdana"/>
                        </a:rPr>
                        <a:t>Phụ thuộc nhiều vào SQL Generator của ORM</a:t>
                      </a:r>
                    </a:p>
                  </a:txBody>
                  <a:tcPr marL="76200" marR="76200" marT="50800" marB="50800">
                    <a:solidFill>
                      <a:srgbClr val="0F172A"/>
                    </a:solidFill>
                  </a:tcPr>
                </a:tc>
                <a:extLst>
                  <a:ext uri="{0D108BD9-81ED-4DB2-BD59-A6C34878D82A}">
                    <a16:rowId xmlns:a16="http://schemas.microsoft.com/office/drawing/2014/main" val="10003"/>
                  </a:ext>
                </a:extLst>
              </a:tr>
              <a:tr h="670560">
                <a:tc>
                  <a:txBody>
                    <a:bodyPr/>
                    <a:lstStyle/>
                    <a:p>
                      <a:pPr algn="l"/>
                      <a:r>
                        <a:rPr sz="1000">
                          <a:solidFill>
                            <a:srgbClr val="F1F5F9"/>
                          </a:solidFill>
                          <a:latin typeface="Verdana"/>
                        </a:rPr>
                        <a:t>Cách ánh xạ (Mapping)</a:t>
                      </a:r>
                    </a:p>
                  </a:txBody>
                  <a:tcPr marL="76200" marR="76200" marT="50800" marB="50800">
                    <a:solidFill>
                      <a:srgbClr val="141E2D"/>
                    </a:solidFill>
                  </a:tcPr>
                </a:tc>
                <a:tc>
                  <a:txBody>
                    <a:bodyPr/>
                    <a:lstStyle/>
                    <a:p>
                      <a:pPr algn="l"/>
                      <a:r>
                        <a:rPr sz="1000">
                          <a:solidFill>
                            <a:srgbClr val="F1F5F9"/>
                          </a:solidFill>
                          <a:latin typeface="Verdana"/>
                        </a:rPr>
                        <a:t>Gán thủ công từng thuộc tính</a:t>
                      </a:r>
                    </a:p>
                  </a:txBody>
                  <a:tcPr marL="76200" marR="76200" marT="50800" marB="50800">
                    <a:solidFill>
                      <a:srgbClr val="141E2D"/>
                    </a:solidFill>
                  </a:tcPr>
                </a:tc>
                <a:tc>
                  <a:txBody>
                    <a:bodyPr/>
                    <a:lstStyle/>
                    <a:p>
                      <a:pPr algn="l"/>
                      <a:r>
                        <a:rPr sz="1000">
                          <a:solidFill>
                            <a:srgbClr val="F1F5F9"/>
                          </a:solidFill>
                          <a:latin typeface="Verdana"/>
                        </a:rPr>
                        <a:t>Ánh xạ tự động dựa trên tên cột</a:t>
                      </a:r>
                    </a:p>
                  </a:txBody>
                  <a:tcPr marL="76200" marR="76200" marT="50800" marB="50800">
                    <a:solidFill>
                      <a:srgbClr val="141E2D"/>
                    </a:solidFill>
                  </a:tcPr>
                </a:tc>
                <a:tc>
                  <a:txBody>
                    <a:bodyPr/>
                    <a:lstStyle/>
                    <a:p>
                      <a:pPr algn="l"/>
                      <a:r>
                        <a:rPr sz="1000">
                          <a:solidFill>
                            <a:srgbClr val="F1F5F9"/>
                          </a:solidFill>
                          <a:latin typeface="Verdana"/>
                        </a:rPr>
                        <a:t>Theo dõi trạng thái đối tượng tự động (Change Tracking)</a:t>
                      </a:r>
                    </a:p>
                  </a:txBody>
                  <a:tcPr marL="76200" marR="76200" marT="50800" marB="50800">
                    <a:solidFill>
                      <a:srgbClr val="141E2D"/>
                    </a:solidFill>
                  </a:tcPr>
                </a:tc>
                <a:extLst>
                  <a:ext uri="{0D108BD9-81ED-4DB2-BD59-A6C34878D82A}">
                    <a16:rowId xmlns:a16="http://schemas.microsoft.com/office/drawing/2014/main" val="10004"/>
                  </a:ext>
                </a:extLst>
              </a:tr>
              <a:tr h="670560">
                <a:tc>
                  <a:txBody>
                    <a:bodyPr/>
                    <a:lstStyle/>
                    <a:p>
                      <a:pPr algn="l"/>
                      <a:r>
                        <a:rPr sz="1000">
                          <a:solidFill>
                            <a:srgbClr val="F1F5F9"/>
                          </a:solidFill>
                          <a:latin typeface="Verdana"/>
                        </a:rPr>
                        <a:t>Khuyên dùng cho</a:t>
                      </a:r>
                    </a:p>
                  </a:txBody>
                  <a:tcPr marL="76200" marR="76200" marT="50800" marB="50800">
                    <a:solidFill>
                      <a:srgbClr val="0F172A"/>
                    </a:solidFill>
                  </a:tcPr>
                </a:tc>
                <a:tc>
                  <a:txBody>
                    <a:bodyPr/>
                    <a:lstStyle/>
                    <a:p>
                      <a:pPr algn="l"/>
                      <a:r>
                        <a:rPr sz="1000">
                          <a:solidFill>
                            <a:srgbClr val="F1F5F9"/>
                          </a:solidFill>
                          <a:latin typeface="Verdana"/>
                        </a:rPr>
                        <a:t>Hệ thống cốt lõi truy vấn siêu nặng</a:t>
                      </a:r>
                    </a:p>
                  </a:txBody>
                  <a:tcPr marL="76200" marR="76200" marT="50800" marB="50800">
                    <a:solidFill>
                      <a:srgbClr val="0F172A"/>
                    </a:solidFill>
                  </a:tcPr>
                </a:tc>
                <a:tc>
                  <a:txBody>
                    <a:bodyPr/>
                    <a:lstStyle/>
                    <a:p>
                      <a:pPr algn="l"/>
                      <a:r>
                        <a:rPr sz="1000">
                          <a:solidFill>
                            <a:srgbClr val="F1F5F9"/>
                          </a:solidFill>
                          <a:latin typeface="Verdana"/>
                        </a:rPr>
                        <a:t>High-performance API, cần SQL tối ưu</a:t>
                      </a:r>
                    </a:p>
                  </a:txBody>
                  <a:tcPr marL="76200" marR="76200" marT="50800" marB="50800">
                    <a:solidFill>
                      <a:srgbClr val="0F172A"/>
                    </a:solidFill>
                  </a:tcPr>
                </a:tc>
                <a:tc>
                  <a:txBody>
                    <a:bodyPr/>
                    <a:lstStyle/>
                    <a:p>
                      <a:pPr algn="l"/>
                      <a:r>
                        <a:rPr sz="1000">
                          <a:solidFill>
                            <a:srgbClr val="F1F5F9"/>
                          </a:solidFill>
                          <a:latin typeface="Verdana"/>
                        </a:rPr>
                        <a:t>Ứng dụng CRUD nghiệp vụ phức tạp, cần phát triển nhanh</a:t>
                      </a:r>
                    </a:p>
                  </a:txBody>
                  <a:tcPr marL="76200" marR="76200" marT="50800" marB="50800">
                    <a:solidFill>
                      <a:srgbClr val="0F17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26 / 88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CONNECTION MANAGEMENT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Quản lý kết nối SqlConnection &amp; Connection Pooling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ConnectionString</a:t>
            </a:r>
          </a:p>
          <a:p>
            <a:pPr>
              <a:spcAft>
                <a:spcPts val="600"/>
              </a:spcAft>
              <a:defRPr sz="1300">
                <a:solidFill>
                  <a:srgbClr val="F1F5F9"/>
                </a:solidFill>
                <a:latin typeface="Verdana"/>
              </a:defRPr>
            </a:pPr>
            <a:r>
              <a:t>Chuỗi kết nối khai báo tập trung trong appsettings.json lưu thông tin máy chủ Server, tên Cơ sở dữ liệu và tài khoản xác thực bảo mật.</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Connection Pooling</a:t>
            </a:r>
          </a:p>
          <a:p>
            <a:pPr>
              <a:spcAft>
                <a:spcPts val="600"/>
              </a:spcAft>
              <a:defRPr sz="1300">
                <a:solidFill>
                  <a:srgbClr val="F1F5F9"/>
                </a:solidFill>
                <a:latin typeface="Verdana"/>
              </a:defRPr>
            </a:pPr>
            <a:r>
              <a:t>Hệ thống tự động duy trì một bể kết nối mở sẵn. connection.Open() thực tế mượn kết nối từ Pool, giúp giảm 90% chi phí bắt tay kết nối mới.</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Giải phóng Tài nguyên</a:t>
            </a:r>
          </a:p>
          <a:p>
            <a:pPr>
              <a:spcAft>
                <a:spcPts val="600"/>
              </a:spcAft>
              <a:defRPr sz="1300">
                <a:solidFill>
                  <a:srgbClr val="F1F5F9"/>
                </a:solidFill>
                <a:latin typeface="Verdana"/>
              </a:defRPr>
            </a:pPr>
            <a:r>
              <a:t>Bắt buộc phải đóng kết nối ngay sau khi dùng xong để hoàn trả về Pool. Sử dụng cấu trúc block using/await using để tự động Dispose.</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27 / 88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ADO.NET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Đọc dữ liệu tối ưu RAM bằng SqlDataReader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SqlDataReader đọc dữ liệu theo cơ chế Stream một chiều (Forward-only, Read-only).</a:t>
            </a:r>
          </a:p>
          <a:p>
            <a:pPr>
              <a:spcAft>
                <a:spcPts val="800"/>
              </a:spcAft>
              <a:defRPr sz="1200">
                <a:solidFill>
                  <a:srgbClr val="F1F5F9"/>
                </a:solidFill>
                <a:latin typeface="Verdana"/>
              </a:defRPr>
            </a:pPr>
            <a:r>
              <a:t>• Giảm tải bộ nhớ RAM tối đa vì không nạp toàn bộ danh sách lên bộ nhớ ứng dụng.</a:t>
            </a:r>
          </a:p>
          <a:p>
            <a:pPr>
              <a:spcAft>
                <a:spcPts val="800"/>
              </a:spcAft>
              <a:defRPr sz="1200">
                <a:solidFill>
                  <a:srgbClr val="F1F5F9"/>
                </a:solidFill>
                <a:latin typeface="Verdana"/>
              </a:defRPr>
            </a:pPr>
            <a:r>
              <a:t>• Lệnh ExecuteReaderAsync hỗ trợ chạy bất đồng bộ hoàn toàn.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await using var conn</a:t>
            </a:r>
          </a:p>
          <a:p>
            <a:pPr>
              <a:spcAft>
                <a:spcPts val="400"/>
              </a:spcAft>
              <a:defRPr sz="1100">
                <a:solidFill>
                  <a:srgbClr val="10B981"/>
                </a:solidFill>
                <a:latin typeface="Verdana"/>
              </a:defRPr>
            </a:pPr>
            <a:r>
              <a:t>✔ ExecuteReaderAsync()</a:t>
            </a:r>
          </a:p>
          <a:p>
            <a:pPr>
              <a:spcAft>
                <a:spcPts val="400"/>
              </a:spcAft>
              <a:defRPr sz="1100">
                <a:solidFill>
                  <a:srgbClr val="10B981"/>
                </a:solidFill>
                <a:latin typeface="Verdana"/>
              </a:defRPr>
            </a:pPr>
            <a:r>
              <a:t>✔ reader.GetOrdinal()</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Microsoft.Data.SqlClient;</a:t>
            </a:r>
            <a:br/>
            <a:br/>
            <a:r>
              <a:t>public async Task&lt;List&lt;Product&gt;&gt; GetAllProductsAsync(string connString)</a:t>
            </a:r>
            <a:br/>
            <a:r>
              <a:t>{</a:t>
            </a:r>
            <a:br/>
            <a:r>
              <a:t>    var products = new List&lt;Product&gt;();</a:t>
            </a:r>
            <a:br/>
            <a:r>
              <a:t>    await using var conn = new SqlConnection(connString);</a:t>
            </a:r>
            <a:br/>
            <a:r>
              <a:t>    await conn.OpenAsync();</a:t>
            </a:r>
            <a:br/>
            <a:br/>
            <a:r>
              <a:t>    string sql = "SELECT Id, Name, Price FROM Products WHERE IsActive = 1";</a:t>
            </a:r>
            <a:br/>
            <a:r>
              <a:t>    await using var cmd = new SqlCommand(sql, conn);</a:t>
            </a:r>
            <a:br/>
            <a:r>
              <a:t>    await using var reader = await cmd.ExecuteReaderAsync();</a:t>
            </a:r>
            <a:br/>
            <a:br/>
            <a:r>
              <a:t>    while (await reader.ReadAsync())</a:t>
            </a:r>
            <a:br/>
            <a:r>
              <a:t>    {</a:t>
            </a:r>
            <a:br/>
            <a:r>
              <a:t>        products.Add(new Product {</a:t>
            </a:r>
            <a:br/>
            <a:r>
              <a:t>            Id = reader.GetInt32(reader.GetOrdinal("Id")),</a:t>
            </a:r>
            <a:br/>
            <a:r>
              <a:t>            Name = reader.GetString(reader.GetOrdinal("Name")),</a:t>
            </a:r>
            <a:br/>
            <a:r>
              <a:t>            Price = reader.GetDecimal(reader.GetOrdinal("Price"))</a:t>
            </a:r>
            <a:br/>
            <a:r>
              <a:t>        });</a:t>
            </a:r>
            <a:br/>
            <a:r>
              <a:t>    }</a:t>
            </a:r>
            <a:br/>
            <a:r>
              <a:t>    return products;</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28 / 88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DAPPER</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Dapper - Micro-ORM tối ưu hóa năng suất lập trình</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Dapper là gì?</a:t>
            </a:r>
          </a:p>
          <a:p>
            <a:pPr>
              <a:spcAft>
                <a:spcPts val="800"/>
              </a:spcAft>
              <a:defRPr sz="1300">
                <a:solidFill>
                  <a:srgbClr val="F1F5F9"/>
                </a:solidFill>
                <a:latin typeface="Verdana"/>
              </a:defRPr>
            </a:pPr>
            <a:r>
              <a:t>• Dapper là thư viện NuGet nhẹ (Micro-ORM) do đội ngũ kỹ sư Stack Overflow phát triển.</a:t>
            </a:r>
          </a:p>
          <a:p>
            <a:pPr>
              <a:spcAft>
                <a:spcPts val="800"/>
              </a:spcAft>
              <a:defRPr sz="1300">
                <a:solidFill>
                  <a:srgbClr val="F1F5F9"/>
                </a:solidFill>
                <a:latin typeface="Verdana"/>
              </a:defRPr>
            </a:pPr>
            <a:r>
              <a:t>• Đóng vai trò là phương thức mở rộng (Extension Methods) trực tiếp cho IDbConnection.</a:t>
            </a:r>
          </a:p>
          <a:p>
            <a:pPr>
              <a:spcAft>
                <a:spcPts val="800"/>
              </a:spcAft>
              <a:defRPr sz="1300">
                <a:solidFill>
                  <a:srgbClr val="F1F5F9"/>
                </a:solidFill>
                <a:latin typeface="Verdana"/>
              </a:defRPr>
            </a:pPr>
            <a:r>
              <a:t>• Loại bỏ hoàn toàn hàng chục dòng code gán cột thủ công của ADO.NET thuần bằng cơ chế Auto-Mapping.</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Cơ chế Auto-Mapping</a:t>
            </a:r>
          </a:p>
          <a:p>
            <a:pPr>
              <a:spcAft>
                <a:spcPts val="800"/>
              </a:spcAft>
              <a:defRPr sz="1300">
                <a:solidFill>
                  <a:srgbClr val="F1F5F9"/>
                </a:solidFill>
                <a:latin typeface="Verdana"/>
              </a:defRPr>
            </a:pPr>
            <a:r>
              <a:t>• Dapper tự động ánh xạ các cột kết quả SQL trùng tên với thuộc tính của đối tượng C#.</a:t>
            </a:r>
          </a:p>
          <a:p>
            <a:pPr>
              <a:spcAft>
                <a:spcPts val="800"/>
              </a:spcAft>
              <a:defRPr sz="1300">
                <a:solidFill>
                  <a:srgbClr val="F1F5F9"/>
                </a:solidFill>
                <a:latin typeface="Verdana"/>
              </a:defRPr>
            </a:pPr>
            <a:r>
              <a:t>• Hỗ trợ gán dữ liệu đa bảng, gọi Stored Procedure mượt mà.</a:t>
            </a:r>
          </a:p>
          <a:p>
            <a:pPr>
              <a:spcAft>
                <a:spcPts val="800"/>
              </a:spcAft>
              <a:defRPr sz="1300">
                <a:solidFill>
                  <a:srgbClr val="F1F5F9"/>
                </a:solidFill>
                <a:latin typeface="Verdana"/>
              </a:defRPr>
            </a:pPr>
            <a:r>
              <a:t>• Duy trì tốc độ thực thi đỉnh cao tương đương ~99% ADO.NET thuần.</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29 / 88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DAPPER</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thi Query &amp; Command cơ bản với Dapper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Connection.QueryAsync&lt;T&gt; để đọc danh sách đối tượng tự động ánh xạ.</a:t>
            </a:r>
          </a:p>
          <a:p>
            <a:pPr>
              <a:spcAft>
                <a:spcPts val="800"/>
              </a:spcAft>
              <a:defRPr sz="1200">
                <a:solidFill>
                  <a:srgbClr val="F1F5F9"/>
                </a:solidFill>
                <a:latin typeface="Verdana"/>
              </a:defRPr>
            </a:pPr>
            <a:r>
              <a:t>• QueryFirstOrDefaultAsync&lt;T&gt; đọc bản ghi đơn lẻ an toàn.</a:t>
            </a:r>
          </a:p>
          <a:p>
            <a:pPr>
              <a:spcAft>
                <a:spcPts val="800"/>
              </a:spcAft>
              <a:defRPr sz="1200">
                <a:solidFill>
                  <a:srgbClr val="F1F5F9"/>
                </a:solidFill>
                <a:latin typeface="Verdana"/>
              </a:defRPr>
            </a:pPr>
            <a:r>
              <a:t>• ExecuteScalarAsync&lt;T&gt; thực thi chèn bản ghi mới và trả về khóa ID tự tăng vừa tạo.</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connection.QueryAsync&lt;T&gt;</a:t>
            </a:r>
          </a:p>
          <a:p>
            <a:pPr>
              <a:spcAft>
                <a:spcPts val="400"/>
              </a:spcAft>
              <a:defRPr sz="1100">
                <a:solidFill>
                  <a:srgbClr val="10B981"/>
                </a:solidFill>
                <a:latin typeface="Verdana"/>
              </a:defRPr>
            </a:pPr>
            <a:r>
              <a:t>✔ QueryFirstOrDefaultAsync&lt;T&gt;</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Dapper;</a:t>
            </a:r>
            <a:br/>
            <a:r>
              <a:t>using Microsoft.Data.SqlClient;</a:t>
            </a:r>
            <a:br/>
            <a:br/>
            <a:r>
              <a:t>public class DapperProductRepository</a:t>
            </a:r>
            <a:br/>
            <a:r>
              <a:t>{</a:t>
            </a:r>
            <a:br/>
            <a:r>
              <a:t>    private readonly string _connStr;</a:t>
            </a:r>
            <a:br/>
            <a:r>
              <a:t>    public DapperProductRepository(string connStr) =&gt; _connStr = connStr;</a:t>
            </a:r>
            <a:br/>
            <a:br/>
            <a:r>
              <a:t>    // 1. Query danh sách tự động ánh xạ sang Model C#</a:t>
            </a:r>
            <a:br/>
            <a:r>
              <a:t>    public async Task&lt;IEnumerable&lt;Product&gt;&gt; GetAllAsync()</a:t>
            </a:r>
            <a:br/>
            <a:r>
              <a:t>    {</a:t>
            </a:r>
            <a:br/>
            <a:r>
              <a:t>        using var conn = new SqlConnection(_connStr);</a:t>
            </a:r>
            <a:br/>
            <a:r>
              <a:t>        return await conn.QueryAsync&lt;Product&gt;("SELECT * FROM Products");</a:t>
            </a:r>
            <a:br/>
            <a:r>
              <a:t>    }</a:t>
            </a:r>
            <a:br/>
            <a:br/>
            <a:r>
              <a:t>    // 2. Query chi tiết có truyền tham số bảo mật</a:t>
            </a:r>
            <a:br/>
            <a:r>
              <a:t>    public async Task&lt;Product?&gt; GetByIdAsync(int id)</a:t>
            </a:r>
            <a:br/>
            <a:r>
              <a:t>    {</a:t>
            </a:r>
            <a:br/>
            <a:r>
              <a:t>        using var conn = new SqlConnection(_connStr);</a:t>
            </a:r>
            <a:br/>
            <a:r>
              <a:t>        string sql = "SELECT * FROM Products WHERE Id = @Id";</a:t>
            </a:r>
            <a:br/>
            <a:r>
              <a:t>        return await conn.QueryFirstOrDefaultAsync&lt;Product&gt;(sql, new { Id = id });</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30 / 88</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SECURITY</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Khải thác và Phòng chống lỗi SQL Injection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Hiểm họa SQL Injection</a:t>
            </a:r>
          </a:p>
          <a:p>
            <a:pPr>
              <a:spcAft>
                <a:spcPts val="800"/>
              </a:spcAft>
              <a:defRPr sz="1300">
                <a:solidFill>
                  <a:srgbClr val="F1F5F9"/>
                </a:solidFill>
                <a:latin typeface="Verdana"/>
              </a:defRPr>
            </a:pPr>
            <a:r>
              <a:t>• Lỗ hổng xảy ra khi lập trình viên ghép chuỗi thô trực tiếp từ biến đầu vào của người dùng.</a:t>
            </a:r>
          </a:p>
          <a:p>
            <a:pPr>
              <a:spcAft>
                <a:spcPts val="800"/>
              </a:spcAft>
              <a:defRPr sz="1300">
                <a:solidFill>
                  <a:srgbClr val="F1F5F9"/>
                </a:solidFill>
                <a:latin typeface="Verdana"/>
              </a:defRPr>
            </a:pPr>
            <a:r>
              <a:t>• Ví dụ cực nguy hiểm: string sql = "SELECT * FROM Users WHERE Username = '" + input + "'".</a:t>
            </a:r>
          </a:p>
          <a:p>
            <a:pPr>
              <a:spcAft>
                <a:spcPts val="800"/>
              </a:spcAft>
              <a:defRPr sz="1300">
                <a:solidFill>
                  <a:srgbClr val="F1F5F9"/>
                </a:solidFill>
                <a:latin typeface="Verdana"/>
              </a:defRPr>
            </a:pPr>
            <a:r>
              <a:t>• Kẻ tấn công nhập chuỗi đặc biệt ' OR '1'='1 phá vỡ cấu trúc lệnh SQL để chiếm đoạt tài khoản.</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Giải pháp Parameterized Queries</a:t>
            </a:r>
          </a:p>
          <a:p>
            <a:pPr>
              <a:spcAft>
                <a:spcPts val="800"/>
              </a:spcAft>
              <a:defRPr sz="1300">
                <a:solidFill>
                  <a:srgbClr val="F1F5F9"/>
                </a:solidFill>
                <a:latin typeface="Verdana"/>
              </a:defRPr>
            </a:pPr>
            <a:r>
              <a:t>• Sử dụng driver SQL xử lý biến đầu vào tách biệt với câu lệnh biên dịch sẵn.</a:t>
            </a:r>
          </a:p>
          <a:p>
            <a:pPr>
              <a:spcAft>
                <a:spcPts val="800"/>
              </a:spcAft>
              <a:defRPr sz="1300">
                <a:solidFill>
                  <a:srgbClr val="F1F5F9"/>
                </a:solidFill>
                <a:latin typeface="Verdana"/>
              </a:defRPr>
            </a:pPr>
            <a:r>
              <a:t>• Mọi tham số được khai báo qua ký tự đại diện @ParamName.</a:t>
            </a:r>
          </a:p>
          <a:p>
            <a:pPr>
              <a:spcAft>
                <a:spcPts val="800"/>
              </a:spcAft>
              <a:defRPr sz="1300">
                <a:solidFill>
                  <a:srgbClr val="F1F5F9"/>
                </a:solidFill>
                <a:latin typeface="Verdana"/>
              </a:defRPr>
            </a:pPr>
            <a:r>
              <a:t>• Dapper mặc định áp dụng Parameterized Queries khi truyền Anonymous Object: new { Username = input }.</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31 / 88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TRANSACTIONS</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Quản lý giao dịch SqlTransaction trong Dapper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Bảo toàn tính nguyên tố ACID (Tất cả thành công HOẶC không thao tác nào lưu).</a:t>
            </a:r>
          </a:p>
          <a:p>
            <a:pPr>
              <a:spcAft>
                <a:spcPts val="800"/>
              </a:spcAft>
              <a:defRPr sz="1200">
                <a:solidFill>
                  <a:srgbClr val="F1F5F9"/>
                </a:solidFill>
                <a:latin typeface="Verdana"/>
              </a:defRPr>
            </a:pPr>
            <a:r>
              <a:t>• Khởi tạo Transaction qua connection.BeginTransaction().</a:t>
            </a:r>
          </a:p>
          <a:p>
            <a:pPr>
              <a:spcAft>
                <a:spcPts val="800"/>
              </a:spcAft>
              <a:defRPr sz="1200">
                <a:solidFill>
                  <a:srgbClr val="F1F5F9"/>
                </a:solidFill>
                <a:latin typeface="Verdana"/>
              </a:defRPr>
            </a:pPr>
            <a:r>
              <a:t>• Phải truyền tham số transaction vào tất cả câu lệnh Dapper con. Gọi Commit() để hoàn tất hoặc Rollback() khi lỗi.</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conn.BeginTransaction()</a:t>
            </a:r>
          </a:p>
          <a:p>
            <a:pPr>
              <a:spcAft>
                <a:spcPts val="400"/>
              </a:spcAft>
              <a:defRPr sz="1100">
                <a:solidFill>
                  <a:srgbClr val="10B981"/>
                </a:solidFill>
                <a:latin typeface="Verdana"/>
              </a:defRPr>
            </a:pPr>
            <a:r>
              <a:t>✔ trans.CommitAsync()</a:t>
            </a:r>
          </a:p>
          <a:p>
            <a:pPr>
              <a:spcAft>
                <a:spcPts val="400"/>
              </a:spcAft>
              <a:defRPr sz="1100">
                <a:solidFill>
                  <a:srgbClr val="10B981"/>
                </a:solidFill>
                <a:latin typeface="Verdana"/>
              </a:defRPr>
            </a:pPr>
            <a:r>
              <a:t>✔ trans.RollbackAsync()</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async Task&lt;bool&gt; CreateOrderAsync(Order order, List&lt;OrderDetail&gt; details)</a:t>
            </a:r>
            <a:br/>
            <a:r>
              <a:t>{</a:t>
            </a:r>
            <a:br/>
            <a:r>
              <a:t>    using var conn = new SqlConnection(_connectionString);</a:t>
            </a:r>
            <a:br/>
            <a:r>
              <a:t>    await conn.OpenAsync();</a:t>
            </a:r>
            <a:br/>
            <a:r>
              <a:t>    using var trans = conn.BeginTransaction();</a:t>
            </a:r>
            <a:br/>
            <a:r>
              <a:t>    try {</a:t>
            </a:r>
            <a:br/>
            <a:r>
              <a:t>        // 1. Insert Order nhận ID tự tăng</a:t>
            </a:r>
            <a:br/>
            <a:r>
              <a:t>        string orderSql = @"INSERT INTO Orders (CustId, Total) VALUES (@CustId, @Total);</a:t>
            </a:r>
            <a:br/>
            <a:r>
              <a:t>                            SELECT CAST(SCOPE_IDENTITY() as int);";</a:t>
            </a:r>
            <a:br/>
            <a:r>
              <a:t>        int orderId = await conn.ExecuteScalarAsync&lt;int&gt;(orderSql, order, trans);</a:t>
            </a:r>
            <a:br/>
            <a:br/>
            <a:r>
              <a:t>        // 2. Insert các dòng chi tiết đơn hàng</a:t>
            </a:r>
            <a:br/>
            <a:r>
              <a:t>        string detailSql = "INSERT INTO Details (OrderId, ProdId) VALUES (@OrderId, @ProdId)";</a:t>
            </a:r>
            <a:br/>
            <a:r>
              <a:t>        foreach (var detail in details) {</a:t>
            </a:r>
            <a:br/>
            <a:r>
              <a:t>            detail.OrderId = orderId;</a:t>
            </a:r>
            <a:br/>
            <a:r>
              <a:t>            await conn.ExecuteAsync(detailSql, detail, trans);</a:t>
            </a:r>
            <a:br/>
            <a:r>
              <a:t>        }</a:t>
            </a:r>
            <a:br/>
            <a:r>
              <a:t>        await trans.CommitAsync(); // Commit thành công toàn cục</a:t>
            </a:r>
            <a:br/>
            <a:r>
              <a:t>        return true;</a:t>
            </a:r>
            <a:br/>
            <a:r>
              <a:t>    } catch {</a:t>
            </a:r>
            <a:br/>
            <a:r>
              <a:t>        await trans.RollbackAsync(); // Hủy bỏ toàn bộ giao dịch khi lỗi</a:t>
            </a:r>
            <a:br/>
            <a:r>
              <a:t>        throw;</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32 / 88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ARCHITECTURE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Kiến trúc Repository Pattern trong truy cập dữ liệu</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Repository Pattern là gì?</a:t>
            </a:r>
          </a:p>
          <a:p>
            <a:pPr>
              <a:spcAft>
                <a:spcPts val="800"/>
              </a:spcAft>
              <a:defRPr sz="1300">
                <a:solidFill>
                  <a:srgbClr val="F1F5F9"/>
                </a:solidFill>
                <a:latin typeface="Verdana"/>
              </a:defRPr>
            </a:pPr>
            <a:r>
              <a:t>• Là lớp trừu tượng trung gian nằm giữa tầng xử lý Business Logic và tầng lưu trữ dữ liệu thực tế.</a:t>
            </a:r>
          </a:p>
          <a:p>
            <a:pPr>
              <a:spcAft>
                <a:spcPts val="800"/>
              </a:spcAft>
              <a:defRPr sz="1300">
                <a:solidFill>
                  <a:srgbClr val="F1F5F9"/>
                </a:solidFill>
                <a:latin typeface="Verdana"/>
              </a:defRPr>
            </a:pPr>
            <a:r>
              <a:t>• Cung cấp một tập hợp các phương thức CRUD giả lập một danh sách đối tượng trong bộ nhớ (In-Memory Collection).</a:t>
            </a:r>
          </a:p>
          <a:p>
            <a:pPr>
              <a:spcAft>
                <a:spcPts val="800"/>
              </a:spcAft>
              <a:defRPr sz="1300">
                <a:solidFill>
                  <a:srgbClr val="F1F5F9"/>
                </a:solidFill>
                <a:latin typeface="Verdana"/>
              </a:defRPr>
            </a:pPr>
            <a:r>
              <a:t>• Tách biệt hoàn toàn mã nguồn SQL khỏi Controller.</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Lợi ích kiến trúc mang lại</a:t>
            </a:r>
          </a:p>
          <a:p>
            <a:pPr>
              <a:spcAft>
                <a:spcPts val="800"/>
              </a:spcAft>
              <a:defRPr sz="1300">
                <a:solidFill>
                  <a:srgbClr val="F1F5F9"/>
                </a:solidFill>
                <a:latin typeface="Verdana"/>
              </a:defRPr>
            </a:pPr>
            <a:r>
              <a:t>• Dễ dàng kiểm thử đơn vị (Unit Test) bằng cách giả lập (Mock) Interface Repository mà không cần kết nối SQL thật.</a:t>
            </a:r>
          </a:p>
          <a:p>
            <a:pPr>
              <a:spcAft>
                <a:spcPts val="800"/>
              </a:spcAft>
              <a:defRPr sz="1300">
                <a:solidFill>
                  <a:srgbClr val="F1F5F9"/>
                </a:solidFill>
                <a:latin typeface="Verdana"/>
              </a:defRPr>
            </a:pPr>
            <a:r>
              <a:t>• Linh động thay đổi công nghệ Database hoặc thư viện truy xuất dữ liệu mà không ảnh hưởng tới Controller.</a:t>
            </a:r>
          </a:p>
          <a:p>
            <a:pPr>
              <a:spcAft>
                <a:spcPts val="800"/>
              </a:spcAft>
              <a:defRPr sz="1300">
                <a:solidFill>
                  <a:srgbClr val="F1F5F9"/>
                </a:solidFill>
                <a:latin typeface="Verdana"/>
              </a:defRPr>
            </a:pPr>
            <a:r>
              <a:t>• Giảm thiểu trùng lặp mã nguồn viết SQL trong toàn bộ hệ thống.</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33 / 88</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ARCHITECTURE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hành thiết lập Repository với Dapper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Bước 1: Định nghĩa giao ước IProductRepository chứa các khai báo nghiệp vụ.</a:t>
            </a:r>
          </a:p>
          <a:p>
            <a:pPr>
              <a:spcAft>
                <a:spcPts val="800"/>
              </a:spcAft>
              <a:defRPr sz="1200">
                <a:solidFill>
                  <a:srgbClr val="F1F5F9"/>
                </a:solidFill>
                <a:latin typeface="Verdana"/>
              </a:defRPr>
            </a:pPr>
            <a:r>
              <a:t>• Bước 2: Triển khai cụ thể lớp ProductRepository bọc mã SQL/Dapper.</a:t>
            </a:r>
          </a:p>
          <a:p>
            <a:pPr>
              <a:spcAft>
                <a:spcPts val="800"/>
              </a:spcAft>
              <a:defRPr sz="1200">
                <a:solidFill>
                  <a:srgbClr val="F1F5F9"/>
                </a:solidFill>
                <a:latin typeface="Verdana"/>
              </a:defRPr>
            </a:pPr>
            <a:r>
              <a:t>• Thực hiện giải phóng SqlConnection tự động.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interface IProductRepository</a:t>
            </a:r>
          </a:p>
          <a:p>
            <a:pPr>
              <a:spcAft>
                <a:spcPts val="400"/>
              </a:spcAft>
              <a:defRPr sz="1100">
                <a:solidFill>
                  <a:srgbClr val="10B981"/>
                </a:solidFill>
                <a:latin typeface="Verdana"/>
              </a:defRPr>
            </a:pPr>
            <a:r>
              <a:t>✔ class ProductRepository : IProductRepository</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interface IProductRepository {</a:t>
            </a:r>
            <a:br/>
            <a:r>
              <a:t>    Task&lt;IEnumerable&lt;Product&gt;&gt; GetAllAsync();</a:t>
            </a:r>
            <a:br/>
            <a:r>
              <a:t>    Task&lt;Product?&gt; GetByIdAsync(int id);</a:t>
            </a:r>
            <a:br/>
            <a:r>
              <a:t>    Task&lt;int&gt; CreateAsync(Product product);</a:t>
            </a:r>
            <a:br/>
            <a:r>
              <a:t>}</a:t>
            </a:r>
            <a:br/>
            <a:br/>
            <a:r>
              <a:t>public class ProductRepository : IProductRepository {</a:t>
            </a:r>
            <a:br/>
            <a:r>
              <a:t>    private readonly string _connStr;</a:t>
            </a:r>
            <a:br/>
            <a:r>
              <a:t>    public ProductRepository(IConfiguration config) {</a:t>
            </a:r>
            <a:br/>
            <a:r>
              <a:t>        _connStr = config.GetConnectionString("DefaultConnection")!;</a:t>
            </a:r>
            <a:br/>
            <a:r>
              <a:t>    }</a:t>
            </a:r>
            <a:br/>
            <a:r>
              <a:t>    public async Task&lt;IEnumerable&lt;Product&gt;&gt; GetAllAsync() {</a:t>
            </a:r>
            <a:br/>
            <a:r>
              <a:t>        using var conn = new SqlConnection(_connStr);</a:t>
            </a:r>
            <a:br/>
            <a:r>
              <a:t>        return await conn.QueryAsync&lt;Product&gt;("SELECT * FROM Products");</a:t>
            </a:r>
            <a:br/>
            <a:r>
              <a:t>    }</a:t>
            </a:r>
            <a:br/>
            <a:r>
              <a:t>    public async Task&lt;Product?&gt; GetByIdAsync(int id) {</a:t>
            </a:r>
            <a:br/>
            <a:r>
              <a:t>        using var conn = new SqlConnection(_connStr);</a:t>
            </a:r>
            <a:br/>
            <a:r>
              <a:t>        return await conn.QueryFirstOrDefaultAsync&lt;Product&gt;(</a:t>
            </a:r>
            <a:br/>
            <a:r>
              <a:t>            "SELECT * FROM Products WHERE Id = @Id", new { Id = id });</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34 / 88</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ARCHITECTURE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Đăng ký DI và Inject Repository vào Controller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Bước 3: Đăng ký Interface và Class triển khai vào DI Container trong Program.cs với vòng đời Scoped.</a:t>
            </a:r>
          </a:p>
          <a:p>
            <a:pPr>
              <a:spcAft>
                <a:spcPts val="800"/>
              </a:spcAft>
              <a:defRPr sz="1200">
                <a:solidFill>
                  <a:srgbClr val="F1F5F9"/>
                </a:solidFill>
                <a:latin typeface="Verdana"/>
              </a:defRPr>
            </a:pPr>
            <a:r>
              <a:t>• Bơm (Inject) Repository vào Controller thông qua Constructor.</a:t>
            </a:r>
          </a:p>
          <a:p>
            <a:pPr>
              <a:spcAft>
                <a:spcPts val="800"/>
              </a:spcAft>
              <a:defRPr sz="1200">
                <a:solidFill>
                  <a:srgbClr val="F1F5F9"/>
                </a:solidFill>
                <a:latin typeface="Verdana"/>
              </a:defRPr>
            </a:pPr>
            <a:r>
              <a:t>• Controller hoàn toàn sạch mã SQL, chỉ gọi phương thức trừu tượng.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AddScoped&lt;IProductRepository, ProductRepository&gt;()</a:t>
            </a:r>
          </a:p>
          <a:p>
            <a:pPr>
              <a:spcAft>
                <a:spcPts val="400"/>
              </a:spcAft>
              <a:defRPr sz="1100">
                <a:solidFill>
                  <a:srgbClr val="10B981"/>
                </a:solidFill>
                <a:latin typeface="Verdana"/>
              </a:defRPr>
            </a:pPr>
            <a:r>
              <a:t>✔ _repo.GetByIdAsync(id)</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ĐĂNG KÝ VÒNG ĐỜI SCOPED TRONG Program.cs</a:t>
            </a:r>
            <a:br/>
            <a:r>
              <a:t>builder.Services.AddScoped&lt;IProductRepository, ProductRepository&gt;();</a:t>
            </a:r>
            <a:br/>
            <a:br/>
            <a:r>
              <a:t>// 2. SỬ DỤNG TRONG CONTROLLER</a:t>
            </a:r>
            <a:br/>
            <a:r>
              <a:t>[ApiController]</a:t>
            </a:r>
            <a:br/>
            <a:r>
              <a:t>[Route("api/[controller]")]</a:t>
            </a:r>
            <a:br/>
            <a:r>
              <a:t>public class ProductsController : ControllerBase</a:t>
            </a:r>
            <a:br/>
            <a:r>
              <a:t>{</a:t>
            </a:r>
            <a:br/>
            <a:r>
              <a:t>    private readonly IProductRepository _repo;</a:t>
            </a:r>
            <a:br/>
            <a:r>
              <a:t>    public ProductsController(IProductRepository repo) =&gt; _repo = repo;</a:t>
            </a:r>
            <a:br/>
            <a:br/>
            <a:r>
              <a:t>    [HttpGet("{id:int}")]</a:t>
            </a:r>
            <a:br/>
            <a:r>
              <a:t>    public async Task&lt;IActionResult&gt; GetById(int id)</a:t>
            </a:r>
            <a:br/>
            <a:r>
              <a:t>    {</a:t>
            </a:r>
            <a:br/>
            <a:r>
              <a:t>        var product = await _repo.GetByIdAsync(id);</a:t>
            </a:r>
            <a:br/>
            <a:r>
              <a:t>        if (product == null) return NotFound();</a:t>
            </a:r>
            <a:br/>
            <a:r>
              <a:t>        return Ok(product);</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35 / 88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3: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3: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Giải thích lý do SqlDataReader có hiệu năng sử dụng RAM vượt trội hơn DataSet khi truy xuất hàng triệu dòng dữ liệu?</a:t>
            </a:r>
          </a:p>
          <a:p>
            <a:pPr>
              <a:spcAft>
                <a:spcPts val="1000"/>
              </a:spcAft>
              <a:defRPr sz="1300">
                <a:solidFill>
                  <a:srgbClr val="F1F5F9"/>
                </a:solidFill>
                <a:latin typeface="Verdana"/>
              </a:defRPr>
            </a:pPr>
            <a:r>
              <a:t>• Phân biệt chính xác mục đích sử dụng của QueryAsync, ExecuteAsync, và ExecuteScalarAsync trong Dapper?</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Viết một Stored Procedure tên 'sp_GetOrdersByCustomer' nhận CustomerId, trả về toàn bộ thông tin đơn hàng.</a:t>
            </a:r>
          </a:p>
          <a:p>
            <a:pPr>
              <a:spcAft>
                <a:spcPts val="1000"/>
              </a:spcAft>
              <a:defRPr sz="1300">
                <a:solidFill>
                  <a:srgbClr val="F1F5F9"/>
                </a:solidFill>
                <a:latin typeface="Verdana"/>
              </a:defRPr>
            </a:pPr>
            <a:r>
              <a:t>✔ Sử dụng Dapper trong Repository để thực thi gọi Stored Procedure trên thông qua CommandType.StoredProcedure.</a:t>
            </a:r>
          </a:p>
          <a:p>
            <a:pPr>
              <a:spcAft>
                <a:spcPts val="1000"/>
              </a:spcAft>
              <a:defRPr sz="1300">
                <a:solidFill>
                  <a:srgbClr val="F1F5F9"/>
                </a:solidFill>
                <a:latin typeface="Verdana"/>
              </a:defRPr>
            </a:pPr>
            <a:r>
              <a:t>✔ Xây dựng API chuyển khoản có bảo vệ ACID SqlTransaction.</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36 / 88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4</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AUTHENTICATION, AUTHORIZATION &amp; SECURITY</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Triển khai xác thực Stateless chuyên nghiệp bằng JSON Web Token (JWT). Quản lý Access/Refresh Token, phân quyền người dùng và chống lỗ hổng bảo mật.</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37 / 88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SECURITY CONCEPT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Phân biệt Xác thực (Authentication) &amp; Phân quyền (Authorization)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Authentication (Xác thực danh tính)</a:t>
            </a:r>
          </a:p>
          <a:p>
            <a:pPr>
              <a:spcAft>
                <a:spcPts val="800"/>
              </a:spcAft>
              <a:defRPr sz="1300">
                <a:solidFill>
                  <a:srgbClr val="F1F5F9"/>
                </a:solidFill>
                <a:latin typeface="Verdana"/>
              </a:defRPr>
            </a:pPr>
            <a:r>
              <a:t>• Giải quyết câu hỏi cốt lõi: 'Bạn là ai?' (Who are you?).</a:t>
            </a:r>
          </a:p>
          <a:p>
            <a:pPr>
              <a:spcAft>
                <a:spcPts val="800"/>
              </a:spcAft>
              <a:defRPr sz="1300">
                <a:solidFill>
                  <a:srgbClr val="F1F5F9"/>
                </a:solidFill>
                <a:latin typeface="Verdana"/>
              </a:defRPr>
            </a:pPr>
            <a:r>
              <a:t>• Mục tiêu là kiểm chứng danh tính người dùng gửi yêu cầu thông qua thông tin đăng nhập.</a:t>
            </a:r>
          </a:p>
          <a:p>
            <a:pPr>
              <a:spcAft>
                <a:spcPts val="800"/>
              </a:spcAft>
              <a:defRPr sz="1300">
                <a:solidFill>
                  <a:srgbClr val="F1F5F9"/>
                </a:solidFill>
                <a:latin typeface="Verdana"/>
              </a:defRPr>
            </a:pPr>
            <a:r>
              <a:t>• Phương thức triển khai: Đăng nhập bằng tên tài khoản/mật khẩu, mã OTP điện thoại, dấu vân tay, hoặc OAuth 2.0 (Google, Facebook).</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Authorization (Phân quyền truy cập)</a:t>
            </a:r>
          </a:p>
          <a:p>
            <a:pPr>
              <a:spcAft>
                <a:spcPts val="800"/>
              </a:spcAft>
              <a:defRPr sz="1300">
                <a:solidFill>
                  <a:srgbClr val="F1F5F9"/>
                </a:solidFill>
                <a:latin typeface="Verdana"/>
              </a:defRPr>
            </a:pPr>
            <a:r>
              <a:t>• Giải quyết câu hỏi cốt lõi: 'Bạn có quyền làm gì?' (What are you allowed to do?).</a:t>
            </a:r>
          </a:p>
          <a:p>
            <a:pPr>
              <a:spcAft>
                <a:spcPts val="800"/>
              </a:spcAft>
              <a:defRPr sz="1300">
                <a:solidFill>
                  <a:srgbClr val="F1F5F9"/>
                </a:solidFill>
                <a:latin typeface="Verdana"/>
              </a:defRPr>
            </a:pPr>
            <a:r>
              <a:t>• Xác định quyền hạn truy cập của danh tính đã được kiểm chứng đối với tài nguyên hệ thống.</a:t>
            </a:r>
          </a:p>
          <a:p>
            <a:pPr>
              <a:spcAft>
                <a:spcPts val="800"/>
              </a:spcAft>
              <a:defRPr sz="1300">
                <a:solidFill>
                  <a:srgbClr val="F1F5F9"/>
                </a:solidFill>
                <a:latin typeface="Verdana"/>
              </a:defRPr>
            </a:pPr>
            <a:r>
              <a:t>• Ví dụ thực tế: Người dùng thường chỉ được xem hóa đơn cá nhân, riêng tài khoản Role 'Admin' mới được xóa sản phẩm.</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38 / 88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JWT CORE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JSON Web Token (JWT) và cơ chế bảo mật Stateless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Cấu trúc 3 phần của JWT</a:t>
            </a:r>
          </a:p>
          <a:p>
            <a:pPr>
              <a:spcAft>
                <a:spcPts val="600"/>
              </a:spcAft>
              <a:defRPr sz="1300">
                <a:solidFill>
                  <a:srgbClr val="F1F5F9"/>
                </a:solidFill>
                <a:latin typeface="Verdana"/>
              </a:defRPr>
            </a:pPr>
            <a:r>
              <a:t>Một chuỗi JWT mã hóa chuẩn Base64 gồm 3 phần ngăn cách bởi dấu chấm: Header (Thuật toán ký), Payload (Claims thông tin người dùng), Signature (Chữ ký số Server).</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Signature (Chữ ký số)</a:t>
            </a:r>
          </a:p>
          <a:p>
            <a:pPr>
              <a:spcAft>
                <a:spcPts val="600"/>
              </a:spcAft>
              <a:defRPr sz="1300">
                <a:solidFill>
                  <a:srgbClr val="F1F5F9"/>
                </a:solidFill>
                <a:latin typeface="Verdana"/>
              </a:defRPr>
            </a:pPr>
            <a:r>
              <a:t>Chữ ký được sinh bằng cách băm Header + Payload kết hợp Secret Key bí mật lưu độc quyền trên Server. Giúp Server phát hiện tức thì nếu token bị thay đổi ở Client.</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Nguyên lý Stateless</a:t>
            </a:r>
          </a:p>
          <a:p>
            <a:pPr>
              <a:spcAft>
                <a:spcPts val="600"/>
              </a:spcAft>
              <a:defRPr sz="1300">
                <a:solidFill>
                  <a:srgbClr val="F1F5F9"/>
                </a:solidFill>
                <a:latin typeface="Verdana"/>
              </a:defRPr>
            </a:pPr>
            <a:r>
              <a:t>Server hoàn toàn phi trạng thái. Không lưu phiên làm việc (Session) trong bộ nhớ. Mọi thông tin xác thực nằm trực tiếp trong JWT gửi kèm Header Request.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39 / 88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TOKEN MANAGEMENT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Luồng vận hành chuẩn Access Token &amp; Refresh Token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Access Token ngắn hạn</a:t>
            </a:r>
          </a:p>
          <a:p>
            <a:pPr>
              <a:spcAft>
                <a:spcPts val="600"/>
              </a:spcAft>
              <a:defRPr sz="1300">
                <a:solidFill>
                  <a:srgbClr val="F1F5F9"/>
                </a:solidFill>
                <a:latin typeface="Verdana"/>
              </a:defRPr>
            </a:pPr>
            <a:r>
              <a:t>Có thời gian sống ngắn (ví dụ: 15 phút) dùng để gán kèm Header HTTP Authorization: Bearer &lt;Token&gt; cho mọi cuộc gọi API thông thường.</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Refresh Token dài hạn</a:t>
            </a:r>
          </a:p>
          <a:p>
            <a:pPr>
              <a:spcAft>
                <a:spcPts val="600"/>
              </a:spcAft>
              <a:defRPr sz="1300">
                <a:solidFill>
                  <a:srgbClr val="F1F5F9"/>
                </a:solidFill>
                <a:latin typeface="Verdana"/>
              </a:defRPr>
            </a:pPr>
            <a:r>
              <a:t>Được cấp kèm theo, lưu an toàn dưới Database và Client (thời gian sống: 7 ngày). Khi Access Token hết hạn, Client gửi Refresh Token lên xin cấp mới.</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Token Rotation Flow</a:t>
            </a:r>
          </a:p>
          <a:p>
            <a:pPr>
              <a:spcAft>
                <a:spcPts val="600"/>
              </a:spcAft>
              <a:defRPr sz="1300">
                <a:solidFill>
                  <a:srgbClr val="F1F5F9"/>
                </a:solidFill>
                <a:latin typeface="Verdana"/>
              </a:defRPr>
            </a:pPr>
            <a:r>
              <a:t>Khi một Refresh Token được sử dụng thành công, Server tự động hủy mã cũ và sinh một bộ cặp Token mới, ngăn ngừa triệt để tấn công đánh cắp token.</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40 / 88</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CONFIGURATION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Cấu hình Token và Đăng ký JwtBearer Authentication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Cài đặt NuGet Microsoft.AspNetCore.Authentication.JwtBearer.</a:t>
            </a:r>
          </a:p>
          <a:p>
            <a:pPr>
              <a:spcAft>
                <a:spcPts val="800"/>
              </a:spcAft>
              <a:defRPr sz="1200">
                <a:solidFill>
                  <a:srgbClr val="F1F5F9"/>
                </a:solidFill>
                <a:latin typeface="Verdana"/>
              </a:defRPr>
            </a:pPr>
            <a:r>
              <a:t>• Khai báo các thông số cấu hình TokenValidationParameters chặt chẽ.</a:t>
            </a:r>
          </a:p>
          <a:p>
            <a:pPr>
              <a:spcAft>
                <a:spcPts val="800"/>
              </a:spcAft>
              <a:defRPr sz="1200">
                <a:solidFill>
                  <a:srgbClr val="F1F5F9"/>
                </a:solidFill>
                <a:latin typeface="Verdana"/>
              </a:defRPr>
            </a:pPr>
            <a:r>
              <a:t>• Kích hoạt Middleware authentication &amp; authorization đúng vị trí trong Pipeline.</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AddJwtBearer</a:t>
            </a:r>
          </a:p>
          <a:p>
            <a:pPr>
              <a:spcAft>
                <a:spcPts val="400"/>
              </a:spcAft>
              <a:defRPr sz="1100">
                <a:solidFill>
                  <a:srgbClr val="10B981"/>
                </a:solidFill>
                <a:latin typeface="Verdana"/>
              </a:defRPr>
            </a:pPr>
            <a:r>
              <a:t>✔ ValidateLifetime</a:t>
            </a:r>
          </a:p>
          <a:p>
            <a:pPr>
              <a:spcAft>
                <a:spcPts val="400"/>
              </a:spcAft>
              <a:defRPr sz="1100">
                <a:solidFill>
                  <a:srgbClr val="10B981"/>
                </a:solidFill>
                <a:latin typeface="Verdana"/>
              </a:defRPr>
            </a:pPr>
            <a:r>
              <a:t>✔ app.UseAuthentication()</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ĐĂNG KÝ AUTHENTICATION SCHEME TRONG Program.cs</a:t>
            </a:r>
            <a:br/>
            <a:r>
              <a:t>var jwtSettings = builder.Configuration.GetSection("JwtSettings");</a:t>
            </a:r>
            <a:br/>
            <a:r>
              <a:t>var secretKey = jwtSettings["SecretKey"]!;</a:t>
            </a:r>
            <a:br/>
            <a:br/>
            <a:r>
              <a:t>builder.Services.AddAuthentication(options =&gt; {</a:t>
            </a:r>
            <a:br/>
            <a:r>
              <a:t>    options.DefaultAuthenticateScheme = JwtBearerDefaults.AuthenticationScheme;</a:t>
            </a:r>
            <a:br/>
            <a:r>
              <a:t>    options.DefaultChallengeScheme = JwtBearerDefaults.AuthenticationScheme;</a:t>
            </a:r>
            <a:br/>
            <a:r>
              <a:t>}).AddJwtBearer(options =&gt; {</a:t>
            </a:r>
            <a:br/>
            <a:r>
              <a:t>    options.TokenValidationParameters = new TokenValidationParameters {</a:t>
            </a:r>
            <a:br/>
            <a:r>
              <a:t>        ValidateIssuer = true,</a:t>
            </a:r>
            <a:br/>
            <a:r>
              <a:t>        ValidateAudience = true,</a:t>
            </a:r>
            <a:br/>
            <a:r>
              <a:t>        ValidateLifetime = true, // Kiểm tra kỹ hạn sử dụng</a:t>
            </a:r>
            <a:br/>
            <a:r>
              <a:t>        ValidateIssuerSigningKey = true, // Xác minh chữ ký bằng SecretKey</a:t>
            </a:r>
            <a:br/>
            <a:r>
              <a:t>        ValidIssuer = jwtSettings["Issuer"],</a:t>
            </a:r>
            <a:br/>
            <a:r>
              <a:t>        ValidAudience = jwtSettings["Audience"],</a:t>
            </a:r>
            <a:br/>
            <a:r>
              <a:t>        IssuerSigningKey = new SymmetricSecurityKey(</a:t>
            </a:r>
            <a:br/>
            <a:r>
              <a:t>            Encoding.UTF8.GetBytes(secretKey)),</a:t>
            </a:r>
            <a:br/>
            <a:r>
              <a:t>        ClockSkew = TimeSpan.Zero // Triệt tiêu sai lệch mặc định 5 phút</a:t>
            </a:r>
            <a:br/>
            <a:r>
              <a:t>    };</a:t>
            </a:r>
            <a:br/>
            <a:r>
              <a:t>});</a:t>
            </a:r>
            <a:br/>
            <a:r>
              <a:t>builder.Services.AddAuthorization();</a:t>
            </a:r>
            <a:br/>
            <a:br/>
            <a:r>
              <a:t>var app = builder.Build();</a:t>
            </a:r>
            <a:br/>
            <a:r>
              <a:t>app.UseAuthentication(); // ĐẶT TRƯỚC UseAuthorization</a:t>
            </a:r>
            <a:br/>
            <a:r>
              <a:t>app.UseAuthorization();</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41 / 88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IMPLEMENTATION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hành viết Token Generator Service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TokenService bọc logic mã hóa bằng thuật toán đối xứng HMAC SHA256.</a:t>
            </a:r>
          </a:p>
          <a:p>
            <a:pPr>
              <a:spcAft>
                <a:spcPts val="800"/>
              </a:spcAft>
              <a:defRPr sz="1200">
                <a:solidFill>
                  <a:srgbClr val="F1F5F9"/>
                </a:solidFill>
                <a:latin typeface="Verdana"/>
              </a:defRPr>
            </a:pPr>
            <a:r>
              <a:t>• Payload (Claims) chứa thông tin thiết yếu như UserId, Email và vai trò Roles.</a:t>
            </a:r>
          </a:p>
          <a:p>
            <a:pPr>
              <a:spcAft>
                <a:spcPts val="800"/>
              </a:spcAft>
              <a:defRPr sz="1200">
                <a:solidFill>
                  <a:srgbClr val="F1F5F9"/>
                </a:solidFill>
                <a:latin typeface="Verdana"/>
              </a:defRPr>
            </a:pPr>
            <a:r>
              <a:t>• Refresh Token sinh ra ngẫu nhiên bằng chuỗi base64 mã hóa an toàn (cryptographically secure).</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SymmetricSecurityKey</a:t>
            </a:r>
          </a:p>
          <a:p>
            <a:pPr>
              <a:spcAft>
                <a:spcPts val="400"/>
              </a:spcAft>
              <a:defRPr sz="1100">
                <a:solidFill>
                  <a:srgbClr val="10B981"/>
                </a:solidFill>
                <a:latin typeface="Verdana"/>
              </a:defRPr>
            </a:pPr>
            <a:r>
              <a:t>✔ SigningCredentials</a:t>
            </a:r>
          </a:p>
          <a:p>
            <a:pPr>
              <a:spcAft>
                <a:spcPts val="400"/>
              </a:spcAft>
              <a:defRPr sz="1100">
                <a:solidFill>
                  <a:srgbClr val="10B981"/>
                </a:solidFill>
                <a:latin typeface="Verdana"/>
              </a:defRPr>
            </a:pPr>
            <a:r>
              <a:t>✔ WriteToken</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class TokenService : ITokenService {</a:t>
            </a:r>
            <a:br/>
            <a:r>
              <a:t>    private readonly IConfiguration _config;</a:t>
            </a:r>
            <a:br/>
            <a:r>
              <a:t>    public TokenService(IConfiguration config) =&gt; _config = config;</a:t>
            </a:r>
            <a:br/>
            <a:br/>
            <a:r>
              <a:t>    public string GenerateAccessToken(string userId, string email, </a:t>
            </a:r>
            <a:br/>
            <a:r>
              <a:t>                                      IEnumerable&lt;string&gt; roles) {</a:t>
            </a:r>
            <a:br/>
            <a:r>
              <a:t>        var jwtSettings = _config.GetSection("JwtSettings");</a:t>
            </a:r>
            <a:br/>
            <a:r>
              <a:t>        var key = new SymmetricSecurityKey(</a:t>
            </a:r>
            <a:br/>
            <a:r>
              <a:t>            Encoding.UTF8.GetBytes(jwtSettings["SecretKey"]!));</a:t>
            </a:r>
            <a:br/>
            <a:r>
              <a:t>        </a:t>
            </a:r>
            <a:br/>
            <a:r>
              <a:t>        var claims = new List&lt;Claim&gt; {</a:t>
            </a:r>
            <a:br/>
            <a:r>
              <a:t>            new(ClaimTypes.NameIdentifier, userId),</a:t>
            </a:r>
            <a:br/>
            <a:r>
              <a:t>            new(ClaimTypes.Email, email),</a:t>
            </a:r>
            <a:br/>
            <a:r>
              <a:t>            new(JwtRegisteredClaimNames.Jti, Guid.NewGuid().ToString())</a:t>
            </a:r>
            <a:br/>
            <a:r>
              <a:t>        };</a:t>
            </a:r>
            <a:br/>
            <a:r>
              <a:t>        claims.AddRange(roles.Select(r =&gt; new Claim(ClaimTypes.Role, r)));</a:t>
            </a:r>
            <a:br/>
            <a:br/>
            <a:r>
              <a:t>        var creds = new SigningCredentials(key, SecurityAlgorithms.HmacSha256);</a:t>
            </a:r>
            <a:br/>
            <a:r>
              <a:t>        var expires = DateTime.UtcNow.AddMinutes(</a:t>
            </a:r>
            <a:br/>
            <a:r>
              <a:t>            double.Parse(jwtSettings["AccessTokenExpirationMinutes"]!));</a:t>
            </a:r>
            <a:br/>
            <a:br/>
            <a:r>
              <a:t>        var token = new JwtSecurityToken(</a:t>
            </a:r>
            <a:br/>
            <a:r>
              <a:t>            issuer: jwtSettings["Issuer"], audience: jwtSettings["Audience"],</a:t>
            </a:r>
            <a:br/>
            <a:r>
              <a:t>            claims: claims, expires: expires, signingCredentials: creds</a:t>
            </a:r>
            <a:br/>
            <a:r>
              <a:t>        );</a:t>
            </a:r>
            <a:br/>
            <a:r>
              <a:t>        return new JwtSecurityTokenHandler().WriteToken(token);</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42 / 88</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AUTHORIZATION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Phân quyền dựa trên Vai trò (Role-based Authorization)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Attribute [Authorize] bọc toàn bộ Controller hoặc từng Endpoint.</a:t>
            </a:r>
          </a:p>
          <a:p>
            <a:pPr>
              <a:spcAft>
                <a:spcPts val="800"/>
              </a:spcAft>
              <a:defRPr sz="1200">
                <a:solidFill>
                  <a:srgbClr val="F1F5F9"/>
                </a:solidFill>
                <a:latin typeface="Verdana"/>
              </a:defRPr>
            </a:pPr>
            <a:r>
              <a:t>• Chỉ định cụ thể quyền truy cập thông qua thuộc tính Roles.</a:t>
            </a:r>
          </a:p>
          <a:p>
            <a:pPr>
              <a:spcAft>
                <a:spcPts val="800"/>
              </a:spcAft>
              <a:defRPr sz="1200">
                <a:solidFill>
                  <a:srgbClr val="F1F5F9"/>
                </a:solidFill>
                <a:latin typeface="Verdana"/>
              </a:defRPr>
            </a:pPr>
            <a:r>
              <a:t>• Tự động trả về HTTP 401 Unauthorized nếu chưa đăng nhập, hoặc 403 Forbidden nếu sai quyền.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[Authorize]</a:t>
            </a:r>
          </a:p>
          <a:p>
            <a:pPr>
              <a:spcAft>
                <a:spcPts val="400"/>
              </a:spcAft>
              <a:defRPr sz="1100">
                <a:solidFill>
                  <a:srgbClr val="10B981"/>
                </a:solidFill>
                <a:latin typeface="Verdana"/>
              </a:defRPr>
            </a:pPr>
            <a:r>
              <a:t>✔ [Authorize(Roles = "Admin,Manager")]</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Microsoft.AspNetCore.Authorization;</a:t>
            </a:r>
            <a:br/>
            <a:r>
              <a:t>using Microsoft.AspNetCore.Mvc;</a:t>
            </a:r>
            <a:br/>
            <a:br/>
            <a:r>
              <a:t>[ApiController]</a:t>
            </a:r>
            <a:br/>
            <a:r>
              <a:t>[Route("api/[controller]")]</a:t>
            </a:r>
            <a:br/>
            <a:r>
              <a:t>[Authorize] // Bắt buộc phải đăng nhập JWT mới gọi được mọi API trong class</a:t>
            </a:r>
            <a:br/>
            <a:r>
              <a:t>public class OrdersController : ControllerBase</a:t>
            </a:r>
            <a:br/>
            <a:r>
              <a:t>{</a:t>
            </a:r>
            <a:br/>
            <a:r>
              <a:t>    [HttpGet] // Ai đăng nhập thành công cũng xem được</a:t>
            </a:r>
            <a:br/>
            <a:r>
              <a:t>    public IActionResult GetMyOrders() =&gt; Ok();</a:t>
            </a:r>
            <a:br/>
            <a:br/>
            <a:r>
              <a:t>    [HttpDelete("{id}")]</a:t>
            </a:r>
            <a:br/>
            <a:r>
              <a:t>    [Authorize(Roles = "Admin,Manager")] // Chỉ Admin hoặc Manager mới được xóa</a:t>
            </a:r>
            <a:br/>
            <a:r>
              <a:t>    public IActionResult DeleteOrder(int id)</a:t>
            </a:r>
            <a:br/>
            <a:r>
              <a:t>    {</a:t>
            </a:r>
            <a:br/>
            <a:r>
              <a:t>        return Ok(new { Message = $"Đã xóa đơn hàng #{id}" });</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43 / 88</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AUTHORIZATION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Phân quyền động dựa trên Chính sách (Policy-based)</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Thích hợp giải quyết nghiệp vụ kiểm tra quyền phức tạp chứa nhiều điều kiện kết hợp.</a:t>
            </a:r>
          </a:p>
          <a:p>
            <a:pPr>
              <a:spcAft>
                <a:spcPts val="800"/>
              </a:spcAft>
              <a:defRPr sz="1200">
                <a:solidFill>
                  <a:srgbClr val="F1F5F9"/>
                </a:solidFill>
                <a:latin typeface="Verdana"/>
              </a:defRPr>
            </a:pPr>
            <a:r>
              <a:t>• Chính sách (Policies) được khai báo tập trung tại cấu hình Authorization trong Program.cs.</a:t>
            </a:r>
          </a:p>
          <a:p>
            <a:pPr>
              <a:spcAft>
                <a:spcPts val="800"/>
              </a:spcAft>
              <a:defRPr sz="1200">
                <a:solidFill>
                  <a:srgbClr val="F1F5F9"/>
                </a:solidFill>
                <a:latin typeface="Verdana"/>
              </a:defRPr>
            </a:pPr>
            <a:r>
              <a:t>• Cho phép kiểm tra Claims đặc thù của người dùng.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AddPolicy</a:t>
            </a:r>
          </a:p>
          <a:p>
            <a:pPr>
              <a:spcAft>
                <a:spcPts val="400"/>
              </a:spcAft>
              <a:defRPr sz="1100">
                <a:solidFill>
                  <a:srgbClr val="10B981"/>
                </a:solidFill>
                <a:latin typeface="Verdana"/>
              </a:defRPr>
            </a:pPr>
            <a:r>
              <a:t>✔ RequireClaim</a:t>
            </a:r>
          </a:p>
          <a:p>
            <a:pPr>
              <a:spcAft>
                <a:spcPts val="400"/>
              </a:spcAft>
              <a:defRPr sz="1100">
                <a:solidFill>
                  <a:srgbClr val="10B981"/>
                </a:solidFill>
                <a:latin typeface="Verdana"/>
              </a:defRPr>
            </a:pPr>
            <a:r>
              <a:t>✔ [Authorize(Policy = "...")]</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ĐĂNG KÝ CHÍNH SÁCH (POLICIES) TRONG Program.cs</a:t>
            </a:r>
            <a:br/>
            <a:r>
              <a:t>builder.Services.AddAuthorization(options =&gt; {</a:t>
            </a:r>
            <a:br/>
            <a:r>
              <a:t>    // Kiểm tra sự tồn tại của Claim đặc thù</a:t>
            </a:r>
            <a:br/>
            <a:r>
              <a:t>    options.AddPolicy("MustBeEmployee", policy =&gt; </a:t>
            </a:r>
            <a:br/>
            <a:r>
              <a:t>        policy.RequireClaim("EmployeeNumber"));</a:t>
            </a:r>
            <a:br/>
            <a:r>
              <a:t>        </a:t>
            </a:r>
            <a:br/>
            <a:r>
              <a:t>    // Kết hợp nhiều điều kiện: là Khách hàng và có mức thành viên VIP</a:t>
            </a:r>
            <a:br/>
            <a:r>
              <a:t>    options.AddPolicy("VIPCustomerOnly", policy =&gt;</a:t>
            </a:r>
            <a:br/>
            <a:r>
              <a:t>        policy.RequireRole("Customer")</a:t>
            </a:r>
            <a:br/>
            <a:r>
              <a:t>              .RequireClaim("MembershipLevel", "Gold", "Platinum"));</a:t>
            </a:r>
            <a:br/>
            <a:r>
              <a:t>});</a:t>
            </a:r>
            <a:br/>
            <a:br/>
            <a:r>
              <a:t>// 2. SỬ DỤNG POLICY TRONG CONTROLLER</a:t>
            </a:r>
            <a:br/>
            <a:r>
              <a:t>[HttpGet("vip-deals")]</a:t>
            </a:r>
            <a:br/>
            <a:r>
              <a:t>[Authorize(Policy = "VIPCustomerOnly")] // Áp dụng chính sách VIP</a:t>
            </a:r>
            <a:br/>
            <a:r>
              <a:t>public IActionResult GetVipDeals() =&gt; Ok(new[] { "Giảm giá 50%" });</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44 / 88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API KEY</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Cấu hình CORS &amp; Bảo vệ Public API bằng API Key</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CORS ngăn chặn các trình duyệt Web khác nguồn gọi API bừa bãi. Cấu hình WithOrigins an toàn.</a:t>
            </a:r>
          </a:p>
          <a:p>
            <a:pPr>
              <a:spcAft>
                <a:spcPts val="800"/>
              </a:spcAft>
              <a:defRPr sz="1200">
                <a:solidFill>
                  <a:srgbClr val="F1F5F9"/>
                </a:solidFill>
                <a:latin typeface="Verdana"/>
              </a:defRPr>
            </a:pPr>
            <a:r>
              <a:t>• API Key thích hợp cho giao tiếp Service-to-Service hoặc tích hợp hệ thống bên thứ 3.</a:t>
            </a:r>
          </a:p>
          <a:p>
            <a:pPr>
              <a:spcAft>
                <a:spcPts val="800"/>
              </a:spcAft>
              <a:defRPr sz="1200">
                <a:solidFill>
                  <a:srgbClr val="F1F5F9"/>
                </a:solidFill>
                <a:latin typeface="Verdana"/>
              </a:defRPr>
            </a:pPr>
            <a:r>
              <a:t>• Viết Middleware kiểm tra mã API Key trong Header Http.</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X-API-KEY</a:t>
            </a:r>
          </a:p>
          <a:p>
            <a:pPr>
              <a:spcAft>
                <a:spcPts val="400"/>
              </a:spcAft>
              <a:defRPr sz="1100">
                <a:solidFill>
                  <a:srgbClr val="10B981"/>
                </a:solidFill>
                <a:latin typeface="Verdana"/>
              </a:defRPr>
            </a:pPr>
            <a:r>
              <a:t>✔ extractedKey</a:t>
            </a:r>
          </a:p>
          <a:p>
            <a:pPr>
              <a:spcAft>
                <a:spcPts val="400"/>
              </a:spcAft>
              <a:defRPr sz="1100">
                <a:solidFill>
                  <a:srgbClr val="10B981"/>
                </a:solidFill>
                <a:latin typeface="Verdana"/>
              </a:defRPr>
            </a:pPr>
            <a:r>
              <a:t>✔ context.Response.StatusCode</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class ApiKeyMiddleware {</a:t>
            </a:r>
            <a:br/>
            <a:r>
              <a:t>    private readonly RequestDelegate _next;</a:t>
            </a:r>
            <a:br/>
            <a:r>
              <a:t>    private const string APIKEYNAME = "X-API-KEY";</a:t>
            </a:r>
            <a:br/>
            <a:r>
              <a:t>    public ApiKeyMiddleware(RequestDelegate next) =&gt; _next = next;</a:t>
            </a:r>
            <a:br/>
            <a:br/>
            <a:r>
              <a:t>    public async Task InvokeAsync(HttpContext context, IConfiguration config) {</a:t>
            </a:r>
            <a:br/>
            <a:r>
              <a:t>        if (!context.Request.Headers.TryGetValue(APIKEYNAME, out var extractedKey)) {</a:t>
            </a:r>
            <a:br/>
            <a:r>
              <a:t>            context.Response.StatusCode = 401; // Unauthorized</a:t>
            </a:r>
            <a:br/>
            <a:r>
              <a:t>            await context.Response.WriteAsync("Yêu cầu thiếu API Key.");</a:t>
            </a:r>
            <a:br/>
            <a:r>
              <a:t>            return;</a:t>
            </a:r>
            <a:br/>
            <a:r>
              <a:t>        }</a:t>
            </a:r>
            <a:br/>
            <a:r>
              <a:t>        var apiKey = config.GetValue&lt;string&gt;("ApiKey");</a:t>
            </a:r>
            <a:br/>
            <a:r>
              <a:t>        if (!apiKey!.Equals(extractedKey)) {</a:t>
            </a:r>
            <a:br/>
            <a:r>
              <a:t>            context.Response.StatusCode = 403; // Forbidden</a:t>
            </a:r>
            <a:br/>
            <a:r>
              <a:t>            await context.Response.WriteAsync("API Key không hợp lệ.");</a:t>
            </a:r>
            <a:br/>
            <a:r>
              <a:t>            return;</a:t>
            </a:r>
            <a:br/>
            <a:r>
              <a:t>        }</a:t>
            </a:r>
            <a:br/>
            <a:r>
              <a:t>        await _next(context);</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45 / 88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OWASP SECURITY</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Phòng chống 5 lỗi bảo mật API hàng đầu (OWASP)</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Thiết lập checklist bảo vệ hệ thống dựa trên tiêu chuẩn bảo mật OWASP API Security Top 10 mới nhất.</a:t>
            </a:r>
          </a:p>
        </p:txBody>
      </p:sp>
      <p:graphicFrame>
        <p:nvGraphicFramePr>
          <p:cNvPr id="6" name="Table 5"/>
          <p:cNvGraphicFramePr>
            <a:graphicFrameLocks noGrp="1"/>
          </p:cNvGraphicFramePr>
          <p:nvPr/>
        </p:nvGraphicFramePr>
        <p:xfrm>
          <a:off x="685800" y="2011680"/>
          <a:ext cx="10820095" cy="4023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19295">
                  <a:extLst>
                    <a:ext uri="{9D8B030D-6E8A-4147-A177-3AD203B41FA5}">
                      <a16:colId xmlns:a16="http://schemas.microsoft.com/office/drawing/2014/main" val="20002"/>
                    </a:ext>
                  </a:extLst>
                </a:gridCol>
              </a:tblGrid>
              <a:tr h="670560">
                <a:tc>
                  <a:txBody>
                    <a:bodyPr/>
                    <a:lstStyle/>
                    <a:p>
                      <a:pPr algn="l"/>
                      <a:r>
                        <a:rPr sz="1100" b="1">
                          <a:solidFill>
                            <a:srgbClr val="38BDF8"/>
                          </a:solidFill>
                          <a:latin typeface="Verdana"/>
                        </a:rPr>
                        <a:t>Mối đe dọa / Lỗ hổng</a:t>
                      </a:r>
                    </a:p>
                  </a:txBody>
                  <a:tcPr marL="76200" marR="76200" marT="50800" marB="50800">
                    <a:solidFill>
                      <a:srgbClr val="1E293B"/>
                    </a:solidFill>
                  </a:tcPr>
                </a:tc>
                <a:tc>
                  <a:txBody>
                    <a:bodyPr/>
                    <a:lstStyle/>
                    <a:p>
                      <a:pPr algn="l"/>
                      <a:r>
                        <a:rPr sz="1100" b="1">
                          <a:solidFill>
                            <a:srgbClr val="38BDF8"/>
                          </a:solidFill>
                          <a:latin typeface="Verdana"/>
                        </a:rPr>
                        <a:t>Bản chất hình thức tấn công thực tế</a:t>
                      </a:r>
                    </a:p>
                  </a:txBody>
                  <a:tcPr marL="76200" marR="76200" marT="50800" marB="50800">
                    <a:solidFill>
                      <a:srgbClr val="1E293B"/>
                    </a:solidFill>
                  </a:tcPr>
                </a:tc>
                <a:tc>
                  <a:txBody>
                    <a:bodyPr/>
                    <a:lstStyle/>
                    <a:p>
                      <a:pPr algn="l"/>
                      <a:r>
                        <a:rPr sz="1100" b="1">
                          <a:solidFill>
                            <a:srgbClr val="38BDF8"/>
                          </a:solidFill>
                          <a:latin typeface="Verdana"/>
                        </a:rPr>
                        <a:t>Giải pháp khắc phục &amp; Phòng chống triệt để</a:t>
                      </a:r>
                    </a:p>
                  </a:txBody>
                  <a:tcPr marL="76200" marR="76200" marT="50800" marB="50800">
                    <a:solidFill>
                      <a:srgbClr val="1E293B"/>
                    </a:solidFill>
                  </a:tcPr>
                </a:tc>
                <a:extLst>
                  <a:ext uri="{0D108BD9-81ED-4DB2-BD59-A6C34878D82A}">
                    <a16:rowId xmlns:a16="http://schemas.microsoft.com/office/drawing/2014/main" val="10000"/>
                  </a:ext>
                </a:extLst>
              </a:tr>
              <a:tr h="670560">
                <a:tc>
                  <a:txBody>
                    <a:bodyPr/>
                    <a:lstStyle/>
                    <a:p>
                      <a:pPr algn="l"/>
                      <a:r>
                        <a:rPr sz="1000">
                          <a:solidFill>
                            <a:srgbClr val="F1F5F9"/>
                          </a:solidFill>
                          <a:latin typeface="Verdana"/>
                        </a:rPr>
                        <a:t>BOLA (Broken Object Level)</a:t>
                      </a:r>
                    </a:p>
                  </a:txBody>
                  <a:tcPr marL="76200" marR="76200" marT="50800" marB="50800">
                    <a:solidFill>
                      <a:srgbClr val="0F172A"/>
                    </a:solidFill>
                  </a:tcPr>
                </a:tc>
                <a:tc>
                  <a:txBody>
                    <a:bodyPr/>
                    <a:lstStyle/>
                    <a:p>
                      <a:pPr algn="l"/>
                      <a:r>
                        <a:rPr sz="1000">
                          <a:solidFill>
                            <a:srgbClr val="F1F5F9"/>
                          </a:solidFill>
                          <a:latin typeface="Verdana"/>
                        </a:rPr>
                        <a:t>User đổi ID trên URL để xem trộm đơn hàng người khác.</a:t>
                      </a:r>
                    </a:p>
                  </a:txBody>
                  <a:tcPr marL="76200" marR="76200" marT="50800" marB="50800">
                    <a:solidFill>
                      <a:srgbClr val="0F172A"/>
                    </a:solidFill>
                  </a:tcPr>
                </a:tc>
                <a:tc>
                  <a:txBody>
                    <a:bodyPr/>
                    <a:lstStyle/>
                    <a:p>
                      <a:pPr algn="l"/>
                      <a:r>
                        <a:rPr sz="1000">
                          <a:solidFill>
                            <a:srgbClr val="F1F5F9"/>
                          </a:solidFill>
                          <a:latin typeface="Verdana"/>
                        </a:rPr>
                        <a:t>Kiểm tra quyền sở hữu trực tiếp trên tài nguyên (Resource-based Auth).</a:t>
                      </a:r>
                    </a:p>
                  </a:txBody>
                  <a:tcPr marL="76200" marR="76200" marT="50800" marB="50800">
                    <a:solidFill>
                      <a:srgbClr val="0F172A"/>
                    </a:solidFill>
                  </a:tcPr>
                </a:tc>
                <a:extLst>
                  <a:ext uri="{0D108BD9-81ED-4DB2-BD59-A6C34878D82A}">
                    <a16:rowId xmlns:a16="http://schemas.microsoft.com/office/drawing/2014/main" val="10001"/>
                  </a:ext>
                </a:extLst>
              </a:tr>
              <a:tr h="670560">
                <a:tc>
                  <a:txBody>
                    <a:bodyPr/>
                    <a:lstStyle/>
                    <a:p>
                      <a:pPr algn="l"/>
                      <a:r>
                        <a:rPr sz="1000">
                          <a:solidFill>
                            <a:srgbClr val="F1F5F9"/>
                          </a:solidFill>
                          <a:latin typeface="Verdana"/>
                        </a:rPr>
                        <a:t>Broken Authentication</a:t>
                      </a:r>
                    </a:p>
                  </a:txBody>
                  <a:tcPr marL="76200" marR="76200" marT="50800" marB="50800">
                    <a:solidFill>
                      <a:srgbClr val="141E2D"/>
                    </a:solidFill>
                  </a:tcPr>
                </a:tc>
                <a:tc>
                  <a:txBody>
                    <a:bodyPr/>
                    <a:lstStyle/>
                    <a:p>
                      <a:pPr algn="l"/>
                      <a:r>
                        <a:rPr sz="1000">
                          <a:solidFill>
                            <a:srgbClr val="F1F5F9"/>
                          </a:solidFill>
                          <a:latin typeface="Verdana"/>
                        </a:rPr>
                        <a:t>Sử dụng lại Refresh Token cũ, chiếm đoạt khóa JWT.</a:t>
                      </a:r>
                    </a:p>
                  </a:txBody>
                  <a:tcPr marL="76200" marR="76200" marT="50800" marB="50800">
                    <a:solidFill>
                      <a:srgbClr val="141E2D"/>
                    </a:solidFill>
                  </a:tcPr>
                </a:tc>
                <a:tc>
                  <a:txBody>
                    <a:bodyPr/>
                    <a:lstStyle/>
                    <a:p>
                      <a:pPr algn="l"/>
                      <a:r>
                        <a:rPr sz="1000">
                          <a:solidFill>
                            <a:srgbClr val="F1F5F9"/>
                          </a:solidFill>
                          <a:latin typeface="Verdana"/>
                        </a:rPr>
                        <a:t>Triển khai Token Rotation, mã hóa mật khẩu 1 chiều bằng BCrypt.</a:t>
                      </a:r>
                    </a:p>
                  </a:txBody>
                  <a:tcPr marL="76200" marR="76200" marT="50800" marB="50800">
                    <a:solidFill>
                      <a:srgbClr val="141E2D"/>
                    </a:solidFill>
                  </a:tcPr>
                </a:tc>
                <a:extLst>
                  <a:ext uri="{0D108BD9-81ED-4DB2-BD59-A6C34878D82A}">
                    <a16:rowId xmlns:a16="http://schemas.microsoft.com/office/drawing/2014/main" val="10002"/>
                  </a:ext>
                </a:extLst>
              </a:tr>
              <a:tr h="670560">
                <a:tc>
                  <a:txBody>
                    <a:bodyPr/>
                    <a:lstStyle/>
                    <a:p>
                      <a:pPr algn="l"/>
                      <a:r>
                        <a:rPr sz="1000">
                          <a:solidFill>
                            <a:srgbClr val="F1F5F9"/>
                          </a:solidFill>
                          <a:latin typeface="Verdana"/>
                        </a:rPr>
                        <a:t>Excessive Data Exposure</a:t>
                      </a:r>
                    </a:p>
                  </a:txBody>
                  <a:tcPr marL="76200" marR="76200" marT="50800" marB="50800">
                    <a:solidFill>
                      <a:srgbClr val="0F172A"/>
                    </a:solidFill>
                  </a:tcPr>
                </a:tc>
                <a:tc>
                  <a:txBody>
                    <a:bodyPr/>
                    <a:lstStyle/>
                    <a:p>
                      <a:pPr algn="l"/>
                      <a:r>
                        <a:rPr sz="1000">
                          <a:solidFill>
                            <a:srgbClr val="F1F5F9"/>
                          </a:solidFill>
                          <a:latin typeface="Verdana"/>
                        </a:rPr>
                        <a:t>Trả nguyên Entity CSDL chứa mật khẩu, thông tin nhạy cảm.</a:t>
                      </a:r>
                    </a:p>
                  </a:txBody>
                  <a:tcPr marL="76200" marR="76200" marT="50800" marB="50800">
                    <a:solidFill>
                      <a:srgbClr val="0F172A"/>
                    </a:solidFill>
                  </a:tcPr>
                </a:tc>
                <a:tc>
                  <a:txBody>
                    <a:bodyPr/>
                    <a:lstStyle/>
                    <a:p>
                      <a:pPr algn="l"/>
                      <a:r>
                        <a:rPr sz="1000">
                          <a:solidFill>
                            <a:srgbClr val="F1F5F9"/>
                          </a:solidFill>
                          <a:latin typeface="Verdana"/>
                        </a:rPr>
                        <a:t>Tuyệt đối sử dụng DTO riêng biệt kiểm soát dữ liệu đầu ra.</a:t>
                      </a:r>
                    </a:p>
                  </a:txBody>
                  <a:tcPr marL="76200" marR="76200" marT="50800" marB="50800">
                    <a:solidFill>
                      <a:srgbClr val="0F172A"/>
                    </a:solidFill>
                  </a:tcPr>
                </a:tc>
                <a:extLst>
                  <a:ext uri="{0D108BD9-81ED-4DB2-BD59-A6C34878D82A}">
                    <a16:rowId xmlns:a16="http://schemas.microsoft.com/office/drawing/2014/main" val="10003"/>
                  </a:ext>
                </a:extLst>
              </a:tr>
              <a:tr h="670560">
                <a:tc>
                  <a:txBody>
                    <a:bodyPr/>
                    <a:lstStyle/>
                    <a:p>
                      <a:pPr algn="l"/>
                      <a:r>
                        <a:rPr sz="1000">
                          <a:solidFill>
                            <a:srgbClr val="F1F5F9"/>
                          </a:solidFill>
                          <a:latin typeface="Verdana"/>
                        </a:rPr>
                        <a:t>Mass Assignment</a:t>
                      </a:r>
                    </a:p>
                  </a:txBody>
                  <a:tcPr marL="76200" marR="76200" marT="50800" marB="50800">
                    <a:solidFill>
                      <a:srgbClr val="141E2D"/>
                    </a:solidFill>
                  </a:tcPr>
                </a:tc>
                <a:tc>
                  <a:txBody>
                    <a:bodyPr/>
                    <a:lstStyle/>
                    <a:p>
                      <a:pPr algn="l"/>
                      <a:r>
                        <a:rPr sz="1000">
                          <a:solidFill>
                            <a:srgbClr val="F1F5F9"/>
                          </a:solidFill>
                          <a:latin typeface="Verdana"/>
                        </a:rPr>
                        <a:t>Client tự ý gửi thuộc tính "IsAdmin = true" để nâng quyền.</a:t>
                      </a:r>
                    </a:p>
                  </a:txBody>
                  <a:tcPr marL="76200" marR="76200" marT="50800" marB="50800">
                    <a:solidFill>
                      <a:srgbClr val="141E2D"/>
                    </a:solidFill>
                  </a:tcPr>
                </a:tc>
                <a:tc>
                  <a:txBody>
                    <a:bodyPr/>
                    <a:lstStyle/>
                    <a:p>
                      <a:pPr algn="l"/>
                      <a:r>
                        <a:rPr sz="1000">
                          <a:solidFill>
                            <a:srgbClr val="F1F5F9"/>
                          </a:solidFill>
                          <a:latin typeface="Verdana"/>
                        </a:rPr>
                        <a:t>Không bind trực tiếp Entity CSDL, lọc chặt đầu vào qua DTO.</a:t>
                      </a:r>
                    </a:p>
                  </a:txBody>
                  <a:tcPr marL="76200" marR="76200" marT="50800" marB="50800">
                    <a:solidFill>
                      <a:srgbClr val="141E2D"/>
                    </a:solidFill>
                  </a:tcPr>
                </a:tc>
                <a:extLst>
                  <a:ext uri="{0D108BD9-81ED-4DB2-BD59-A6C34878D82A}">
                    <a16:rowId xmlns:a16="http://schemas.microsoft.com/office/drawing/2014/main" val="10004"/>
                  </a:ext>
                </a:extLst>
              </a:tr>
              <a:tr h="670560">
                <a:tc>
                  <a:txBody>
                    <a:bodyPr/>
                    <a:lstStyle/>
                    <a:p>
                      <a:pPr algn="l"/>
                      <a:r>
                        <a:rPr sz="1000">
                          <a:solidFill>
                            <a:srgbClr val="F1F5F9"/>
                          </a:solidFill>
                          <a:latin typeface="Verdana"/>
                        </a:rPr>
                        <a:t>SQL Injection</a:t>
                      </a:r>
                    </a:p>
                  </a:txBody>
                  <a:tcPr marL="76200" marR="76200" marT="50800" marB="50800">
                    <a:solidFill>
                      <a:srgbClr val="0F172A"/>
                    </a:solidFill>
                  </a:tcPr>
                </a:tc>
                <a:tc>
                  <a:txBody>
                    <a:bodyPr/>
                    <a:lstStyle/>
                    <a:p>
                      <a:pPr algn="l"/>
                      <a:r>
                        <a:rPr sz="1000">
                          <a:solidFill>
                            <a:srgbClr val="F1F5F9"/>
                          </a:solidFill>
                          <a:latin typeface="Verdana"/>
                        </a:rPr>
                        <a:t>Chèn câu lệnh độc hại qua Query Parameter.</a:t>
                      </a:r>
                    </a:p>
                  </a:txBody>
                  <a:tcPr marL="76200" marR="76200" marT="50800" marB="50800">
                    <a:solidFill>
                      <a:srgbClr val="0F172A"/>
                    </a:solidFill>
                  </a:tcPr>
                </a:tc>
                <a:tc>
                  <a:txBody>
                    <a:bodyPr/>
                    <a:lstStyle/>
                    <a:p>
                      <a:pPr algn="l"/>
                      <a:r>
                        <a:rPr sz="1000">
                          <a:solidFill>
                            <a:srgbClr val="F1F5F9"/>
                          </a:solidFill>
                          <a:latin typeface="Verdana"/>
                        </a:rPr>
                        <a:t>Sử dụng Parameterized Query với Dapper. Tuyệt đối không cộng chuỗi SQL.</a:t>
                      </a:r>
                    </a:p>
                  </a:txBody>
                  <a:tcPr marL="76200" marR="76200" marT="50800" marB="50800">
                    <a:solidFill>
                      <a:srgbClr val="0F17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46 / 88</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4: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4: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Tại sao tuyệt đối không được lưu trữ thông tin nhạy cảm (Mật khẩu, Số thẻ tín dụng) vào phần Payload của JWT?</a:t>
            </a:r>
          </a:p>
          <a:p>
            <a:pPr>
              <a:spcAft>
                <a:spcPts val="1000"/>
              </a:spcAft>
              <a:defRPr sz="1300">
                <a:solidFill>
                  <a:srgbClr val="F1F5F9"/>
                </a:solidFill>
                <a:latin typeface="Verdana"/>
              </a:defRPr>
            </a:pPr>
            <a:r>
              <a:t>• Vai trò cốt lõi của Refresh Token là gì? Tại sao không kéo dài thời gian sống của Access Token lên 30 ngày?</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Xây dựng AuthController chứa API Register (sử dụng thư viện BCrypt.Net để băm mật khẩu 1 chiều an toàn).</a:t>
            </a:r>
          </a:p>
          <a:p>
            <a:pPr>
              <a:spcAft>
                <a:spcPts val="1000"/>
              </a:spcAft>
              <a:defRPr sz="1300">
                <a:solidFill>
                  <a:srgbClr val="F1F5F9"/>
                </a:solidFill>
                <a:latin typeface="Verdana"/>
              </a:defRPr>
            </a:pPr>
            <a:r>
              <a:t>✔ Phát triển Endpoint '/refresh' nhận Refresh Token cũ, kiểm tra tính hợp lệ dưới Database và cấp lại Access Token mới.</a:t>
            </a:r>
          </a:p>
          <a:p>
            <a:pPr>
              <a:spcAft>
                <a:spcPts val="1000"/>
              </a:spcAft>
              <a:defRPr sz="1300">
                <a:solidFill>
                  <a:srgbClr val="F1F5F9"/>
                </a:solidFill>
                <a:latin typeface="Verdana"/>
              </a:defRPr>
            </a:pPr>
            <a:r>
              <a:t>✔ Tích hợp cấu hình Swagger hỗ trợ gán Token Bearer trực tiếp.</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47 / 88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5</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QUẢN LÝ LỖI, LOGGING VÀ TỐI ƯU HIỆU NĂNG</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Triển khai xử lý lỗi tập trung theo chuẩn Problem Details. Ứng dụng Serilog ghi log cấu trúc, tối ưu hiệu năng với Redis Cache và giám sát Health Checks.</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48 / 88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ERROR HANDLING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Xử lý lỗi tập trung &amp; Chuẩn hóa Problem Details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Tại sao cần xử lý lỗi toàn cục?</a:t>
            </a:r>
          </a:p>
          <a:p>
            <a:pPr>
              <a:spcAft>
                <a:spcPts val="800"/>
              </a:spcAft>
              <a:defRPr sz="1300">
                <a:solidFill>
                  <a:srgbClr val="F1F5F9"/>
                </a:solidFill>
                <a:latin typeface="Verdana"/>
              </a:defRPr>
            </a:pPr>
            <a:r>
              <a:t>• Trong môi trường Production, việc để lộ nguyên văn lỗi hệ thống (StackTrace) gây phản cảm và rò rỉ rủi ro bảo mật.</a:t>
            </a:r>
          </a:p>
          <a:p>
            <a:pPr>
              <a:spcAft>
                <a:spcPts val="800"/>
              </a:spcAft>
              <a:defRPr sz="1300">
                <a:solidFill>
                  <a:srgbClr val="F1F5F9"/>
                </a:solidFill>
                <a:latin typeface="Verdana"/>
              </a:defRPr>
            </a:pPr>
            <a:r>
              <a:t>• Hệ thống cần bọc lỗi tập trung bằng Exception Middleware để che giấu mã lỗi kỹ thuật chi tiết.</a:t>
            </a:r>
          </a:p>
          <a:p>
            <a:pPr>
              <a:spcAft>
                <a:spcPts val="800"/>
              </a:spcAft>
              <a:defRPr sz="1300">
                <a:solidFill>
                  <a:srgbClr val="F1F5F9"/>
                </a:solidFill>
                <a:latin typeface="Verdana"/>
              </a:defRPr>
            </a:pPr>
            <a:r>
              <a:t>• Đảm bảo ứng dụng Web API luôn trả về cấu trúc lỗi đồng bộ nhất quán.</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Chuẩn hóa Problem Details (RFC 7807)</a:t>
            </a:r>
          </a:p>
          <a:p>
            <a:pPr>
              <a:spcAft>
                <a:spcPts val="800"/>
              </a:spcAft>
              <a:defRPr sz="1300">
                <a:solidFill>
                  <a:srgbClr val="F1F5F9"/>
                </a:solidFill>
                <a:latin typeface="Verdana"/>
              </a:defRPr>
            </a:pPr>
            <a:r>
              <a:t>• RFC 7807 định nghĩa chuẩn cấu trúc thông báo lỗi HTTP dành cho Web API.</a:t>
            </a:r>
          </a:p>
          <a:p>
            <a:pPr>
              <a:spcAft>
                <a:spcPts val="800"/>
              </a:spcAft>
              <a:defRPr sz="1300">
                <a:solidFill>
                  <a:srgbClr val="F1F5F9"/>
                </a:solidFill>
                <a:latin typeface="Verdana"/>
              </a:defRPr>
            </a:pPr>
            <a:r>
              <a:t>• Cấu trúc chứa các thuộc tính cốt lõi: StatusCode, Title (Tên nhóm lỗi), Detail (Mô tả), Instance (Đường dẫn gây lỗi).</a:t>
            </a:r>
          </a:p>
          <a:p>
            <a:pPr>
              <a:spcAft>
                <a:spcPts val="800"/>
              </a:spcAft>
              <a:defRPr sz="1300">
                <a:solidFill>
                  <a:srgbClr val="F1F5F9"/>
                </a:solidFill>
                <a:latin typeface="Verdana"/>
              </a:defRPr>
            </a:pPr>
            <a:r>
              <a:t>• Cấp kèm mã TraceId trùng khớp với hệ thống log của Server để hỗ trợ tra cứu lỗi.</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49 / 88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ERROR HANDLING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Xây dựng lớp phản hồi lỗi ErrorResponse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Định nghĩa cấu trúc dữ liệu phản hồi lỗi tuân thủ RFC 7807.</a:t>
            </a:r>
          </a:p>
          <a:p>
            <a:pPr>
              <a:spcAft>
                <a:spcPts val="800"/>
              </a:spcAft>
              <a:defRPr sz="1200">
                <a:solidFill>
                  <a:srgbClr val="F1F5F9"/>
                </a:solidFill>
                <a:latin typeface="Verdana"/>
              </a:defRPr>
            </a:pPr>
            <a:r>
              <a:t>• Timestamp hỗ trợ xác định thời điểm xảy ra lỗi bất ngờ.</a:t>
            </a:r>
          </a:p>
          <a:p>
            <a:pPr>
              <a:spcAft>
                <a:spcPts val="800"/>
              </a:spcAft>
              <a:defRPr sz="1200">
                <a:solidFill>
                  <a:srgbClr val="F1F5F9"/>
                </a:solidFill>
                <a:latin typeface="Verdana"/>
              </a:defRPr>
            </a:pPr>
            <a:r>
              <a:t>• Property PropertyNamingPolicy được cấu hình camelCase cho đồng bộ.</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public class ErrorResponse</a:t>
            </a:r>
          </a:p>
          <a:p>
            <a:pPr>
              <a:spcAft>
                <a:spcPts val="400"/>
              </a:spcAft>
              <a:defRPr sz="1100">
                <a:solidFill>
                  <a:srgbClr val="10B981"/>
                </a:solidFill>
                <a:latin typeface="Verdana"/>
              </a:defRPr>
            </a:pPr>
            <a:r>
              <a:t>✔ TraceId</a:t>
            </a:r>
          </a:p>
          <a:p>
            <a:pPr>
              <a:spcAft>
                <a:spcPts val="400"/>
              </a:spcAft>
              <a:defRPr sz="1100">
                <a:solidFill>
                  <a:srgbClr val="10B981"/>
                </a:solidFill>
                <a:latin typeface="Verdana"/>
              </a:defRPr>
            </a:pPr>
            <a:r>
              <a:t>✔ Timestamp</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class ErrorResponse</a:t>
            </a:r>
            <a:br/>
            <a:r>
              <a:t>{</a:t>
            </a:r>
            <a:br/>
            <a:r>
              <a:t>    public int StatusCode { get; set; }</a:t>
            </a:r>
            <a:br/>
            <a:r>
              <a:t>    public string Title { get; set; } = string.Empty;</a:t>
            </a:r>
            <a:br/>
            <a:r>
              <a:t>    public string Detail { get; set; } = string.Empty;</a:t>
            </a:r>
            <a:br/>
            <a:r>
              <a:t>    public string? Instance { get; set; }</a:t>
            </a:r>
            <a:br/>
            <a:r>
              <a:t>    public string? TraceId { get; set; }</a:t>
            </a:r>
            <a:br/>
            <a:r>
              <a:t>    public DateTime Timestamp { get; set; } = DateTime.UtcNow;</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50 / 88</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ERROR HANDLING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Triển khai Custom Exception Handler Middleware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Exception Middleware bắt mọi ngoại lệ phát sinh chưa xử lý trong vòng đời Request.</a:t>
            </a:r>
          </a:p>
          <a:p>
            <a:pPr>
              <a:spcAft>
                <a:spcPts val="800"/>
              </a:spcAft>
              <a:defRPr sz="1200">
                <a:solidFill>
                  <a:srgbClr val="F1F5F9"/>
                </a:solidFill>
                <a:latin typeface="Verdana"/>
              </a:defRPr>
            </a:pPr>
            <a:r>
              <a:t>• Logger thực hiện lưu trữ lỗi kèm vết StackTrace chi tiết.</a:t>
            </a:r>
          </a:p>
          <a:p>
            <a:pPr>
              <a:spcAft>
                <a:spcPts val="800"/>
              </a:spcAft>
              <a:defRPr sz="1200">
                <a:solidFill>
                  <a:srgbClr val="F1F5F9"/>
                </a:solidFill>
                <a:latin typeface="Verdana"/>
              </a:defRPr>
            </a:pPr>
            <a:r>
              <a:t>• Phân loại mã HTTP Status Code tương thích tự động.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try { await _next(context); }</a:t>
            </a:r>
          </a:p>
          <a:p>
            <a:pPr>
              <a:spcAft>
                <a:spcPts val="400"/>
              </a:spcAft>
              <a:defRPr sz="1100">
                <a:solidFill>
                  <a:srgbClr val="10B981"/>
                </a:solidFill>
                <a:latin typeface="Verdana"/>
              </a:defRPr>
            </a:pPr>
            <a:r>
              <a:t>✔ catch (Exception ex)</a:t>
            </a:r>
          </a:p>
          <a:p>
            <a:pPr>
              <a:spcAft>
                <a:spcPts val="400"/>
              </a:spcAft>
              <a:defRPr sz="1100">
                <a:solidFill>
                  <a:srgbClr val="10B981"/>
                </a:solidFill>
                <a:latin typeface="Verdana"/>
              </a:defRPr>
            </a:pPr>
            <a:r>
              <a:t>✔ TraceIdentifier</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class GlobalExceptionMiddleware {</a:t>
            </a:r>
            <a:br/>
            <a:r>
              <a:t>    private readonly RequestDelegate _next;</a:t>
            </a:r>
            <a:br/>
            <a:r>
              <a:t>    private readonly ILogger&lt;GlobalExceptionMiddleware&gt; _logger;</a:t>
            </a:r>
            <a:br/>
            <a:r>
              <a:t>    private readonly IHostEnvironment _env;</a:t>
            </a:r>
            <a:br/>
            <a:br/>
            <a:r>
              <a:t>    public GlobalExceptionMiddleware(RequestDelegate next, </a:t>
            </a:r>
            <a:br/>
            <a:r>
              <a:t>        ILogger&lt;GlobalExceptionMiddleware&gt; logger, IHostEnvironment env) {</a:t>
            </a:r>
            <a:br/>
            <a:r>
              <a:t>        _next = next; _logger = logger; _env = env;</a:t>
            </a:r>
            <a:br/>
            <a:r>
              <a:t>    }</a:t>
            </a:r>
            <a:br/>
            <a:br/>
            <a:r>
              <a:t>    public async Task InvokeAsync(HttpContext context) {</a:t>
            </a:r>
            <a:br/>
            <a:r>
              <a:t>        try { await _next(context); }</a:t>
            </a:r>
            <a:br/>
            <a:r>
              <a:t>        catch (Exception ex) {</a:t>
            </a:r>
            <a:br/>
            <a:r>
              <a:t>            var traceId = context.TraceIdentifier;</a:t>
            </a:r>
            <a:br/>
            <a:r>
              <a:t>            _logger.LogError(ex, "Lỗi hệ thống [TraceId: {TraceId}]: {Msg}", </a:t>
            </a:r>
            <a:br/>
            <a:r>
              <a:t>                traceId, ex.Message);</a:t>
            </a:r>
            <a:br/>
            <a:r>
              <a:t>            await HandleExceptionAsync(context, ex, traceId);</a:t>
            </a:r>
            <a:br/>
            <a:r>
              <a:t>        }</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51 / 88</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ERROR HANDLING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Đăng ký Middleware trong Request Pipeline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Phương thức HandleExceptionAsync thực hiện ghi trả trực tiếp chuỗi JSON lỗi.</a:t>
            </a:r>
          </a:p>
          <a:p>
            <a:pPr>
              <a:spcAft>
                <a:spcPts val="800"/>
              </a:spcAft>
              <a:defRPr sz="1200">
                <a:solidFill>
                  <a:srgbClr val="F1F5F9"/>
                </a:solidFill>
                <a:latin typeface="Verdana"/>
              </a:defRPr>
            </a:pPr>
            <a:r>
              <a:t>• Tự động ẩn thông tin chi tiết StackTrace nếu là môi trường Production.</a:t>
            </a:r>
          </a:p>
          <a:p>
            <a:pPr>
              <a:spcAft>
                <a:spcPts val="800"/>
              </a:spcAft>
              <a:defRPr sz="1200">
                <a:solidFill>
                  <a:srgbClr val="F1F5F9"/>
                </a:solidFill>
                <a:latin typeface="Verdana"/>
              </a:defRPr>
            </a:pPr>
            <a:r>
              <a:t>• Đăng ký Middleware ở vị trí đầu tiên trong Program.cs.</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context.Response.StatusCode =</a:t>
            </a:r>
          </a:p>
          <a:p>
            <a:pPr>
              <a:spcAft>
                <a:spcPts val="400"/>
              </a:spcAft>
              <a:defRPr sz="1100">
                <a:solidFill>
                  <a:srgbClr val="10B981"/>
                </a:solidFill>
                <a:latin typeface="Verdana"/>
              </a:defRPr>
            </a:pPr>
            <a:r>
              <a:t>✔ JsonSerializer.Serialize</a:t>
            </a:r>
          </a:p>
          <a:p>
            <a:pPr>
              <a:spcAft>
                <a:spcPts val="400"/>
              </a:spcAft>
              <a:defRPr sz="1100">
                <a:solidFill>
                  <a:srgbClr val="10B981"/>
                </a:solidFill>
                <a:latin typeface="Verdana"/>
              </a:defRPr>
            </a:pPr>
            <a:r>
              <a:t>✔ WriteAsync</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private Task HandleExceptionAsync(HttpContext context, Exception exception, string traceId) {</a:t>
            </a:r>
            <a:br/>
            <a:r>
              <a:t>    context.Response.ContentType = "application/json";</a:t>
            </a:r>
            <a:br/>
            <a:r>
              <a:t>    var response = new ErrorResponse {</a:t>
            </a:r>
            <a:br/>
            <a:r>
              <a:t>        Instance = context.Request.Path, TraceId = traceId</a:t>
            </a:r>
            <a:br/>
            <a:r>
              <a:t>    };</a:t>
            </a:r>
            <a:br/>
            <a:r>
              <a:t>    switch (exception) {</a:t>
            </a:r>
            <a:br/>
            <a:r>
              <a:t>        case KeyNotFoundException:</a:t>
            </a:r>
            <a:br/>
            <a:r>
              <a:t>            context.Response.StatusCode = 404;</a:t>
            </a:r>
            <a:br/>
            <a:r>
              <a:t>            response.Title = "Resource Not Found"; response.Detail = exception.Message;</a:t>
            </a:r>
            <a:br/>
            <a:r>
              <a:t>            break;</a:t>
            </a:r>
            <a:br/>
            <a:r>
              <a:t>        case ArgumentException:</a:t>
            </a:r>
            <a:br/>
            <a:r>
              <a:t>            context.Response.StatusCode = 400;</a:t>
            </a:r>
            <a:br/>
            <a:r>
              <a:t>            response.Title = "Bad Request"; response.Detail = exception.Message;</a:t>
            </a:r>
            <a:br/>
            <a:r>
              <a:t>            break;</a:t>
            </a:r>
            <a:br/>
            <a:r>
              <a:t>        default:</a:t>
            </a:r>
            <a:br/>
            <a:r>
              <a:t>            context.Response.StatusCode = 500;</a:t>
            </a:r>
            <a:br/>
            <a:r>
              <a:t>            response.Title = "Internal Server Error";</a:t>
            </a:r>
            <a:br/>
            <a:r>
              <a:t>            response.Detail = _env.IsDevelopment() ? exception.ToString() </a:t>
            </a:r>
            <a:br/>
            <a:r>
              <a:t>                : "Đã có lỗi hệ thống xảy ra. Vui lòng thử lại sau.";</a:t>
            </a:r>
            <a:br/>
            <a:r>
              <a:t>            break;</a:t>
            </a:r>
            <a:br/>
            <a:r>
              <a:t>    }</a:t>
            </a:r>
            <a:br/>
            <a:r>
              <a:t>    var json = JsonSerializer.Serialize(response, </a:t>
            </a:r>
            <a:br/>
            <a:r>
              <a:t>        new JsonSerializerOptions { PropertyNamingPolicy = JsonNamingPolicy.CamelCase });</a:t>
            </a:r>
            <a:br/>
            <a:r>
              <a:t>    return context.Response.WriteAsync(json);</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52 / 88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LOGGING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Structured Logging bằng Serilog vs Log truyền thống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Hạn chế của ghi Log dạng Text truyền thống</a:t>
            </a:r>
          </a:p>
          <a:p>
            <a:pPr>
              <a:spcAft>
                <a:spcPts val="800"/>
              </a:spcAft>
              <a:defRPr sz="1300">
                <a:solidFill>
                  <a:srgbClr val="F1F5F9"/>
                </a:solidFill>
                <a:latin typeface="Verdana"/>
              </a:defRPr>
            </a:pPr>
            <a:r>
              <a:t>• Console.WriteLine hay log chuỗi thô sinh ra hàng triệu dòng text vô cấu trúc.</a:t>
            </a:r>
          </a:p>
          <a:p>
            <a:pPr>
              <a:spcAft>
                <a:spcPts val="800"/>
              </a:spcAft>
              <a:defRPr sz="1300">
                <a:solidFill>
                  <a:srgbClr val="F1F5F9"/>
                </a:solidFill>
                <a:latin typeface="Verdana"/>
              </a:defRPr>
            </a:pPr>
            <a:r>
              <a:t>• Rất khó tra cứu, tìm kiếm hoặc nhóm các lỗi tương đồng khi hệ thống chạy ở quy mô lớn.</a:t>
            </a:r>
          </a:p>
          <a:p>
            <a:pPr>
              <a:spcAft>
                <a:spcPts val="800"/>
              </a:spcAft>
              <a:defRPr sz="1300">
                <a:solidFill>
                  <a:srgbClr val="F1F5F9"/>
                </a:solidFill>
                <a:latin typeface="Verdana"/>
              </a:defRPr>
            </a:pPr>
            <a:r>
              <a:t>• Không thể phân tích hoặc đẩy dữ liệu tự động vào các công cụ tìm kiếm tập trung (ElasticSearch, Splunk).</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Ưu thế của Structured Logging (Ghi log cấu trúc)</a:t>
            </a:r>
          </a:p>
          <a:p>
            <a:pPr>
              <a:spcAft>
                <a:spcPts val="800"/>
              </a:spcAft>
              <a:defRPr sz="1300">
                <a:solidFill>
                  <a:srgbClr val="F1F5F9"/>
                </a:solidFill>
                <a:latin typeface="Verdana"/>
              </a:defRPr>
            </a:pPr>
            <a:r>
              <a:t>• Serilog ghi log dưới dạng thực thể JSON chứa các tham số dạng cặp Key-Value.</a:t>
            </a:r>
          </a:p>
          <a:p>
            <a:pPr>
              <a:spcAft>
                <a:spcPts val="800"/>
              </a:spcAft>
              <a:defRPr sz="1300">
                <a:solidFill>
                  <a:srgbClr val="F1F5F9"/>
                </a:solidFill>
                <a:latin typeface="Verdana"/>
              </a:defRPr>
            </a:pPr>
            <a:r>
              <a:t>• Mỗi dòng log là một đối tượng có thuộc tính riêng biệt hỗ trợ câu lệnh truy vấn tìm kiếm chính xác.</a:t>
            </a:r>
          </a:p>
          <a:p>
            <a:pPr>
              <a:spcAft>
                <a:spcPts val="800"/>
              </a:spcAft>
              <a:defRPr sz="1300">
                <a:solidFill>
                  <a:srgbClr val="F1F5F9"/>
                </a:solidFill>
                <a:latin typeface="Verdana"/>
              </a:defRPr>
            </a:pPr>
            <a:r>
              <a:t>• Ví dụ: Có thể truy vấn lọc tất cả các lỗi có tham số 'ProductId = 10' chỉ trong vài giây.</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53 / 88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LOGGING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Khởi tạo và cấu hình Serilog trong Program.cs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Cài đặt Serilog.AspNetCore và Serilog.Sinks.File.</a:t>
            </a:r>
          </a:p>
          <a:p>
            <a:pPr>
              <a:spcAft>
                <a:spcPts val="800"/>
              </a:spcAft>
              <a:defRPr sz="1200">
                <a:solidFill>
                  <a:srgbClr val="F1F5F9"/>
                </a:solidFill>
                <a:latin typeface="Verdana"/>
              </a:defRPr>
            </a:pPr>
            <a:r>
              <a:t>• Cấu hình tính năng RollingInterval.Day giúp tự động tách file log mới hằng ngày.</a:t>
            </a:r>
          </a:p>
          <a:p>
            <a:pPr>
              <a:spcAft>
                <a:spcPts val="800"/>
              </a:spcAft>
              <a:defRPr sz="1200">
                <a:solidFill>
                  <a:srgbClr val="F1F5F9"/>
                </a:solidFill>
                <a:latin typeface="Verdana"/>
              </a:defRPr>
            </a:pPr>
            <a:r>
              <a:t>• Khai báo builder.Host.UseSerilog() để đồng bộ hóa toàn bộ logger hệ thống.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UseSerilog()</a:t>
            </a:r>
          </a:p>
          <a:p>
            <a:pPr>
              <a:spcAft>
                <a:spcPts val="400"/>
              </a:spcAft>
              <a:defRPr sz="1100">
                <a:solidFill>
                  <a:srgbClr val="10B981"/>
                </a:solidFill>
                <a:latin typeface="Verdana"/>
              </a:defRPr>
            </a:pPr>
            <a:r>
              <a:t>✔ rollingInterval</a:t>
            </a:r>
          </a:p>
          <a:p>
            <a:pPr>
              <a:spcAft>
                <a:spcPts val="400"/>
              </a:spcAft>
              <a:defRPr sz="1100">
                <a:solidFill>
                  <a:srgbClr val="10B981"/>
                </a:solidFill>
                <a:latin typeface="Verdana"/>
              </a:defRPr>
            </a:pPr>
            <a:r>
              <a:t>✔ UseSerilogRequestLogging()</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KHỞI TẠO LOGGER TẬP TRUNG NGAY TRONG Program.cs</a:t>
            </a:r>
            <a:br/>
            <a:r>
              <a:t>Log.Logger = new LoggerConfiguration()</a:t>
            </a:r>
            <a:br/>
            <a:r>
              <a:t>    .MinimumLevel.Information()</a:t>
            </a:r>
            <a:br/>
            <a:r>
              <a:t>    .WriteTo.Console()</a:t>
            </a:r>
            <a:br/>
            <a:r>
              <a:t>    .WriteTo.File("Logs/app_log_.txt", rollingInterval: RollingInterval.Day)</a:t>
            </a:r>
            <a:br/>
            <a:r>
              <a:t>    .CreateLogger();</a:t>
            </a:r>
            <a:br/>
            <a:br/>
            <a:r>
              <a:t>try {</a:t>
            </a:r>
            <a:br/>
            <a:r>
              <a:t>    Log.Information("Đang khởi động API Server...");</a:t>
            </a:r>
            <a:br/>
            <a:r>
              <a:t>    var builder = WebApplication.CreateBuilder(args);</a:t>
            </a:r>
            <a:br/>
            <a:r>
              <a:t>    </a:t>
            </a:r>
            <a:br/>
            <a:r>
              <a:t>    // 2. CHUYỂN LOGGER MẶC ĐỊNH SANG SERILOG</a:t>
            </a:r>
            <a:br/>
            <a:r>
              <a:t>    builder.Host.UseSerilog();</a:t>
            </a:r>
            <a:br/>
            <a:r>
              <a:t>    </a:t>
            </a:r>
            <a:br/>
            <a:r>
              <a:t>    var app = builder.Build();</a:t>
            </a:r>
            <a:br/>
            <a:r>
              <a:t>    app.UseSerilogRequestLogging(); // Tự động ghi nhận lịch sử HTTP Call</a:t>
            </a:r>
            <a:br/>
            <a:r>
              <a:t>    app.Run();</a:t>
            </a:r>
            <a:br/>
            <a:r>
              <a:t>} catch (Exception ex) {</a:t>
            </a:r>
            <a:br/>
            <a:r>
              <a:t>    Log.Fatal(ex, "Ứng dụng bị sập bất ngờ!");</a:t>
            </a:r>
            <a:br/>
            <a:r>
              <a:t>} finally {</a:t>
            </a:r>
            <a:br/>
            <a:r>
              <a:t>    Log.CloseAndFlush();</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54 / 88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LOGGING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Sử dụng Structured Logging trong Controller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G</a:t>
            </a:r>
          </a:p>
          <a:p>
            <a:pPr>
              <a:spcAft>
                <a:spcPts val="800"/>
              </a:spcAft>
              <a:defRPr sz="1200">
                <a:solidFill>
                  <a:srgbClr val="F1F5F9"/>
                </a:solidFill>
                <a:latin typeface="Verdana"/>
              </a:defRPr>
            </a:pPr>
            <a:r>
              <a:t>• h</a:t>
            </a:r>
          </a:p>
          <a:p>
            <a:pPr>
              <a:spcAft>
                <a:spcPts val="800"/>
              </a:spcAft>
              <a:defRPr sz="1200">
                <a:solidFill>
                  <a:srgbClr val="F1F5F9"/>
                </a:solidFill>
                <a:latin typeface="Verdana"/>
              </a:defRPr>
            </a:pPr>
            <a:r>
              <a:t>• i</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l</a:t>
            </a:r>
          </a:p>
          <a:p>
            <a:pPr>
              <a:spcAft>
                <a:spcPts val="800"/>
              </a:spcAft>
              <a:defRPr sz="1200">
                <a:solidFill>
                  <a:srgbClr val="F1F5F9"/>
                </a:solidFill>
                <a:latin typeface="Verdana"/>
              </a:defRPr>
            </a:pPr>
            <a:r>
              <a:t>• o</a:t>
            </a:r>
          </a:p>
          <a:p>
            <a:pPr>
              <a:spcAft>
                <a:spcPts val="800"/>
              </a:spcAft>
              <a:defRPr sz="1200">
                <a:solidFill>
                  <a:srgbClr val="F1F5F9"/>
                </a:solidFill>
                <a:latin typeface="Verdana"/>
              </a:defRPr>
            </a:pPr>
            <a:r>
              <a:t>• g</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c</a:t>
            </a:r>
          </a:p>
          <a:p>
            <a:pPr>
              <a:spcAft>
                <a:spcPts val="800"/>
              </a:spcAft>
              <a:defRPr sz="1200">
                <a:solidFill>
                  <a:srgbClr val="F1F5F9"/>
                </a:solidFill>
                <a:latin typeface="Verdana"/>
              </a:defRPr>
            </a:pPr>
            <a:r>
              <a:t>• ó</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c</a:t>
            </a:r>
          </a:p>
          <a:p>
            <a:pPr>
              <a:spcAft>
                <a:spcPts val="800"/>
              </a:spcAft>
              <a:defRPr sz="1200">
                <a:solidFill>
                  <a:srgbClr val="F1F5F9"/>
                </a:solidFill>
                <a:latin typeface="Verdana"/>
              </a:defRPr>
            </a:pPr>
            <a:r>
              <a:t>• ấ</a:t>
            </a:r>
          </a:p>
          <a:p>
            <a:pPr>
              <a:spcAft>
                <a:spcPts val="800"/>
              </a:spcAft>
              <a:defRPr sz="1200">
                <a:solidFill>
                  <a:srgbClr val="F1F5F9"/>
                </a:solidFill>
                <a:latin typeface="Verdana"/>
              </a:defRPr>
            </a:pPr>
            <a:r>
              <a:t>• u</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t</a:t>
            </a:r>
          </a:p>
          <a:p>
            <a:pPr>
              <a:spcAft>
                <a:spcPts val="800"/>
              </a:spcAft>
              <a:defRPr sz="1200">
                <a:solidFill>
                  <a:srgbClr val="F1F5F9"/>
                </a:solidFill>
                <a:latin typeface="Verdana"/>
              </a:defRPr>
            </a:pPr>
            <a:r>
              <a:t>• r</a:t>
            </a:r>
          </a:p>
          <a:p>
            <a:pPr>
              <a:spcAft>
                <a:spcPts val="800"/>
              </a:spcAft>
              <a:defRPr sz="1200">
                <a:solidFill>
                  <a:srgbClr val="F1F5F9"/>
                </a:solidFill>
                <a:latin typeface="Verdana"/>
              </a:defRPr>
            </a:pPr>
            <a:r>
              <a:t>• ú</a:t>
            </a:r>
          </a:p>
          <a:p>
            <a:pPr>
              <a:spcAft>
                <a:spcPts val="800"/>
              </a:spcAft>
              <a:defRPr sz="1200">
                <a:solidFill>
                  <a:srgbClr val="F1F5F9"/>
                </a:solidFill>
                <a:latin typeface="Verdana"/>
              </a:defRPr>
            </a:pPr>
            <a:r>
              <a:t>• c</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t</a:t>
            </a:r>
          </a:p>
          <a:p>
            <a:pPr>
              <a:spcAft>
                <a:spcPts val="800"/>
              </a:spcAft>
              <a:defRPr sz="1200">
                <a:solidFill>
                  <a:srgbClr val="F1F5F9"/>
                </a:solidFill>
                <a:latin typeface="Verdana"/>
              </a:defRPr>
            </a:pPr>
            <a:r>
              <a:t>• r</a:t>
            </a:r>
          </a:p>
          <a:p>
            <a:pPr>
              <a:spcAft>
                <a:spcPts val="800"/>
              </a:spcAft>
              <a:defRPr sz="1200">
                <a:solidFill>
                  <a:srgbClr val="F1F5F9"/>
                </a:solidFill>
                <a:latin typeface="Verdana"/>
              </a:defRPr>
            </a:pPr>
            <a:r>
              <a:t>• o</a:t>
            </a:r>
          </a:p>
          <a:p>
            <a:pPr>
              <a:spcAft>
                <a:spcPts val="800"/>
              </a:spcAft>
              <a:defRPr sz="1200">
                <a:solidFill>
                  <a:srgbClr val="F1F5F9"/>
                </a:solidFill>
                <a:latin typeface="Verdana"/>
              </a:defRPr>
            </a:pPr>
            <a:r>
              <a:t>• n</a:t>
            </a:r>
          </a:p>
          <a:p>
            <a:pPr>
              <a:spcAft>
                <a:spcPts val="800"/>
              </a:spcAft>
              <a:defRPr sz="1200">
                <a:solidFill>
                  <a:srgbClr val="F1F5F9"/>
                </a:solidFill>
                <a:latin typeface="Verdana"/>
              </a:defRPr>
            </a:pPr>
            <a:r>
              <a:t>• g</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C</a:t>
            </a:r>
          </a:p>
          <a:p>
            <a:pPr>
              <a:spcAft>
                <a:spcPts val="800"/>
              </a:spcAft>
              <a:defRPr sz="1200">
                <a:solidFill>
                  <a:srgbClr val="F1F5F9"/>
                </a:solidFill>
                <a:latin typeface="Verdana"/>
              </a:defRPr>
            </a:pPr>
            <a:r>
              <a:t>• o</a:t>
            </a:r>
          </a:p>
          <a:p>
            <a:pPr>
              <a:spcAft>
                <a:spcPts val="800"/>
              </a:spcAft>
              <a:defRPr sz="1200">
                <a:solidFill>
                  <a:srgbClr val="F1F5F9"/>
                </a:solidFill>
                <a:latin typeface="Verdana"/>
              </a:defRPr>
            </a:pPr>
            <a:r>
              <a:t>• n</a:t>
            </a:r>
          </a:p>
          <a:p>
            <a:pPr>
              <a:spcAft>
                <a:spcPts val="800"/>
              </a:spcAft>
              <a:defRPr sz="1200">
                <a:solidFill>
                  <a:srgbClr val="F1F5F9"/>
                </a:solidFill>
                <a:latin typeface="Verdana"/>
              </a:defRPr>
            </a:pPr>
            <a:r>
              <a:t>• t</a:t>
            </a:r>
          </a:p>
          <a:p>
            <a:pPr>
              <a:spcAft>
                <a:spcPts val="800"/>
              </a:spcAft>
              <a:defRPr sz="1200">
                <a:solidFill>
                  <a:srgbClr val="F1F5F9"/>
                </a:solidFill>
                <a:latin typeface="Verdana"/>
              </a:defRPr>
            </a:pPr>
            <a:r>
              <a:t>• r</a:t>
            </a:r>
          </a:p>
          <a:p>
            <a:pPr>
              <a:spcAft>
                <a:spcPts val="800"/>
              </a:spcAft>
              <a:defRPr sz="1200">
                <a:solidFill>
                  <a:srgbClr val="F1F5F9"/>
                </a:solidFill>
                <a:latin typeface="Verdana"/>
              </a:defRPr>
            </a:pPr>
            <a:r>
              <a:t>• o</a:t>
            </a:r>
          </a:p>
          <a:p>
            <a:pPr>
              <a:spcAft>
                <a:spcPts val="800"/>
              </a:spcAft>
              <a:defRPr sz="1200">
                <a:solidFill>
                  <a:srgbClr val="F1F5F9"/>
                </a:solidFill>
                <a:latin typeface="Verdana"/>
              </a:defRPr>
            </a:pPr>
            <a:r>
              <a:t>• l</a:t>
            </a:r>
          </a:p>
          <a:p>
            <a:pPr>
              <a:spcAft>
                <a:spcPts val="800"/>
              </a:spcAft>
              <a:defRPr sz="1200">
                <a:solidFill>
                  <a:srgbClr val="F1F5F9"/>
                </a:solidFill>
                <a:latin typeface="Verdana"/>
              </a:defRPr>
            </a:pPr>
            <a:r>
              <a:t>• l</a:t>
            </a:r>
          </a:p>
          <a:p>
            <a:pPr>
              <a:spcAft>
                <a:spcPts val="800"/>
              </a:spcAft>
              <a:defRPr sz="1200">
                <a:solidFill>
                  <a:srgbClr val="F1F5F9"/>
                </a:solidFill>
                <a:latin typeface="Verdana"/>
              </a:defRPr>
            </a:pPr>
            <a:r>
              <a:t>• e</a:t>
            </a:r>
          </a:p>
          <a:p>
            <a:pPr>
              <a:spcAft>
                <a:spcPts val="800"/>
              </a:spcAft>
              <a:defRPr sz="1200">
                <a:solidFill>
                  <a:srgbClr val="F1F5F9"/>
                </a:solidFill>
                <a:latin typeface="Verdana"/>
              </a:defRPr>
            </a:pPr>
            <a:r>
              <a:t>• r</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t</a:t>
            </a:r>
          </a:p>
          <a:p>
            <a:pPr>
              <a:spcAft>
                <a:spcPts val="800"/>
              </a:spcAft>
              <a:defRPr sz="1200">
                <a:solidFill>
                  <a:srgbClr val="F1F5F9"/>
                </a:solidFill>
                <a:latin typeface="Verdana"/>
              </a:defRPr>
            </a:pPr>
            <a:r>
              <a:t>• r</a:t>
            </a:r>
          </a:p>
          <a:p>
            <a:pPr>
              <a:spcAft>
                <a:spcPts val="800"/>
              </a:spcAft>
              <a:defRPr sz="1200">
                <a:solidFill>
                  <a:srgbClr val="F1F5F9"/>
                </a:solidFill>
                <a:latin typeface="Verdana"/>
              </a:defRPr>
            </a:pPr>
            <a:r>
              <a:t>• u</a:t>
            </a:r>
          </a:p>
          <a:p>
            <a:pPr>
              <a:spcAft>
                <a:spcPts val="800"/>
              </a:spcAft>
              <a:defRPr sz="1200">
                <a:solidFill>
                  <a:srgbClr val="F1F5F9"/>
                </a:solidFill>
                <a:latin typeface="Verdana"/>
              </a:defRPr>
            </a:pPr>
            <a:r>
              <a:t>• y</a:t>
            </a:r>
          </a:p>
          <a:p>
            <a:pPr>
              <a:spcAft>
                <a:spcPts val="800"/>
              </a:spcAft>
              <a:defRPr sz="1200">
                <a:solidFill>
                  <a:srgbClr val="F1F5F9"/>
                </a:solidFill>
                <a:latin typeface="Verdana"/>
              </a:defRPr>
            </a:pPr>
            <a:r>
              <a:t>• ề</a:t>
            </a:r>
          </a:p>
          <a:p>
            <a:pPr>
              <a:spcAft>
                <a:spcPts val="800"/>
              </a:spcAft>
              <a:defRPr sz="1200">
                <a:solidFill>
                  <a:srgbClr val="F1F5F9"/>
                </a:solidFill>
                <a:latin typeface="Verdana"/>
              </a:defRPr>
            </a:pPr>
            <a:r>
              <a:t>• n</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c</a:t>
            </a:r>
          </a:p>
          <a:p>
            <a:pPr>
              <a:spcAft>
                <a:spcPts val="800"/>
              </a:spcAft>
              <a:defRPr sz="1200">
                <a:solidFill>
                  <a:srgbClr val="F1F5F9"/>
                </a:solidFill>
                <a:latin typeface="Verdana"/>
              </a:defRPr>
            </a:pPr>
            <a:r>
              <a:t>• á</a:t>
            </a:r>
          </a:p>
          <a:p>
            <a:pPr>
              <a:spcAft>
                <a:spcPts val="800"/>
              </a:spcAft>
              <a:defRPr sz="1200">
                <a:solidFill>
                  <a:srgbClr val="F1F5F9"/>
                </a:solidFill>
                <a:latin typeface="Verdana"/>
              </a:defRPr>
            </a:pPr>
            <a:r>
              <a:t>• c</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t</a:t>
            </a:r>
          </a:p>
          <a:p>
            <a:pPr>
              <a:spcAft>
                <a:spcPts val="800"/>
              </a:spcAft>
              <a:defRPr sz="1200">
                <a:solidFill>
                  <a:srgbClr val="F1F5F9"/>
                </a:solidFill>
                <a:latin typeface="Verdana"/>
              </a:defRPr>
            </a:pPr>
            <a:r>
              <a:t>• h</a:t>
            </a:r>
          </a:p>
          <a:p>
            <a:pPr>
              <a:spcAft>
                <a:spcPts val="800"/>
              </a:spcAft>
              <a:defRPr sz="1200">
                <a:solidFill>
                  <a:srgbClr val="F1F5F9"/>
                </a:solidFill>
                <a:latin typeface="Verdana"/>
              </a:defRPr>
            </a:pPr>
            <a:r>
              <a:t>• a</a:t>
            </a:r>
          </a:p>
          <a:p>
            <a:pPr>
              <a:spcAft>
                <a:spcPts val="800"/>
              </a:spcAft>
              <a:defRPr sz="1200">
                <a:solidFill>
                  <a:srgbClr val="F1F5F9"/>
                </a:solidFill>
                <a:latin typeface="Verdana"/>
              </a:defRPr>
            </a:pPr>
            <a:r>
              <a:t>• m</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s</a:t>
            </a:r>
          </a:p>
          <a:p>
            <a:pPr>
              <a:spcAft>
                <a:spcPts val="800"/>
              </a:spcAft>
              <a:defRPr sz="1200">
                <a:solidFill>
                  <a:srgbClr val="F1F5F9"/>
                </a:solidFill>
                <a:latin typeface="Verdana"/>
              </a:defRPr>
            </a:pPr>
            <a:r>
              <a:t>• ố</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d</a:t>
            </a:r>
          </a:p>
          <a:p>
            <a:pPr>
              <a:spcAft>
                <a:spcPts val="800"/>
              </a:spcAft>
              <a:defRPr sz="1200">
                <a:solidFill>
                  <a:srgbClr val="F1F5F9"/>
                </a:solidFill>
                <a:latin typeface="Verdana"/>
              </a:defRPr>
            </a:pPr>
            <a:r>
              <a:t>• ạ</a:t>
            </a:r>
          </a:p>
          <a:p>
            <a:pPr>
              <a:spcAft>
                <a:spcPts val="800"/>
              </a:spcAft>
              <a:defRPr sz="1200">
                <a:solidFill>
                  <a:srgbClr val="F1F5F9"/>
                </a:solidFill>
                <a:latin typeface="Verdana"/>
              </a:defRPr>
            </a:pPr>
            <a:r>
              <a:t>• n</a:t>
            </a:r>
          </a:p>
          <a:p>
            <a:pPr>
              <a:spcAft>
                <a:spcPts val="800"/>
              </a:spcAft>
              <a:defRPr sz="1200">
                <a:solidFill>
                  <a:srgbClr val="F1F5F9"/>
                </a:solidFill>
                <a:latin typeface="Verdana"/>
              </a:defRPr>
            </a:pPr>
            <a:r>
              <a:t>• g</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K</a:t>
            </a:r>
          </a:p>
          <a:p>
            <a:pPr>
              <a:spcAft>
                <a:spcPts val="800"/>
              </a:spcAft>
              <a:defRPr sz="1200">
                <a:solidFill>
                  <a:srgbClr val="F1F5F9"/>
                </a:solidFill>
                <a:latin typeface="Verdana"/>
              </a:defRPr>
            </a:pPr>
            <a:r>
              <a:t>• e</a:t>
            </a:r>
          </a:p>
          <a:p>
            <a:pPr>
              <a:spcAft>
                <a:spcPts val="800"/>
              </a:spcAft>
              <a:defRPr sz="1200">
                <a:solidFill>
                  <a:srgbClr val="F1F5F9"/>
                </a:solidFill>
                <a:latin typeface="Verdana"/>
              </a:defRPr>
            </a:pPr>
            <a:r>
              <a:t>• y</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V</a:t>
            </a:r>
          </a:p>
          <a:p>
            <a:pPr>
              <a:spcAft>
                <a:spcPts val="800"/>
              </a:spcAft>
              <a:defRPr sz="1200">
                <a:solidFill>
                  <a:srgbClr val="F1F5F9"/>
                </a:solidFill>
                <a:latin typeface="Verdana"/>
              </a:defRPr>
            </a:pPr>
            <a:r>
              <a:t>• a</a:t>
            </a:r>
          </a:p>
          <a:p>
            <a:pPr>
              <a:spcAft>
                <a:spcPts val="800"/>
              </a:spcAft>
              <a:defRPr sz="1200">
                <a:solidFill>
                  <a:srgbClr val="F1F5F9"/>
                </a:solidFill>
                <a:latin typeface="Verdana"/>
              </a:defRPr>
            </a:pPr>
            <a:r>
              <a:t>• l</a:t>
            </a:r>
          </a:p>
          <a:p>
            <a:pPr>
              <a:spcAft>
                <a:spcPts val="800"/>
              </a:spcAft>
              <a:defRPr sz="1200">
                <a:solidFill>
                  <a:srgbClr val="F1F5F9"/>
                </a:solidFill>
                <a:latin typeface="Verdana"/>
              </a:defRPr>
            </a:pPr>
            <a:r>
              <a:t>• u</a:t>
            </a:r>
          </a:p>
          <a:p>
            <a:pPr>
              <a:spcAft>
                <a:spcPts val="800"/>
              </a:spcAft>
              <a:defRPr sz="1200">
                <a:solidFill>
                  <a:srgbClr val="F1F5F9"/>
                </a:solidFill>
                <a:latin typeface="Verdana"/>
              </a:defRPr>
            </a:pPr>
            <a:r>
              <a:t>• e</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đ</a:t>
            </a:r>
          </a:p>
          <a:p>
            <a:pPr>
              <a:spcAft>
                <a:spcPts val="800"/>
              </a:spcAft>
              <a:defRPr sz="1200">
                <a:solidFill>
                  <a:srgbClr val="F1F5F9"/>
                </a:solidFill>
                <a:latin typeface="Verdana"/>
              </a:defRPr>
            </a:pPr>
            <a:r>
              <a:t>• ể</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l</a:t>
            </a:r>
          </a:p>
          <a:p>
            <a:pPr>
              <a:spcAft>
                <a:spcPts val="800"/>
              </a:spcAft>
              <a:defRPr sz="1200">
                <a:solidFill>
                  <a:srgbClr val="F1F5F9"/>
                </a:solidFill>
                <a:latin typeface="Verdana"/>
              </a:defRPr>
            </a:pPr>
            <a:r>
              <a:t>• ư</a:t>
            </a:r>
          </a:p>
          <a:p>
            <a:pPr>
              <a:spcAft>
                <a:spcPts val="800"/>
              </a:spcAft>
              <a:defRPr sz="1200">
                <a:solidFill>
                  <a:srgbClr val="F1F5F9"/>
                </a:solidFill>
                <a:latin typeface="Verdana"/>
              </a:defRPr>
            </a:pPr>
            <a:r>
              <a:t>• u</a:t>
            </a:r>
          </a:p>
          <a:p>
            <a:pPr>
              <a:spcAft>
                <a:spcPts val="800"/>
              </a:spcAft>
              <a:defRPr sz="1200">
                <a:solidFill>
                  <a:srgbClr val="F1F5F9"/>
                </a:solidFill>
                <a:latin typeface="Verdana"/>
              </a:defRPr>
            </a:pPr>
            <a:r>
              <a:t>•  </a:t>
            </a:r>
          </a:p>
          <a:p>
            <a:pPr>
              <a:spcAft>
                <a:spcPts val="800"/>
              </a:spcAft>
              <a:defRPr sz="1200">
                <a:solidFill>
                  <a:srgbClr val="F1F5F9"/>
                </a:solidFill>
                <a:latin typeface="Verdana"/>
              </a:defRPr>
            </a:pPr>
            <a:r>
              <a:t>• t</a:t>
            </a:r>
          </a:p>
          <a:p>
            <a:pPr>
              <a:spcAft>
                <a:spcPts val="800"/>
              </a:spcAft>
              <a:defRPr sz="1200">
                <a:solidFill>
                  <a:srgbClr val="F1F5F9"/>
                </a:solidFill>
                <a:latin typeface="Verdana"/>
              </a:defRPr>
            </a:pPr>
            <a:r>
              <a:t>• r</a:t>
            </a:r>
          </a:p>
          <a:p>
            <a:pPr>
              <a:spcAft>
                <a:spcPts val="800"/>
              </a:spcAft>
              <a:defRPr sz="1200">
                <a:solidFill>
                  <a:srgbClr val="F1F5F9"/>
                </a:solidFill>
                <a:latin typeface="Verdana"/>
              </a:defRPr>
            </a:pPr>
            <a:r>
              <a:t>• ữ</a:t>
            </a:r>
          </a:p>
          <a:p>
            <a:pPr>
              <a:spcAft>
                <a:spcPts val="800"/>
              </a:spcAft>
              <a:defRPr sz="1200">
                <a:solidFill>
                  <a:srgbClr val="F1F5F9"/>
                </a:solidFill>
                <a:latin typeface="Verdana"/>
              </a:defRPr>
            </a:pPr>
            <a:r>
              <a:t>• .</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_logger.LogInformation()</a:t>
            </a:r>
          </a:p>
          <a:p>
            <a:pPr>
              <a:spcAft>
                <a:spcPts val="400"/>
              </a:spcAft>
              <a:defRPr sz="1100">
                <a:solidFill>
                  <a:srgbClr val="10B981"/>
                </a:solidFill>
                <a:latin typeface="Verdana"/>
              </a:defRPr>
            </a:pPr>
            <a:r>
              <a:t>✔ request.OrderId</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[HttpPost("process-order")]</a:t>
            </a:r>
            <a:br/>
            <a:r>
              <a:t>public IActionResult ProcessOrder([FromBody] OrderRequest request)</a:t>
            </a:r>
            <a:br/>
            <a:r>
              <a:t>{</a:t>
            </a:r>
            <a:br/>
            <a:r>
              <a:t>    // Cú pháp ghi log cấu trúc: Các biến {} tương khớp vị trí tham số truyền vào</a:t>
            </a:r>
            <a:br/>
            <a:r>
              <a:t>    _logger.LogInformation("Đang xử lý đơn hàng {OrderId} cho khách {CustomerId} với tiền {TotalAmount}", </a:t>
            </a:r>
            <a:br/>
            <a:r>
              <a:t>        request.OrderId, request.CustomerId, request.TotalAmount);</a:t>
            </a:r>
            <a:br/>
            <a:r>
              <a:t>        </a:t>
            </a:r>
            <a:br/>
            <a:r>
              <a:t>    // Dữ liệu trong file Log sẽ tự động ánh xạ cấu trúc JSON:</a:t>
            </a:r>
            <a:br/>
            <a:r>
              <a:t>    // { "OrderId": 125, "CustomerId": 10, "TotalAmount": 1500.0 }</a:t>
            </a:r>
            <a:br/>
            <a:r>
              <a:t>    </a:t>
            </a:r>
            <a:br/>
            <a:r>
              <a:t>    return Ok();</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55 / 88</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PERFORMANCE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Chiến lược Caching: In-Memory vs Redis Cache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So sánh các chiến lược Caching (Lưu tạm dữ liệu vào RAM) để tối ưu hóa hiệu năng truy vấn cho Web API.</a:t>
            </a:r>
          </a:p>
        </p:txBody>
      </p:sp>
      <p:graphicFrame>
        <p:nvGraphicFramePr>
          <p:cNvPr id="6" name="Table 5"/>
          <p:cNvGraphicFramePr>
            <a:graphicFrameLocks noGrp="1"/>
          </p:cNvGraphicFramePr>
          <p:nvPr/>
        </p:nvGraphicFramePr>
        <p:xfrm>
          <a:off x="685800" y="2011680"/>
          <a:ext cx="10820095" cy="4023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19295">
                  <a:extLst>
                    <a:ext uri="{9D8B030D-6E8A-4147-A177-3AD203B41FA5}">
                      <a16:colId xmlns:a16="http://schemas.microsoft.com/office/drawing/2014/main" val="20002"/>
                    </a:ext>
                  </a:extLst>
                </a:gridCol>
              </a:tblGrid>
              <a:tr h="670560">
                <a:tc>
                  <a:txBody>
                    <a:bodyPr/>
                    <a:lstStyle/>
                    <a:p>
                      <a:pPr algn="l"/>
                      <a:r>
                        <a:rPr sz="1100" b="1">
                          <a:solidFill>
                            <a:srgbClr val="38BDF8"/>
                          </a:solidFill>
                          <a:latin typeface="Verdana"/>
                        </a:rPr>
                        <a:t>Tiêu chí so sánh</a:t>
                      </a:r>
                    </a:p>
                  </a:txBody>
                  <a:tcPr marL="76200" marR="76200" marT="50800" marB="50800">
                    <a:solidFill>
                      <a:srgbClr val="1E293B"/>
                    </a:solidFill>
                  </a:tcPr>
                </a:tc>
                <a:tc>
                  <a:txBody>
                    <a:bodyPr/>
                    <a:lstStyle/>
                    <a:p>
                      <a:pPr algn="l"/>
                      <a:r>
                        <a:rPr sz="1100" b="1">
                          <a:solidFill>
                            <a:srgbClr val="38BDF8"/>
                          </a:solidFill>
                          <a:latin typeface="Verdana"/>
                        </a:rPr>
                        <a:t>In-Memory Cache (Bộ nhớ trong)</a:t>
                      </a:r>
                    </a:p>
                  </a:txBody>
                  <a:tcPr marL="76200" marR="76200" marT="50800" marB="50800">
                    <a:solidFill>
                      <a:srgbClr val="1E293B"/>
                    </a:solidFill>
                  </a:tcPr>
                </a:tc>
                <a:tc>
                  <a:txBody>
                    <a:bodyPr/>
                    <a:lstStyle/>
                    <a:p>
                      <a:pPr algn="l"/>
                      <a:r>
                        <a:rPr sz="1100" b="1">
                          <a:solidFill>
                            <a:srgbClr val="38BDF8"/>
                          </a:solidFill>
                          <a:latin typeface="Verdana"/>
                        </a:rPr>
                        <a:t>Distributed Redis Cache (Bộ nhớ phân tán)</a:t>
                      </a:r>
                    </a:p>
                  </a:txBody>
                  <a:tcPr marL="76200" marR="76200" marT="50800" marB="50800">
                    <a:solidFill>
                      <a:srgbClr val="1E293B"/>
                    </a:solidFill>
                  </a:tcPr>
                </a:tc>
                <a:extLst>
                  <a:ext uri="{0D108BD9-81ED-4DB2-BD59-A6C34878D82A}">
                    <a16:rowId xmlns:a16="http://schemas.microsoft.com/office/drawing/2014/main" val="10000"/>
                  </a:ext>
                </a:extLst>
              </a:tr>
              <a:tr h="670560">
                <a:tc>
                  <a:txBody>
                    <a:bodyPr/>
                    <a:lstStyle/>
                    <a:p>
                      <a:pPr algn="l"/>
                      <a:r>
                        <a:rPr sz="1000">
                          <a:solidFill>
                            <a:srgbClr val="F1F5F9"/>
                          </a:solidFill>
                          <a:latin typeface="Verdana"/>
                        </a:rPr>
                        <a:t>Vị trí lưu trữ thực tế</a:t>
                      </a:r>
                    </a:p>
                  </a:txBody>
                  <a:tcPr marL="76200" marR="76200" marT="50800" marB="50800">
                    <a:solidFill>
                      <a:srgbClr val="0F172A"/>
                    </a:solidFill>
                  </a:tcPr>
                </a:tc>
                <a:tc>
                  <a:txBody>
                    <a:bodyPr/>
                    <a:lstStyle/>
                    <a:p>
                      <a:pPr algn="l"/>
                      <a:r>
                        <a:rPr sz="1000">
                          <a:solidFill>
                            <a:srgbClr val="F1F5F9"/>
                          </a:solidFill>
                          <a:latin typeface="Verdana"/>
                        </a:rPr>
                        <a:t>Lưu trực tiếp trong RAM của ứng dụng Web API.</a:t>
                      </a:r>
                    </a:p>
                  </a:txBody>
                  <a:tcPr marL="76200" marR="76200" marT="50800" marB="50800">
                    <a:solidFill>
                      <a:srgbClr val="0F172A"/>
                    </a:solidFill>
                  </a:tcPr>
                </a:tc>
                <a:tc>
                  <a:txBody>
                    <a:bodyPr/>
                    <a:lstStyle/>
                    <a:p>
                      <a:pPr algn="l"/>
                      <a:r>
                        <a:rPr sz="1000">
                          <a:solidFill>
                            <a:srgbClr val="F1F5F9"/>
                          </a:solidFill>
                          <a:latin typeface="Verdana"/>
                        </a:rPr>
                        <a:t>Lưu trữ trên máy chủ Redis Cache tách biệt hoàn toàn.</a:t>
                      </a:r>
                    </a:p>
                  </a:txBody>
                  <a:tcPr marL="76200" marR="76200" marT="50800" marB="50800">
                    <a:solidFill>
                      <a:srgbClr val="0F172A"/>
                    </a:solidFill>
                  </a:tcPr>
                </a:tc>
                <a:extLst>
                  <a:ext uri="{0D108BD9-81ED-4DB2-BD59-A6C34878D82A}">
                    <a16:rowId xmlns:a16="http://schemas.microsoft.com/office/drawing/2014/main" val="10001"/>
                  </a:ext>
                </a:extLst>
              </a:tr>
              <a:tr h="670560">
                <a:tc>
                  <a:txBody>
                    <a:bodyPr/>
                    <a:lstStyle/>
                    <a:p>
                      <a:pPr algn="l"/>
                      <a:r>
                        <a:rPr sz="1000">
                          <a:solidFill>
                            <a:srgbClr val="F1F5F9"/>
                          </a:solidFill>
                          <a:latin typeface="Verdana"/>
                        </a:rPr>
                        <a:t>Tốc độ truy xuất</a:t>
                      </a:r>
                    </a:p>
                  </a:txBody>
                  <a:tcPr marL="76200" marR="76200" marT="50800" marB="50800">
                    <a:solidFill>
                      <a:srgbClr val="141E2D"/>
                    </a:solidFill>
                  </a:tcPr>
                </a:tc>
                <a:tc>
                  <a:txBody>
                    <a:bodyPr/>
                    <a:lstStyle/>
                    <a:p>
                      <a:pPr algn="l"/>
                      <a:r>
                        <a:rPr sz="1000">
                          <a:solidFill>
                            <a:srgbClr val="F1F5F9"/>
                          </a:solidFill>
                          <a:latin typeface="Verdana"/>
                        </a:rPr>
                        <a:t>Cực nhanh (Không tốn chi phí kết nối mạng).</a:t>
                      </a:r>
                    </a:p>
                  </a:txBody>
                  <a:tcPr marL="76200" marR="76200" marT="50800" marB="50800">
                    <a:solidFill>
                      <a:srgbClr val="141E2D"/>
                    </a:solidFill>
                  </a:tcPr>
                </a:tc>
                <a:tc>
                  <a:txBody>
                    <a:bodyPr/>
                    <a:lstStyle/>
                    <a:p>
                      <a:pPr algn="l"/>
                      <a:r>
                        <a:rPr sz="1000">
                          <a:solidFill>
                            <a:srgbClr val="F1F5F9"/>
                          </a:solidFill>
                          <a:latin typeface="Verdana"/>
                        </a:rPr>
                        <a:t>Rất nhanh (Tốn chút ít thời gian kết nối mạng TCP).</a:t>
                      </a:r>
                    </a:p>
                  </a:txBody>
                  <a:tcPr marL="76200" marR="76200" marT="50800" marB="50800">
                    <a:solidFill>
                      <a:srgbClr val="141E2D"/>
                    </a:solidFill>
                  </a:tcPr>
                </a:tc>
                <a:extLst>
                  <a:ext uri="{0D108BD9-81ED-4DB2-BD59-A6C34878D82A}">
                    <a16:rowId xmlns:a16="http://schemas.microsoft.com/office/drawing/2014/main" val="10002"/>
                  </a:ext>
                </a:extLst>
              </a:tr>
              <a:tr h="670560">
                <a:tc>
                  <a:txBody>
                    <a:bodyPr/>
                    <a:lstStyle/>
                    <a:p>
                      <a:pPr algn="l"/>
                      <a:r>
                        <a:rPr sz="1000">
                          <a:solidFill>
                            <a:srgbClr val="F1F5F9"/>
                          </a:solidFill>
                          <a:latin typeface="Verdana"/>
                        </a:rPr>
                        <a:t>Vấn đề Scale-out</a:t>
                      </a:r>
                    </a:p>
                  </a:txBody>
                  <a:tcPr marL="76200" marR="76200" marT="50800" marB="50800">
                    <a:solidFill>
                      <a:srgbClr val="0F172A"/>
                    </a:solidFill>
                  </a:tcPr>
                </a:tc>
                <a:tc>
                  <a:txBody>
                    <a:bodyPr/>
                    <a:lstStyle/>
                    <a:p>
                      <a:pPr algn="l"/>
                      <a:r>
                        <a:rPr sz="1000">
                          <a:solidFill>
                            <a:srgbClr val="F1F5F9"/>
                          </a:solidFill>
                          <a:latin typeface="Verdana"/>
                        </a:rPr>
                        <a:t>Không đồng bộ khi chạy nhiều instance server song song.</a:t>
                      </a:r>
                    </a:p>
                  </a:txBody>
                  <a:tcPr marL="76200" marR="76200" marT="50800" marB="50800">
                    <a:solidFill>
                      <a:srgbClr val="0F172A"/>
                    </a:solidFill>
                  </a:tcPr>
                </a:tc>
                <a:tc>
                  <a:txBody>
                    <a:bodyPr/>
                    <a:lstStyle/>
                    <a:p>
                      <a:pPr algn="l"/>
                      <a:r>
                        <a:rPr sz="1000">
                          <a:solidFill>
                            <a:srgbClr val="F1F5F9"/>
                          </a:solidFill>
                          <a:latin typeface="Verdana"/>
                        </a:rPr>
                        <a:t>Đồng bộ hoàn hảo, mọi instance dùng chung 1 kho Cache.</a:t>
                      </a:r>
                    </a:p>
                  </a:txBody>
                  <a:tcPr marL="76200" marR="76200" marT="50800" marB="50800">
                    <a:solidFill>
                      <a:srgbClr val="0F172A"/>
                    </a:solidFill>
                  </a:tcPr>
                </a:tc>
                <a:extLst>
                  <a:ext uri="{0D108BD9-81ED-4DB2-BD59-A6C34878D82A}">
                    <a16:rowId xmlns:a16="http://schemas.microsoft.com/office/drawing/2014/main" val="10003"/>
                  </a:ext>
                </a:extLst>
              </a:tr>
              <a:tr h="670560">
                <a:tc>
                  <a:txBody>
                    <a:bodyPr/>
                    <a:lstStyle/>
                    <a:p>
                      <a:pPr algn="l"/>
                      <a:r>
                        <a:rPr sz="1000">
                          <a:solidFill>
                            <a:srgbClr val="F1F5F9"/>
                          </a:solidFill>
                          <a:latin typeface="Verdana"/>
                        </a:rPr>
                        <a:t>Vấn đề Khởi động lại</a:t>
                      </a:r>
                    </a:p>
                  </a:txBody>
                  <a:tcPr marL="76200" marR="76200" marT="50800" marB="50800">
                    <a:solidFill>
                      <a:srgbClr val="141E2D"/>
                    </a:solidFill>
                  </a:tcPr>
                </a:tc>
                <a:tc>
                  <a:txBody>
                    <a:bodyPr/>
                    <a:lstStyle/>
                    <a:p>
                      <a:pPr algn="l"/>
                      <a:r>
                        <a:rPr sz="1000">
                          <a:solidFill>
                            <a:srgbClr val="F1F5F9"/>
                          </a:solidFill>
                          <a:latin typeface="Verdana"/>
                        </a:rPr>
                        <a:t>Mất sạch dữ liệu cache khi restart ứng dụng.</a:t>
                      </a:r>
                    </a:p>
                  </a:txBody>
                  <a:tcPr marL="76200" marR="76200" marT="50800" marB="50800">
                    <a:solidFill>
                      <a:srgbClr val="141E2D"/>
                    </a:solidFill>
                  </a:tcPr>
                </a:tc>
                <a:tc>
                  <a:txBody>
                    <a:bodyPr/>
                    <a:lstStyle/>
                    <a:p>
                      <a:pPr algn="l"/>
                      <a:r>
                        <a:rPr sz="1000">
                          <a:solidFill>
                            <a:srgbClr val="F1F5F9"/>
                          </a:solidFill>
                          <a:latin typeface="Verdana"/>
                        </a:rPr>
                        <a:t>Dữ liệu tồn tại bền bỉ do Redis lưu trữ độc lập.</a:t>
                      </a:r>
                    </a:p>
                  </a:txBody>
                  <a:tcPr marL="76200" marR="76200" marT="50800" marB="50800">
                    <a:solidFill>
                      <a:srgbClr val="141E2D"/>
                    </a:solidFill>
                  </a:tcPr>
                </a:tc>
                <a:extLst>
                  <a:ext uri="{0D108BD9-81ED-4DB2-BD59-A6C34878D82A}">
                    <a16:rowId xmlns:a16="http://schemas.microsoft.com/office/drawing/2014/main" val="10004"/>
                  </a:ext>
                </a:extLst>
              </a:tr>
              <a:tr h="670560">
                <a:tc>
                  <a:txBody>
                    <a:bodyPr/>
                    <a:lstStyle/>
                    <a:p>
                      <a:pPr algn="l"/>
                      <a:r>
                        <a:rPr sz="1000">
                          <a:solidFill>
                            <a:srgbClr val="F1F5F9"/>
                          </a:solidFill>
                          <a:latin typeface="Verdana"/>
                        </a:rPr>
                        <a:t>Trường hợp áp dụng</a:t>
                      </a:r>
                    </a:p>
                  </a:txBody>
                  <a:tcPr marL="76200" marR="76200" marT="50800" marB="50800">
                    <a:solidFill>
                      <a:srgbClr val="0F172A"/>
                    </a:solidFill>
                  </a:tcPr>
                </a:tc>
                <a:tc>
                  <a:txBody>
                    <a:bodyPr/>
                    <a:lstStyle/>
                    <a:p>
                      <a:pPr algn="l"/>
                      <a:r>
                        <a:rPr sz="1000">
                          <a:solidFill>
                            <a:srgbClr val="F1F5F9"/>
                          </a:solidFill>
                          <a:latin typeface="Verdana"/>
                        </a:rPr>
                        <a:t>Dữ liệu tĩnh ít đổi, dung lượng nhỏ (Tỉnh thành, Danh mục).</a:t>
                      </a:r>
                    </a:p>
                  </a:txBody>
                  <a:tcPr marL="76200" marR="76200" marT="50800" marB="50800">
                    <a:solidFill>
                      <a:srgbClr val="0F172A"/>
                    </a:solidFill>
                  </a:tcPr>
                </a:tc>
                <a:tc>
                  <a:txBody>
                    <a:bodyPr/>
                    <a:lstStyle/>
                    <a:p>
                      <a:pPr algn="l"/>
                      <a:r>
                        <a:rPr sz="1000">
                          <a:solidFill>
                            <a:srgbClr val="F1F5F9"/>
                          </a:solidFill>
                          <a:latin typeface="Verdana"/>
                        </a:rPr>
                        <a:t>Dữ liệu động quy mô lớn, hệ thống chạy cụm đa máy chủ.</a:t>
                      </a:r>
                    </a:p>
                  </a:txBody>
                  <a:tcPr marL="76200" marR="76200" marT="50800" marB="50800">
                    <a:solidFill>
                      <a:srgbClr val="0F17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56 / 88</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CACHING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hành nạp và sử dụng In-Memory Cache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Đăng ký builder.Services.AddMemoryCache() trong Program.cs.</a:t>
            </a:r>
          </a:p>
          <a:p>
            <a:pPr>
              <a:spcAft>
                <a:spcPts val="800"/>
              </a:spcAft>
              <a:defRPr sz="1200">
                <a:solidFill>
                  <a:srgbClr val="F1F5F9"/>
                </a:solidFill>
                <a:latin typeface="Verdana"/>
              </a:defRPr>
            </a:pPr>
            <a:r>
              <a:t>• Sử dụng AbsoluteExpiration (Hạn sống cố định) và SlidingExpiration (Tự gia hạn hạn sống nếu có người gọi).</a:t>
            </a:r>
          </a:p>
          <a:p>
            <a:pPr>
              <a:spcAft>
                <a:spcPts val="800"/>
              </a:spcAft>
              <a:defRPr sz="1200">
                <a:solidFill>
                  <a:srgbClr val="F1F5F9"/>
                </a:solidFill>
                <a:latin typeface="Verdana"/>
              </a:defRPr>
            </a:pPr>
            <a:r>
              <a:t>• Mẫu Cache-aside: Kiểm tra RAM -&gt; Thất bại -&gt; Đọc SQL -&gt; Lưu RAM.</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TryGetValue()</a:t>
            </a:r>
          </a:p>
          <a:p>
            <a:pPr>
              <a:spcAft>
                <a:spcPts val="400"/>
              </a:spcAft>
              <a:defRPr sz="1100">
                <a:solidFill>
                  <a:srgbClr val="10B981"/>
                </a:solidFill>
                <a:latin typeface="Verdana"/>
              </a:defRPr>
            </a:pPr>
            <a:r>
              <a:t>✔ MemoryCacheEntryOptions</a:t>
            </a:r>
          </a:p>
          <a:p>
            <a:pPr>
              <a:spcAft>
                <a:spcPts val="400"/>
              </a:spcAft>
              <a:defRPr sz="1100">
                <a:solidFill>
                  <a:srgbClr val="10B981"/>
                </a:solidFill>
                <a:latin typeface="Verdana"/>
              </a:defRPr>
            </a:pPr>
            <a:r>
              <a:t>✔ _cache.Set()</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[HttpGet]</a:t>
            </a:r>
            <a:br/>
            <a:r>
              <a:t>public async Task&lt;IActionResult&gt; GetCategories() {</a:t>
            </a:r>
            <a:br/>
            <a:r>
              <a:t>    string cacheKey = "all_categories";</a:t>
            </a:r>
            <a:br/>
            <a:r>
              <a:t>    </a:t>
            </a:r>
            <a:br/>
            <a:r>
              <a:t>    // Thử đọc dữ liệu từ RAM ứng dụng</a:t>
            </a:r>
            <a:br/>
            <a:r>
              <a:t>    if (!_cache.TryGetValue(cacheKey, out IEnumerable&lt;Category&gt;? categories)) {</a:t>
            </a:r>
            <a:br/>
            <a:r>
              <a:t>        // Cache Miss: Nếu chưa có, tiến hành đọc từ Database SQL Server</a:t>
            </a:r>
            <a:br/>
            <a:r>
              <a:t>        categories = await _repo.GetAllAsync();</a:t>
            </a:r>
            <a:br/>
            <a:r>
              <a:t>        </a:t>
            </a:r>
            <a:br/>
            <a:r>
              <a:t>        var cacheOptions = new MemoryCacheEntryOptions()</a:t>
            </a:r>
            <a:br/>
            <a:r>
              <a:t>            .SetAbsoluteExpiration(TimeSpan.FromMinutes(30)) // Sống tối đa 30p</a:t>
            </a:r>
            <a:br/>
            <a:r>
              <a:t>            .SetSlidingExpiration(TimeSpan.FromMinutes(5));  // Tự hủy nếu 5p không ai gọi</a:t>
            </a:r>
            <a:br/>
            <a:r>
              <a:t>            </a:t>
            </a:r>
            <a:br/>
            <a:r>
              <a:t>        _cache.Set(cacheKey, categories, cacheOptions); // Lưu dữ liệu lại vào RAM</a:t>
            </a:r>
            <a:br/>
            <a:r>
              <a:t>    }</a:t>
            </a:r>
            <a:br/>
            <a:r>
              <a:t>    return Ok(categories);</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57 / 88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CACHING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Triển khai Distributed Cache kết nối tới Redis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Cài đặt Package Microsoft.Extensions.Caching.StackExchangeRedis.</a:t>
            </a:r>
          </a:p>
          <a:p>
            <a:pPr>
              <a:spcAft>
                <a:spcPts val="800"/>
              </a:spcAft>
              <a:defRPr sz="1200">
                <a:solidFill>
                  <a:srgbClr val="F1F5F9"/>
                </a:solidFill>
                <a:latin typeface="Verdana"/>
              </a:defRPr>
            </a:pPr>
            <a:r>
              <a:t>• Cấu hình IDistributedCache thao tác dữ liệu dạng Byte hoặc String.</a:t>
            </a:r>
          </a:p>
          <a:p>
            <a:pPr>
              <a:spcAft>
                <a:spcPts val="800"/>
              </a:spcAft>
              <a:defRPr sz="1200">
                <a:solidFill>
                  <a:srgbClr val="F1F5F9"/>
                </a:solidFill>
                <a:latin typeface="Verdana"/>
              </a:defRPr>
            </a:pPr>
            <a:r>
              <a:t>• Thực hiện tuần tự hóa (Serialize) đối tượng sang chuỗi JSON để lưu trữ.</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AddStackExchangeRedisCache</a:t>
            </a:r>
          </a:p>
          <a:p>
            <a:pPr>
              <a:spcAft>
                <a:spcPts val="400"/>
              </a:spcAft>
              <a:defRPr sz="1100">
                <a:solidFill>
                  <a:srgbClr val="10B981"/>
                </a:solidFill>
                <a:latin typeface="Verdana"/>
              </a:defRPr>
            </a:pPr>
            <a:r>
              <a:t>✔ GetStringAsync</a:t>
            </a:r>
          </a:p>
          <a:p>
            <a:pPr>
              <a:spcAft>
                <a:spcPts val="400"/>
              </a:spcAft>
              <a:defRPr sz="1100">
                <a:solidFill>
                  <a:srgbClr val="10B981"/>
                </a:solidFill>
                <a:latin typeface="Verdana"/>
              </a:defRPr>
            </a:pPr>
            <a:r>
              <a:t>✔ SetStringAsync</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ĐĂNG KÝ TRONG Program.cs</a:t>
            </a:r>
            <a:br/>
            <a:r>
              <a:t>builder.Services.AddStackExchangeRedisCache(options =&gt; {</a:t>
            </a:r>
            <a:br/>
            <a:r>
              <a:t>    options.Configuration = builder.Configuration.GetConnectionString("RedisConnection");</a:t>
            </a:r>
            <a:br/>
            <a:r>
              <a:t>    options.InstanceName = "SalesApi_";</a:t>
            </a:r>
            <a:br/>
            <a:r>
              <a:t>});</a:t>
            </a:r>
            <a:br/>
            <a:br/>
            <a:r>
              <a:t>// 2. SỬ DỤNG TRONG SERVICE</a:t>
            </a:r>
            <a:br/>
            <a:r>
              <a:t>public async Task&lt;Product?&gt; GetProductByIdAsync(int id) {</a:t>
            </a:r>
            <a:br/>
            <a:r>
              <a:t>    string cacheKey = $"product_{id}";</a:t>
            </a:r>
            <a:br/>
            <a:r>
              <a:t>    var cachedData = await _redisCache.GetStringAsync(cacheKey); // Đọc từ Redis</a:t>
            </a:r>
            <a:br/>
            <a:r>
              <a:t>    </a:t>
            </a:r>
            <a:br/>
            <a:r>
              <a:t>    if (!string.IsNullOrEmpty(cachedData)) {</a:t>
            </a:r>
            <a:br/>
            <a:r>
              <a:t>        return JsonSerializer.Deserialize&lt;Product&gt;(cachedData); // Giải tuần tự hóa</a:t>
            </a:r>
            <a:br/>
            <a:r>
              <a:t>    }</a:t>
            </a:r>
            <a:br/>
            <a:r>
              <a:t>    </a:t>
            </a:r>
            <a:br/>
            <a:r>
              <a:t>    var product = await _repo.GetByIdAsync(id); // Đọc SQL</a:t>
            </a:r>
            <a:br/>
            <a:r>
              <a:t>    if (product != null) {</a:t>
            </a:r>
            <a:br/>
            <a:r>
              <a:t>        var options = new DistributedCacheEntryOptions {</a:t>
            </a:r>
            <a:br/>
            <a:r>
              <a:t>            AbsoluteExpirationRelativeToNow = TimeSpan.FromHours(1)</a:t>
            </a:r>
            <a:br/>
            <a:r>
              <a:t>        };</a:t>
            </a:r>
            <a:br/>
            <a:r>
              <a:t>        // Lưu lại vào Redis</a:t>
            </a:r>
            <a:br/>
            <a:r>
              <a:t>        await _redisCache.SetStringAsync(cacheKey, </a:t>
            </a:r>
            <a:br/>
            <a:r>
              <a:t>            JsonSerializer.Serialize(product), options);</a:t>
            </a:r>
            <a:br/>
            <a:r>
              <a:t>    }</a:t>
            </a:r>
            <a:br/>
            <a:r>
              <a:t>    return product;</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58 / 88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5: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5: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Sự khác biệt căn bản giữa In-Memory Cache và Redis Cache là gì? Khi nào bắt buộc phải sử dụng Redis?</a:t>
            </a:r>
          </a:p>
          <a:p>
            <a:pPr>
              <a:spcAft>
                <a:spcPts val="1000"/>
              </a:spcAft>
              <a:defRPr sz="1300">
                <a:solidFill>
                  <a:srgbClr val="F1F5F9"/>
                </a:solidFill>
                <a:latin typeface="Verdana"/>
              </a:defRPr>
            </a:pPr>
            <a:r>
              <a:t>• Tại sao nén Response Compression (Brotli/Gzip) lại vô cùng quan trọng đối với các API trả về khối lượng JSON lớn?</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Viết hoàn chỉnh GlobalExceptionMiddleware xử lý đồng bộ các lỗi nghiệp vụ riêng biệt để trả về mã 400, 401, 404.</a:t>
            </a:r>
          </a:p>
          <a:p>
            <a:pPr>
              <a:spcAft>
                <a:spcPts val="1000"/>
              </a:spcAft>
              <a:defRPr sz="1300">
                <a:solidFill>
                  <a:srgbClr val="F1F5F9"/>
                </a:solidFill>
                <a:latin typeface="Verdana"/>
              </a:defRPr>
            </a:pPr>
            <a:r>
              <a:t>✔ Phát triển Endpoint sử dụng cơ chế Cache Invalidation: Tự động xóa (Clear) Cache danh mục sản phẩm mỗi khi có một đơn hàng mới được tạo thành công.</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59 / 88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6</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KIẾN TRÚC ỨNG DỤNG VÀ HỆ THỐNG NÂNG CAO</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Thiết kế kiến trúc hệ thống chuyên nghiệp theo chuẩn Clean Architecture. Xây dựng YARP API Gateway, gRPC giao tiếp siêu tốc và container hóa bằng Docker Compose.</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60 / 88</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ARCHITECTURE DESIGN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Clean Architecture - Thiết kế mã nguồn Onion bền vững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Domain Layer (Lõi cốt lõi)</a:t>
            </a:r>
          </a:p>
          <a:p>
            <a:pPr>
              <a:spcAft>
                <a:spcPts val="600"/>
              </a:spcAft>
              <a:defRPr sz="1300">
                <a:solidFill>
                  <a:srgbClr val="F1F5F9"/>
                </a:solidFill>
                <a:latin typeface="Verdana"/>
              </a:defRPr>
            </a:pPr>
            <a:r>
              <a:t>Nằm ở vị trí trung tâm. Chứa Entities, Value Objects, Domain Logic bảo vệ tính nhất quán. Quy tắc tuyệt đối: Không phụ thuộc vào bất kỳ thư viện hay công nghệ hạ tầng nào ngoài.</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Application Layer (Nghiệp vụ)</a:t>
            </a:r>
          </a:p>
          <a:p>
            <a:pPr>
              <a:spcAft>
                <a:spcPts val="600"/>
              </a:spcAft>
              <a:defRPr sz="1300">
                <a:solidFill>
                  <a:srgbClr val="F1F5F9"/>
                </a:solidFill>
                <a:latin typeface="Verdana"/>
              </a:defRPr>
            </a:pPr>
            <a:r>
              <a:t>Chứa các Use Cases xử lý luồng công việc, DTOs truyền tải, Interfaces khai báo hành vi Repository. Chỉ phụ thuộc duy nhất vào Domain Layer.</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Infrastructure &amp; API Layer</a:t>
            </a:r>
          </a:p>
          <a:p>
            <a:pPr>
              <a:spcAft>
                <a:spcPts val="600"/>
              </a:spcAft>
              <a:defRPr sz="1300">
                <a:solidFill>
                  <a:srgbClr val="F1F5F9"/>
                </a:solidFill>
                <a:latin typeface="Verdana"/>
              </a:defRPr>
            </a:pPr>
            <a:r>
              <a:t>Tầng hạ tầng (Infrastructure) triển khai chi tiết các Interface (Dapper SQL, Redis, Mail). API Layer làm Entry Point nhận HTTP Request, điều hướng xử lý.</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61 / 88</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DOMAIN LOGIC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Thiết kế Domain Entity tự bảo vệ trạng thái</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Thực hành đóng gói dữ liệu (Encapsulation) tại Domain Layer.</a:t>
            </a:r>
          </a:p>
          <a:p>
            <a:pPr>
              <a:spcAft>
                <a:spcPts val="800"/>
              </a:spcAft>
              <a:defRPr sz="1200">
                <a:solidFill>
                  <a:srgbClr val="F1F5F9"/>
                </a:solidFill>
                <a:latin typeface="Verdana"/>
              </a:defRPr>
            </a:pPr>
            <a:r>
              <a:t>• Domain Entity chứa hàm dựng (Constructor) kiểm duyệt tính đúng đắn của thuộc tính.</a:t>
            </a:r>
          </a:p>
          <a:p>
            <a:pPr>
              <a:spcAft>
                <a:spcPts val="800"/>
              </a:spcAft>
              <a:defRPr sz="1200">
                <a:solidFill>
                  <a:srgbClr val="F1F5F9"/>
                </a:solidFill>
                <a:latin typeface="Verdana"/>
              </a:defRPr>
            </a:pPr>
            <a:r>
              <a:t>• Phương thức xử lý nội bộ tự bọc ngoại lệ nghiệp vụ.</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private set</a:t>
            </a:r>
          </a:p>
          <a:p>
            <a:pPr>
              <a:spcAft>
                <a:spcPts val="400"/>
              </a:spcAft>
              <a:defRPr sz="1100">
                <a:solidFill>
                  <a:srgbClr val="10B981"/>
                </a:solidFill>
                <a:latin typeface="Verdana"/>
              </a:defRPr>
            </a:pPr>
            <a:r>
              <a:t>✔ ReduceStock(int quantity)</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namespace MySalesSystem.Domain.Entities;</a:t>
            </a:r>
            <a:br/>
            <a:br/>
            <a:r>
              <a:t>public class Product</a:t>
            </a:r>
            <a:br/>
            <a:r>
              <a:t>{</a:t>
            </a:r>
            <a:br/>
            <a:r>
              <a:t>    public int Id { get; private set; }</a:t>
            </a:r>
            <a:br/>
            <a:r>
              <a:t>    public string Name { get; private set; } = string.Empty;</a:t>
            </a:r>
            <a:br/>
            <a:r>
              <a:t>    public decimal Price { get; private set; }</a:t>
            </a:r>
            <a:br/>
            <a:r>
              <a:t>    public int StockQuantity { get; private set; }</a:t>
            </a:r>
            <a:br/>
            <a:br/>
            <a:r>
              <a:t>    // Constructor tự đóng gói bảo vệ nghiệp vụ</a:t>
            </a:r>
            <a:br/>
            <a:r>
              <a:t>    public Product(string name, decimal price, int stockQuantity)</a:t>
            </a:r>
            <a:br/>
            <a:r>
              <a:t>    {</a:t>
            </a:r>
            <a:br/>
            <a:r>
              <a:t>        if (price &lt;= 0) </a:t>
            </a:r>
            <a:br/>
            <a:r>
              <a:t>            throw new ArgumentException("Giá sản phẩm phải lớn hơn 0");</a:t>
            </a:r>
            <a:br/>
            <a:r>
              <a:t>            </a:t>
            </a:r>
            <a:br/>
            <a:r>
              <a:t>        Name = name; Price = price; StockQuantity = stockQuantity;</a:t>
            </a:r>
            <a:br/>
            <a:r>
              <a:t>    }</a:t>
            </a:r>
            <a:br/>
            <a:br/>
            <a:r>
              <a:t>    public void ReduceStock(int quantity)</a:t>
            </a:r>
            <a:br/>
            <a:r>
              <a:t>    {</a:t>
            </a:r>
            <a:br/>
            <a:r>
              <a:t>        if (quantity &gt; StockQuantity) </a:t>
            </a:r>
            <a:br/>
            <a:r>
              <a:t>            throw new InvalidOperationException("Số lượng tồn kho không đủ.");</a:t>
            </a:r>
            <a:br/>
            <a:r>
              <a:t>            </a:t>
            </a:r>
            <a:br/>
            <a:r>
              <a:t>        StockQuantity -= quantity; // Tự cập nhật trạng thái nội bộ</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62 / 88</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ARCHITECTURE PATTERN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Kiến trúc Monolithic vs Microservices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Phân tích so sánh các đặc tính kỹ thuật quan trọng của hai mô hình kiến trúc phổ biến nhất hiện nay.</a:t>
            </a:r>
          </a:p>
        </p:txBody>
      </p:sp>
      <p:graphicFrame>
        <p:nvGraphicFramePr>
          <p:cNvPr id="6" name="Table 5"/>
          <p:cNvGraphicFramePr>
            <a:graphicFrameLocks noGrp="1"/>
          </p:cNvGraphicFramePr>
          <p:nvPr/>
        </p:nvGraphicFramePr>
        <p:xfrm>
          <a:off x="685800" y="2011680"/>
          <a:ext cx="10820095" cy="4023360"/>
        </p:xfrm>
        <a:graphic>
          <a:graphicData uri="http://schemas.openxmlformats.org/drawingml/2006/table">
            <a:tbl>
              <a:tblPr firstRow="1" bandRow="1">
                <a:tableStyleId>{5C22544A-7EE6-4342-B048-85BDC9FD1C3A}</a:tableStyleId>
              </a:tblPr>
              <a:tblGrid>
                <a:gridCol w="2133295">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70560">
                <a:tc>
                  <a:txBody>
                    <a:bodyPr/>
                    <a:lstStyle/>
                    <a:p>
                      <a:pPr algn="l"/>
                      <a:r>
                        <a:rPr sz="1100" b="1">
                          <a:solidFill>
                            <a:srgbClr val="38BDF8"/>
                          </a:solidFill>
                          <a:latin typeface="Verdana"/>
                        </a:rPr>
                        <a:t>Tiêu chí so sánh</a:t>
                      </a:r>
                    </a:p>
                  </a:txBody>
                  <a:tcPr marL="76200" marR="76200" marT="50800" marB="50800">
                    <a:solidFill>
                      <a:srgbClr val="1E293B"/>
                    </a:solidFill>
                  </a:tcPr>
                </a:tc>
                <a:tc>
                  <a:txBody>
                    <a:bodyPr/>
                    <a:lstStyle/>
                    <a:p>
                      <a:pPr algn="l"/>
                      <a:r>
                        <a:rPr sz="1100" b="1">
                          <a:solidFill>
                            <a:srgbClr val="38BDF8"/>
                          </a:solidFill>
                          <a:latin typeface="Verdana"/>
                        </a:rPr>
                        <a:t>Monolithic (Khối đồng nhất)</a:t>
                      </a:r>
                    </a:p>
                  </a:txBody>
                  <a:tcPr marL="76200" marR="76200" marT="50800" marB="50800">
                    <a:solidFill>
                      <a:srgbClr val="1E293B"/>
                    </a:solidFill>
                  </a:tcPr>
                </a:tc>
                <a:tc>
                  <a:txBody>
                    <a:bodyPr/>
                    <a:lstStyle/>
                    <a:p>
                      <a:pPr algn="l"/>
                      <a:r>
                        <a:rPr sz="1100" b="1">
                          <a:solidFill>
                            <a:srgbClr val="38BDF8"/>
                          </a:solidFill>
                          <a:latin typeface="Verdana"/>
                        </a:rPr>
                        <a:t>Microservices (Dịch vụ nhỏ)</a:t>
                      </a:r>
                    </a:p>
                  </a:txBody>
                  <a:tcPr marL="76200" marR="76200" marT="50800" marB="50800">
                    <a:solidFill>
                      <a:srgbClr val="1E293B"/>
                    </a:solidFill>
                  </a:tcPr>
                </a:tc>
                <a:extLst>
                  <a:ext uri="{0D108BD9-81ED-4DB2-BD59-A6C34878D82A}">
                    <a16:rowId xmlns:a16="http://schemas.microsoft.com/office/drawing/2014/main" val="10000"/>
                  </a:ext>
                </a:extLst>
              </a:tr>
              <a:tr h="670560">
                <a:tc>
                  <a:txBody>
                    <a:bodyPr/>
                    <a:lstStyle/>
                    <a:p>
                      <a:pPr algn="l"/>
                      <a:r>
                        <a:rPr sz="1000">
                          <a:solidFill>
                            <a:srgbClr val="F1F5F9"/>
                          </a:solidFill>
                          <a:latin typeface="Verdana"/>
                        </a:rPr>
                        <a:t>Độ phức tạp ban đầu</a:t>
                      </a:r>
                    </a:p>
                  </a:txBody>
                  <a:tcPr marL="76200" marR="76200" marT="50800" marB="50800">
                    <a:solidFill>
                      <a:srgbClr val="0F172A"/>
                    </a:solidFill>
                  </a:tcPr>
                </a:tc>
                <a:tc>
                  <a:txBody>
                    <a:bodyPr/>
                    <a:lstStyle/>
                    <a:p>
                      <a:pPr algn="l"/>
                      <a:r>
                        <a:rPr sz="1000">
                          <a:solidFill>
                            <a:srgbClr val="F1F5F9"/>
                          </a:solidFill>
                          <a:latin typeface="Verdana"/>
                        </a:rPr>
                        <a:t>Thấp, dễ dàng phát triển, kiểm thử &amp; triển khai.</a:t>
                      </a:r>
                    </a:p>
                  </a:txBody>
                  <a:tcPr marL="76200" marR="76200" marT="50800" marB="50800">
                    <a:solidFill>
                      <a:srgbClr val="0F172A"/>
                    </a:solidFill>
                  </a:tcPr>
                </a:tc>
                <a:tc>
                  <a:txBody>
                    <a:bodyPr/>
                    <a:lstStyle/>
                    <a:p>
                      <a:pPr algn="l"/>
                      <a:r>
                        <a:rPr sz="1000">
                          <a:solidFill>
                            <a:srgbClr val="F1F5F9"/>
                          </a:solidFill>
                          <a:latin typeface="Verdana"/>
                        </a:rPr>
                        <a:t>Rất cao, đòi hỏi kiến thức sâu về DevOps, Docker.</a:t>
                      </a:r>
                    </a:p>
                  </a:txBody>
                  <a:tcPr marL="76200" marR="76200" marT="50800" marB="50800">
                    <a:solidFill>
                      <a:srgbClr val="0F172A"/>
                    </a:solidFill>
                  </a:tcPr>
                </a:tc>
                <a:extLst>
                  <a:ext uri="{0D108BD9-81ED-4DB2-BD59-A6C34878D82A}">
                    <a16:rowId xmlns:a16="http://schemas.microsoft.com/office/drawing/2014/main" val="10001"/>
                  </a:ext>
                </a:extLst>
              </a:tr>
              <a:tr h="670560">
                <a:tc>
                  <a:txBody>
                    <a:bodyPr/>
                    <a:lstStyle/>
                    <a:p>
                      <a:pPr algn="l"/>
                      <a:r>
                        <a:rPr sz="1000">
                          <a:solidFill>
                            <a:srgbClr val="F1F5F9"/>
                          </a:solidFill>
                          <a:latin typeface="Verdana"/>
                        </a:rPr>
                        <a:t>Cơ sở dữ liệu</a:t>
                      </a:r>
                    </a:p>
                  </a:txBody>
                  <a:tcPr marL="76200" marR="76200" marT="50800" marB="50800">
                    <a:solidFill>
                      <a:srgbClr val="141E2D"/>
                    </a:solidFill>
                  </a:tcPr>
                </a:tc>
                <a:tc>
                  <a:txBody>
                    <a:bodyPr/>
                    <a:lstStyle/>
                    <a:p>
                      <a:pPr algn="l"/>
                      <a:r>
                        <a:rPr sz="1000">
                          <a:solidFill>
                            <a:srgbClr val="F1F5F9"/>
                          </a:solidFill>
                          <a:latin typeface="Verdana"/>
                        </a:rPr>
                        <a:t>Một Cơ sở dữ liệu tập trung duy nhất.</a:t>
                      </a:r>
                    </a:p>
                  </a:txBody>
                  <a:tcPr marL="76200" marR="76200" marT="50800" marB="50800">
                    <a:solidFill>
                      <a:srgbClr val="141E2D"/>
                    </a:solidFill>
                  </a:tcPr>
                </a:tc>
                <a:tc>
                  <a:txBody>
                    <a:bodyPr/>
                    <a:lstStyle/>
                    <a:p>
                      <a:pPr algn="l"/>
                      <a:r>
                        <a:rPr sz="1000">
                          <a:solidFill>
                            <a:srgbClr val="F1F5F9"/>
                          </a:solidFill>
                          <a:latin typeface="Verdana"/>
                        </a:rPr>
                        <a:t>Mỗi dịch vụ sở hữu CSDL riêng biệt (Database-per-service).</a:t>
                      </a:r>
                    </a:p>
                  </a:txBody>
                  <a:tcPr marL="76200" marR="76200" marT="50800" marB="50800">
                    <a:solidFill>
                      <a:srgbClr val="141E2D"/>
                    </a:solidFill>
                  </a:tcPr>
                </a:tc>
                <a:extLst>
                  <a:ext uri="{0D108BD9-81ED-4DB2-BD59-A6C34878D82A}">
                    <a16:rowId xmlns:a16="http://schemas.microsoft.com/office/drawing/2014/main" val="10002"/>
                  </a:ext>
                </a:extLst>
              </a:tr>
              <a:tr h="670560">
                <a:tc>
                  <a:txBody>
                    <a:bodyPr/>
                    <a:lstStyle/>
                    <a:p>
                      <a:pPr algn="l"/>
                      <a:r>
                        <a:rPr sz="1000">
                          <a:solidFill>
                            <a:srgbClr val="F1F5F9"/>
                          </a:solidFill>
                          <a:latin typeface="Verdana"/>
                        </a:rPr>
                        <a:t>Khả năng mở rộng (Scale)</a:t>
                      </a:r>
                    </a:p>
                  </a:txBody>
                  <a:tcPr marL="76200" marR="76200" marT="50800" marB="50800">
                    <a:solidFill>
                      <a:srgbClr val="0F172A"/>
                    </a:solidFill>
                  </a:tcPr>
                </a:tc>
                <a:tc>
                  <a:txBody>
                    <a:bodyPr/>
                    <a:lstStyle/>
                    <a:p>
                      <a:pPr algn="l"/>
                      <a:r>
                        <a:rPr sz="1000">
                          <a:solidFill>
                            <a:srgbClr val="F1F5F9"/>
                          </a:solidFill>
                          <a:latin typeface="Verdana"/>
                        </a:rPr>
                        <a:t>Scale toàn bộ ứng dụng (gây lãng phí tài nguyên).</a:t>
                      </a:r>
                    </a:p>
                  </a:txBody>
                  <a:tcPr marL="76200" marR="76200" marT="50800" marB="50800">
                    <a:solidFill>
                      <a:srgbClr val="0F172A"/>
                    </a:solidFill>
                  </a:tcPr>
                </a:tc>
                <a:tc>
                  <a:txBody>
                    <a:bodyPr/>
                    <a:lstStyle/>
                    <a:p>
                      <a:pPr algn="l"/>
                      <a:r>
                        <a:rPr sz="1000">
                          <a:solidFill>
                            <a:srgbClr val="F1F5F9"/>
                          </a:solidFill>
                          <a:latin typeface="Verdana"/>
                        </a:rPr>
                        <a:t>Chỉ mở rộng đúng service đang chịu tải nặng (tối ưu chi phí).</a:t>
                      </a:r>
                    </a:p>
                  </a:txBody>
                  <a:tcPr marL="76200" marR="76200" marT="50800" marB="50800">
                    <a:solidFill>
                      <a:srgbClr val="0F172A"/>
                    </a:solidFill>
                  </a:tcPr>
                </a:tc>
                <a:extLst>
                  <a:ext uri="{0D108BD9-81ED-4DB2-BD59-A6C34878D82A}">
                    <a16:rowId xmlns:a16="http://schemas.microsoft.com/office/drawing/2014/main" val="10003"/>
                  </a:ext>
                </a:extLst>
              </a:tr>
              <a:tr h="670560">
                <a:tc>
                  <a:txBody>
                    <a:bodyPr/>
                    <a:lstStyle/>
                    <a:p>
                      <a:pPr algn="l"/>
                      <a:r>
                        <a:rPr sz="1000">
                          <a:solidFill>
                            <a:srgbClr val="F1F5F9"/>
                          </a:solidFill>
                          <a:latin typeface="Verdana"/>
                        </a:rPr>
                        <a:t>Khả năng cô lập lỗi</a:t>
                      </a:r>
                    </a:p>
                  </a:txBody>
                  <a:tcPr marL="76200" marR="76200" marT="50800" marB="50800">
                    <a:solidFill>
                      <a:srgbClr val="141E2D"/>
                    </a:solidFill>
                  </a:tcPr>
                </a:tc>
                <a:tc>
                  <a:txBody>
                    <a:bodyPr/>
                    <a:lstStyle/>
                    <a:p>
                      <a:pPr algn="l"/>
                      <a:r>
                        <a:rPr sz="1000">
                          <a:solidFill>
                            <a:srgbClr val="F1F5F9"/>
                          </a:solidFill>
                          <a:latin typeface="Verdana"/>
                        </a:rPr>
                        <a:t>Một lỗi nghiêm trọng có thể làm sập toàn bộ hệ thống.</a:t>
                      </a:r>
                    </a:p>
                  </a:txBody>
                  <a:tcPr marL="76200" marR="76200" marT="50800" marB="50800">
                    <a:solidFill>
                      <a:srgbClr val="141E2D"/>
                    </a:solidFill>
                  </a:tcPr>
                </a:tc>
                <a:tc>
                  <a:txBody>
                    <a:bodyPr/>
                    <a:lstStyle/>
                    <a:p>
                      <a:pPr algn="l"/>
                      <a:r>
                        <a:rPr sz="1000">
                          <a:solidFill>
                            <a:srgbClr val="F1F5F9"/>
                          </a:solidFill>
                          <a:latin typeface="Verdana"/>
                        </a:rPr>
                        <a:t>Một service gặp sự cố không gây ảnh hưởng tới service khác.</a:t>
                      </a:r>
                    </a:p>
                  </a:txBody>
                  <a:tcPr marL="76200" marR="76200" marT="50800" marB="50800">
                    <a:solidFill>
                      <a:srgbClr val="141E2D"/>
                    </a:solidFill>
                  </a:tcPr>
                </a:tc>
                <a:extLst>
                  <a:ext uri="{0D108BD9-81ED-4DB2-BD59-A6C34878D82A}">
                    <a16:rowId xmlns:a16="http://schemas.microsoft.com/office/drawing/2014/main" val="10004"/>
                  </a:ext>
                </a:extLst>
              </a:tr>
              <a:tr h="670560">
                <a:tc>
                  <a:txBody>
                    <a:bodyPr/>
                    <a:lstStyle/>
                    <a:p>
                      <a:pPr algn="l"/>
                      <a:r>
                        <a:rPr sz="1000">
                          <a:solidFill>
                            <a:srgbClr val="F1F5F9"/>
                          </a:solidFill>
                          <a:latin typeface="Verdana"/>
                        </a:rPr>
                        <a:t>Quy mô đội nhóm phù hợp</a:t>
                      </a:r>
                    </a:p>
                  </a:txBody>
                  <a:tcPr marL="76200" marR="76200" marT="50800" marB="50800">
                    <a:solidFill>
                      <a:srgbClr val="0F172A"/>
                    </a:solidFill>
                  </a:tcPr>
                </a:tc>
                <a:tc>
                  <a:txBody>
                    <a:bodyPr/>
                    <a:lstStyle/>
                    <a:p>
                      <a:pPr algn="l"/>
                      <a:r>
                        <a:rPr sz="1000">
                          <a:solidFill>
                            <a:srgbClr val="F1F5F9"/>
                          </a:solidFill>
                          <a:latin typeface="Verdana"/>
                        </a:rPr>
                        <a:t>Đội ngũ vừa và nhỏ dưới 15 nhà phát triển.</a:t>
                      </a:r>
                    </a:p>
                  </a:txBody>
                  <a:tcPr marL="76200" marR="76200" marT="50800" marB="50800">
                    <a:solidFill>
                      <a:srgbClr val="0F172A"/>
                    </a:solidFill>
                  </a:tcPr>
                </a:tc>
                <a:tc>
                  <a:txBody>
                    <a:bodyPr/>
                    <a:lstStyle/>
                    <a:p>
                      <a:pPr algn="l"/>
                      <a:r>
                        <a:rPr sz="1000">
                          <a:solidFill>
                            <a:srgbClr val="F1F5F9"/>
                          </a:solidFill>
                          <a:latin typeface="Verdana"/>
                        </a:rPr>
                        <a:t>Hệ thống khổng lồ, chia nhiều nhóm tự trị độc lập.</a:t>
                      </a:r>
                    </a:p>
                  </a:txBody>
                  <a:tcPr marL="76200" marR="76200" marT="50800" marB="50800">
                    <a:solidFill>
                      <a:srgbClr val="0F17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63 / 88</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COMMUNICATION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Tránh lỗi Socket Exhaustion với IHttpClientFactory</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Khởi tạo thủ công 'new HttpClient()' gây rò rỉ Socket do kết nối đóng chậm (TIME_WAIT).</a:t>
            </a:r>
          </a:p>
          <a:p>
            <a:pPr>
              <a:spcAft>
                <a:spcPts val="800"/>
              </a:spcAft>
              <a:defRPr sz="1200">
                <a:solidFill>
                  <a:srgbClr val="F1F5F9"/>
                </a:solidFill>
                <a:latin typeface="Verdana"/>
              </a:defRPr>
            </a:pPr>
            <a:r>
              <a:t>• IHttpClientFactory quản lý tập trung và tái sử dụng các kết nối Http Clients tối ưu.</a:t>
            </a:r>
          </a:p>
          <a:p>
            <a:pPr>
              <a:spcAft>
                <a:spcPts val="800"/>
              </a:spcAft>
              <a:defRPr sz="1200">
                <a:solidFill>
                  <a:srgbClr val="F1F5F9"/>
                </a:solidFill>
                <a:latin typeface="Verdana"/>
              </a:defRPr>
            </a:pPr>
            <a:r>
              <a:t>• Đăng ký Named Client cấu hình BaseAddress và Timeout.</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AddHttpClient</a:t>
            </a:r>
          </a:p>
          <a:p>
            <a:pPr>
              <a:spcAft>
                <a:spcPts val="400"/>
              </a:spcAft>
              <a:defRPr sz="1100">
                <a:solidFill>
                  <a:srgbClr val="10B981"/>
                </a:solidFill>
                <a:latin typeface="Verdana"/>
              </a:defRPr>
            </a:pPr>
            <a:r>
              <a:t>✔ IHttpClientFactory</a:t>
            </a:r>
          </a:p>
          <a:p>
            <a:pPr>
              <a:spcAft>
                <a:spcPts val="400"/>
              </a:spcAft>
              <a:defRPr sz="1100">
                <a:solidFill>
                  <a:srgbClr val="10B981"/>
                </a:solidFill>
                <a:latin typeface="Verdana"/>
              </a:defRPr>
            </a:pPr>
            <a:r>
              <a:t>✔ CreateClient</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ĐĂNG KÝ NAMED CLIENT TRONG Program.cs</a:t>
            </a:r>
            <a:br/>
            <a:r>
              <a:t>builder.Services.AddHttpClient("PaymentGateway", client =&gt; {</a:t>
            </a:r>
            <a:br/>
            <a:r>
              <a:t>    client.BaseAddress = new Uri("https://api.paymentprovider.com/v1/");</a:t>
            </a:r>
            <a:br/>
            <a:r>
              <a:t>    client.Timeout = TimeSpan.FromSeconds(10);</a:t>
            </a:r>
            <a:br/>
            <a:r>
              <a:t>    client.DefaultRequestHeaders.Add("Accept", "application/json");</a:t>
            </a:r>
            <a:br/>
            <a:r>
              <a:t>});</a:t>
            </a:r>
            <a:br/>
            <a:br/>
            <a:r>
              <a:t>// 2. INJECT VÀO SERVICE ĐỂ SỬ DỤNG</a:t>
            </a:r>
            <a:br/>
            <a:r>
              <a:t>public class PaymentService {</a:t>
            </a:r>
            <a:br/>
            <a:r>
              <a:t>    private readonly IHttpClientFactory _clientFactory;</a:t>
            </a:r>
            <a:br/>
            <a:r>
              <a:t>    public PaymentService(IHttpClientFactory clientFactory) {</a:t>
            </a:r>
            <a:br/>
            <a:r>
              <a:t>        _clientFactory = clientFactory;</a:t>
            </a:r>
            <a:br/>
            <a:r>
              <a:t>    }</a:t>
            </a:r>
            <a:br/>
            <a:br/>
            <a:r>
              <a:t>    public async Task&lt;bool&gt; ProcessPaymentAsync(decimal amount) {</a:t>
            </a:r>
            <a:br/>
            <a:r>
              <a:t>        // Tái sử dụng HttpClient mượt mà, tránh cạn kiệt Socket mạng</a:t>
            </a:r>
            <a:br/>
            <a:r>
              <a:t>        var client = _clientFactory.CreateClient("PaymentGateway");</a:t>
            </a:r>
            <a:br/>
            <a:r>
              <a:t>        var response = await client.PostAsJsonAsync("charge", new { Amount = amount });</a:t>
            </a:r>
            <a:br/>
            <a:r>
              <a:t>        return response.IsSuccessStatusCode;</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64 / 88</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YARP API GATEWAY</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Xây dựng cửa ngõ API Gateway tập trung bằng YARP</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Cổng ngõ duy nhất YARP</a:t>
            </a:r>
          </a:p>
          <a:p>
            <a:pPr>
              <a:spcAft>
                <a:spcPts val="600"/>
              </a:spcAft>
              <a:defRPr sz="1300">
                <a:solidFill>
                  <a:srgbClr val="F1F5F9"/>
                </a:solidFill>
                <a:latin typeface="Verdana"/>
              </a:defRPr>
            </a:pPr>
            <a:r>
              <a:t>YARP (Yet Another Reverse Proxy) là thư viện Proxy hiệu năng cao do Microsoft phát triển riêng cho hệ sinh thái .NET.</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Cấu hình định tuyến Route</a:t>
            </a:r>
          </a:p>
          <a:p>
            <a:pPr>
              <a:spcAft>
                <a:spcPts val="600"/>
              </a:spcAft>
              <a:defRPr sz="1300">
                <a:solidFill>
                  <a:srgbClr val="F1F5F9"/>
                </a:solidFill>
                <a:latin typeface="Verdana"/>
              </a:defRPr>
            </a:pPr>
            <a:r>
              <a:t>YARP đọc cấu hình định tuyến từ appsettings.json. Nhận mọi Request từ Client gửi lên và phân tích đường dẫn URL.</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Chuyển tiếp Clusters</a:t>
            </a:r>
          </a:p>
          <a:p>
            <a:pPr>
              <a:spcAft>
                <a:spcPts val="600"/>
              </a:spcAft>
              <a:defRPr sz="1300">
                <a:solidFill>
                  <a:srgbClr val="F1F5F9"/>
                </a:solidFill>
                <a:latin typeface="Verdana"/>
              </a:defRPr>
            </a:pPr>
            <a:r>
              <a:t>Tự động định tuyến request tới các cụm Server (Clusters) Microservices chạy ngầm phía sau một cách mượt mà.</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65 / 88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DOCKER INTEGRATION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Dockerfile Multi-Stage tối ưu kích thước Image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Dockerfile chia làm 2 giai đoạn (Stages) độc lập.</a:t>
            </a:r>
          </a:p>
          <a:p>
            <a:pPr>
              <a:spcAft>
                <a:spcPts val="800"/>
              </a:spcAft>
              <a:defRPr sz="1200">
                <a:solidFill>
                  <a:srgbClr val="F1F5F9"/>
                </a:solidFill>
                <a:latin typeface="Verdana"/>
              </a:defRPr>
            </a:pPr>
            <a:r>
              <a:t>• Stage 1 sử dụng SDK Image đầy đủ cấu hình để biên dịch (Build) mã nguồn.</a:t>
            </a:r>
          </a:p>
          <a:p>
            <a:pPr>
              <a:spcAft>
                <a:spcPts val="800"/>
              </a:spcAft>
              <a:defRPr sz="1200">
                <a:solidFill>
                  <a:srgbClr val="F1F5F9"/>
                </a:solidFill>
                <a:latin typeface="Verdana"/>
              </a:defRPr>
            </a:pPr>
            <a:r>
              <a:t>• Stage 2 chỉ copy tệp chạy đã biên dịch sang Runtime Image siêu nhẹ (~200MB), loại bỏ hoàn toàn mã thừa.</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AS build</a:t>
            </a:r>
          </a:p>
          <a:p>
            <a:pPr>
              <a:spcAft>
                <a:spcPts val="400"/>
              </a:spcAft>
              <a:defRPr sz="1100">
                <a:solidFill>
                  <a:srgbClr val="10B981"/>
                </a:solidFill>
                <a:latin typeface="Verdana"/>
              </a:defRPr>
            </a:pPr>
            <a:r>
              <a:t>✔ AS final</a:t>
            </a:r>
          </a:p>
          <a:p>
            <a:pPr>
              <a:spcAft>
                <a:spcPts val="400"/>
              </a:spcAft>
              <a:defRPr sz="1100">
                <a:solidFill>
                  <a:srgbClr val="10B981"/>
                </a:solidFill>
                <a:latin typeface="Verdana"/>
              </a:defRPr>
            </a:pPr>
            <a:r>
              <a:t>✔ COPY --from=build</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STAGE 1: BIÊN DỊCH VÀ XUẤT BẢN MÃ NGUỒN (BUILD)</a:t>
            </a:r>
            <a:br/>
            <a:r>
              <a:t>FROM mcr.microsoft.com/dotnet/sdk:8.0 AS build</a:t>
            </a:r>
            <a:br/>
            <a:r>
              <a:t>WORKDIR /src</a:t>
            </a:r>
            <a:br/>
            <a:br/>
            <a:r>
              <a:t># Copy dự án để restore trước nhằm tối ưu hóa Docker Cache</a:t>
            </a:r>
            <a:br/>
            <a:r>
              <a:t>COPY ["MySalesSystem.Api/MySalesSystem.Api.csproj", "MySalesSystem.Api/"]</a:t>
            </a:r>
            <a:br/>
            <a:r>
              <a:t>RUN dotnet restore "MySalesSystem.Api/MySalesSystem.Api.csproj"</a:t>
            </a:r>
            <a:br/>
            <a:br/>
            <a:r>
              <a:t>COPY . .</a:t>
            </a:r>
            <a:br/>
            <a:r>
              <a:t>WORKDIR "/src/MySalesSystem.Api"</a:t>
            </a:r>
            <a:br/>
            <a:r>
              <a:t>RUN dotnet publish "MySalesSystem.Api.csproj" -c Release -o /app/publish /p:UseAppHost=false</a:t>
            </a:r>
            <a:br/>
            <a:br/>
            <a:r>
              <a:t># STAGE 2: RUNTIME CHẠY SẢN PHẨM (DUNG LƯỢNG SIÊU NHẸ)</a:t>
            </a:r>
            <a:br/>
            <a:r>
              <a:t>FROM mcr.microsoft.com/dotnet/aspnet:8.0 AS final</a:t>
            </a:r>
            <a:br/>
            <a:r>
              <a:t>WORKDIR /app</a:t>
            </a:r>
            <a:br/>
            <a:r>
              <a:t>COPY --from=build /app/publish .</a:t>
            </a:r>
            <a:br/>
            <a:r>
              <a:t>EXPOSE 8080</a:t>
            </a:r>
            <a:br/>
            <a:r>
              <a:t>ENV ASPNETCORE_URLS=http://+:8080</a:t>
            </a:r>
            <a:br/>
            <a:r>
              <a:t>ENTRYPOINT ["dotnet", "MySalesSystem.Api.dll"]</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66 / 88</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CONTAINER ORCHESTRATION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Quản lý đa Container với docker-compose.yml</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docker-compose liên kết chạy đồng thời Web API, SQL Server và Redis.</a:t>
            </a:r>
          </a:p>
          <a:p>
            <a:pPr>
              <a:spcAft>
                <a:spcPts val="800"/>
              </a:spcAft>
              <a:defRPr sz="1200">
                <a:solidFill>
                  <a:srgbClr val="F1F5F9"/>
                </a:solidFill>
                <a:latin typeface="Verdana"/>
              </a:defRPr>
            </a:pPr>
            <a:r>
              <a:t>• Tự động quản lý mạng ảo nội bộ chung cho các Container dễ dàng giao tiếp.</a:t>
            </a:r>
          </a:p>
          <a:p>
            <a:pPr>
              <a:spcAft>
                <a:spcPts val="800"/>
              </a:spcAft>
              <a:defRPr sz="1200">
                <a:solidFill>
                  <a:srgbClr val="F1F5F9"/>
                </a:solidFill>
                <a:latin typeface="Verdana"/>
              </a:defRPr>
            </a:pPr>
            <a:r>
              <a:t>• Khai báo dependencies (depends_on) điều phối thứ tự khởi động.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services:</a:t>
            </a:r>
          </a:p>
          <a:p>
            <a:pPr>
              <a:spcAft>
                <a:spcPts val="400"/>
              </a:spcAft>
              <a:defRPr sz="1100">
                <a:solidFill>
                  <a:srgbClr val="10B981"/>
                </a:solidFill>
                <a:latin typeface="Verdana"/>
              </a:defRPr>
            </a:pPr>
            <a:r>
              <a:t>✔ depends_on:</a:t>
            </a:r>
          </a:p>
          <a:p>
            <a:pPr>
              <a:spcAft>
                <a:spcPts val="400"/>
              </a:spcAft>
              <a:defRPr sz="1100">
                <a:solidFill>
                  <a:srgbClr val="10B981"/>
                </a:solidFill>
                <a:latin typeface="Verdana"/>
              </a:defRPr>
            </a:pPr>
            <a:r>
              <a:t>✔ ports:</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version: '3.8'</a:t>
            </a:r>
            <a:br/>
            <a:r>
              <a:t>services:</a:t>
            </a:r>
            <a:br/>
            <a:r>
              <a:t>  webapi:</a:t>
            </a:r>
            <a:br/>
            <a:r>
              <a:t>    build:</a:t>
            </a:r>
            <a:br/>
            <a:r>
              <a:t>      context: .</a:t>
            </a:r>
            <a:br/>
            <a:r>
              <a:t>      dockerfile: Dockerfile</a:t>
            </a:r>
            <a:br/>
            <a:r>
              <a:t>    ports:</a:t>
            </a:r>
            <a:br/>
            <a:r>
              <a:t>      - "5000:8080" # Ánh xạ cổng ra máy chủ thật</a:t>
            </a:r>
            <a:br/>
            <a:r>
              <a:t>    environment:</a:t>
            </a:r>
            <a:br/>
            <a:r>
              <a:t>      - ASPNETCORE_ENVIRONMENT=Production</a:t>
            </a:r>
            <a:br/>
            <a:r>
              <a:t>      - ConnectionStrings__DefaultConnection=Server=sqlserver;Database=SalesDb;User Id=sa;Password=Secure_Password123!;</a:t>
            </a:r>
            <a:br/>
            <a:r>
              <a:t>      - ConnectionStrings__RedisConnection=redis:6379</a:t>
            </a:r>
            <a:br/>
            <a:r>
              <a:t>    depends_on:</a:t>
            </a:r>
            <a:br/>
            <a:r>
              <a:t>      - sqlserver</a:t>
            </a:r>
            <a:br/>
            <a:r>
              <a:t>      - redis</a:t>
            </a:r>
            <a:br/>
            <a:br/>
            <a:r>
              <a:t>  sqlserver:</a:t>
            </a:r>
            <a:br/>
            <a:r>
              <a:t>    image: mcr.microsoft.com/mssql/server:2022-latest</a:t>
            </a:r>
            <a:br/>
            <a:r>
              <a:t>    environment:</a:t>
            </a:r>
            <a:br/>
            <a:r>
              <a:t>      - ACCEPT_EULA=Y</a:t>
            </a:r>
            <a:br/>
            <a:r>
              <a:t>      - MSSQL_SA_PASSWORD=Secure_Password123!</a:t>
            </a:r>
            <a:br/>
            <a:r>
              <a:t>    ports:</a:t>
            </a:r>
            <a:br/>
            <a:r>
              <a:t>      - "1433:1433"</a:t>
            </a:r>
            <a:br/>
            <a:br/>
            <a:r>
              <a:t>  redis:</a:t>
            </a:r>
            <a:br/>
            <a:r>
              <a:t>    image: redis:alpine</a:t>
            </a:r>
            <a:br/>
            <a:r>
              <a:t>    ports:</a:t>
            </a:r>
            <a:br/>
            <a:r>
              <a:t>      - "6379:6379" </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67 / 88</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DOCKER CLI</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Vận hành Containers bằng hệ thống câu lệnh Docker CLI</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Khởi chạy toàn bộ hệ thống</a:t>
            </a:r>
          </a:p>
          <a:p>
            <a:pPr>
              <a:spcAft>
                <a:spcPts val="600"/>
              </a:spcAft>
              <a:defRPr sz="1300">
                <a:solidFill>
                  <a:srgbClr val="F1F5F9"/>
                </a:solidFill>
                <a:latin typeface="Verdana"/>
              </a:defRPr>
            </a:pPr>
            <a:r>
              <a:t>Khởi chạy đồng loạt toàn bộ các container định nghĩa trong file compose ở chế độ ngầm (Background):</a:t>
            </a:r>
            <a:br/>
            <a:r>
              <a:t>"docker compose up -d --build"</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Theo dõi và kiểm tra Logs</a:t>
            </a:r>
          </a:p>
          <a:p>
            <a:pPr>
              <a:spcAft>
                <a:spcPts val="600"/>
              </a:spcAft>
              <a:defRPr sz="1300">
                <a:solidFill>
                  <a:srgbClr val="F1F5F9"/>
                </a:solidFill>
                <a:latin typeface="Verdana"/>
              </a:defRPr>
            </a:pPr>
            <a:r>
              <a:t>Xem trực tiếp và theo dõi liên tục luồng log đầu ra của ứng dụng API đang chạy trong container:</a:t>
            </a:r>
            <a:br/>
            <a:r>
              <a:t>"docker compose logs -f webapi"</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Dừng và dọn dẹp hệ thống</a:t>
            </a:r>
          </a:p>
          <a:p>
            <a:pPr>
              <a:spcAft>
                <a:spcPts val="600"/>
              </a:spcAft>
              <a:defRPr sz="1300">
                <a:solidFill>
                  <a:srgbClr val="F1F5F9"/>
                </a:solidFill>
                <a:latin typeface="Verdana"/>
              </a:defRPr>
            </a:pPr>
            <a:r>
              <a:t>Dừng hoạt động, giải phóng cổng mạng và xóa sạch toàn bộ các container đang chạy để tránh tốn RAM:</a:t>
            </a:r>
            <a:br/>
            <a:r>
              <a:t>"docker compose down"</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68 / 88</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6: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6: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Tại sao tầng Domain trong Clean Architecture tuyệt đối không được chứa hoặc tham chiếu tới các thư viện dữ liệu (như Dapper hay EF)?</a:t>
            </a:r>
          </a:p>
          <a:p>
            <a:pPr>
              <a:spcAft>
                <a:spcPts val="1000"/>
              </a:spcAft>
              <a:defRPr sz="1300">
                <a:solidFill>
                  <a:srgbClr val="F1F5F9"/>
                </a:solidFill>
                <a:latin typeface="Verdana"/>
              </a:defRPr>
            </a:pPr>
            <a:r>
              <a:t>• Mục tiêu cốt lõi của việc viết Dockerfile Multi-Stage là gì? Nó giúp ích gì cho quy trình triển khai ứng dụng?</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Tổ chức lại toàn bộ mã nguồn của đồ án đang làm sang cấu trúc chuẩn Clean Architecture gồm 4 dự án riêng biệt liên kết.</a:t>
            </a:r>
          </a:p>
          <a:p>
            <a:pPr>
              <a:spcAft>
                <a:spcPts val="1000"/>
              </a:spcAft>
              <a:defRPr sz="1300">
                <a:solidFill>
                  <a:srgbClr val="F1F5F9"/>
                </a:solidFill>
                <a:latin typeface="Verdana"/>
              </a:defRPr>
            </a:pPr>
            <a:r>
              <a:t>✔ Viết bộ Dockerfile và tệp cấu hình docker-compose.yml, chạy thử nghiệm khởi động thành công hệ thống kết hợp Web API + CSDL SQL Server trên máy.</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69 / 88</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7</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TESTING VÀ QUY TRÌNH PHÁT TRIỂN CI/CD</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Bảo vệ chất lượng mã nguồn bằng Unit Testing (xUnit + Moq) và Integration Testing. Tự động hóa tích hợp liên tục CI/CD bằng GitHub Actions.</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70 / 88</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TESTING CORE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Quy trình Testing &amp; Cấu trúc chuẩn mô hình AAA</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Tầm quan trọng của Test</a:t>
            </a:r>
          </a:p>
          <a:p>
            <a:pPr>
              <a:spcAft>
                <a:spcPts val="600"/>
              </a:spcAft>
              <a:defRPr sz="1300">
                <a:solidFill>
                  <a:srgbClr val="F1F5F9"/>
                </a:solidFill>
                <a:latin typeface="Verdana"/>
              </a:defRPr>
            </a:pPr>
            <a:r>
              <a:t>Viết test tự động đảm bảo các tính năng cũ hoạt động ổn định mỗi khi nâng cấp code mới, rút ngắn thời gian bàn giao sản phẩm.</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Unit Testing (Cô lập)</a:t>
            </a:r>
          </a:p>
          <a:p>
            <a:pPr>
              <a:spcAft>
                <a:spcPts val="600"/>
              </a:spcAft>
              <a:defRPr sz="1300">
                <a:solidFill>
                  <a:srgbClr val="F1F5F9"/>
                </a:solidFill>
                <a:latin typeface="Verdana"/>
              </a:defRPr>
            </a:pPr>
            <a:r>
              <a:t>Kiểm thử đơn vị nhỏ nhất (1 hàm, 1 lớp) trong môi trường hoàn toàn cô lập, không kết nối cơ sở dữ liệu thật hoặc mạng.</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Mô hình AAA tiêu chuẩn</a:t>
            </a:r>
          </a:p>
          <a:p>
            <a:pPr>
              <a:spcAft>
                <a:spcPts val="600"/>
              </a:spcAft>
              <a:defRPr sz="1200">
                <a:solidFill>
                  <a:srgbClr val="F1F5F9"/>
                </a:solidFill>
                <a:latin typeface="Verdana"/>
              </a:defRPr>
            </a:pPr>
            <a:r>
              <a:t>• Arrange (Chuẩn bị): Thiết lập dữ liệu đầu vào, giả lập phụ thuộc.</a:t>
            </a:r>
          </a:p>
          <a:p>
            <a:pPr>
              <a:spcAft>
                <a:spcPts val="600"/>
              </a:spcAft>
              <a:defRPr sz="1200">
                <a:solidFill>
                  <a:srgbClr val="F1F5F9"/>
                </a:solidFill>
                <a:latin typeface="Verdana"/>
              </a:defRPr>
            </a:pPr>
            <a:r>
              <a:t>• Act (Thực thi): Gọi phương thức cần test.</a:t>
            </a:r>
          </a:p>
          <a:p>
            <a:pPr>
              <a:spcAft>
                <a:spcPts val="600"/>
              </a:spcAft>
              <a:defRPr sz="1200">
                <a:solidFill>
                  <a:srgbClr val="F1F5F9"/>
                </a:solidFill>
                <a:latin typeface="Verdana"/>
              </a:defRPr>
            </a:pPr>
            <a:r>
              <a:t>• Assert (Xác nhận): So sánh kết quả thực tế vs kỳ vọng.</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71 / 88</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TESTING ENVIRONMENT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Khởi tạo dự án Test với thư viện chuẩn xUnit</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Khởi tạo dự án qua CLI</a:t>
            </a:r>
          </a:p>
          <a:p>
            <a:pPr>
              <a:spcAft>
                <a:spcPts val="800"/>
              </a:spcAft>
              <a:defRPr sz="1300">
                <a:solidFill>
                  <a:srgbClr val="F1F5F9"/>
                </a:solidFill>
                <a:latin typeface="Verdana"/>
              </a:defRPr>
            </a:pPr>
            <a:r>
              <a:t>• Sử dụng xUnit làm Framework kiểm thử tiêu chuẩn chính thức của Microsoft dành cho .NET.</a:t>
            </a:r>
          </a:p>
          <a:p>
            <a:pPr>
              <a:spcAft>
                <a:spcPts val="800"/>
              </a:spcAft>
              <a:defRPr sz="1300">
                <a:solidFill>
                  <a:srgbClr val="F1F5F9"/>
                </a:solidFill>
                <a:latin typeface="Verdana"/>
              </a:defRPr>
            </a:pPr>
            <a:r>
              <a:t>• Tạo nhanh dự án test riêng biệt qua câu lệnh: 'dotnet new xunit -n MySalesSystem.UnitTests'.</a:t>
            </a:r>
          </a:p>
          <a:p>
            <a:pPr>
              <a:spcAft>
                <a:spcPts val="800"/>
              </a:spcAft>
              <a:defRPr sz="1300">
                <a:solidFill>
                  <a:srgbClr val="F1F5F9"/>
                </a:solidFill>
                <a:latin typeface="Verdana"/>
              </a:defRPr>
            </a:pPr>
            <a:r>
              <a:t>• Liên kết tham chiếu tới dự án Application cần test: 'dotnet add reference MySalesSystem.Application'.</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Cơ chế Assert thông minh</a:t>
            </a:r>
          </a:p>
          <a:p>
            <a:pPr>
              <a:spcAft>
                <a:spcPts val="800"/>
              </a:spcAft>
              <a:defRPr sz="1300">
                <a:solidFill>
                  <a:srgbClr val="F1F5F9"/>
                </a:solidFill>
                <a:latin typeface="Verdana"/>
              </a:defRPr>
            </a:pPr>
            <a:r>
              <a:t>• Thư viện xUnit cung cấp lớp Assert chứa các hàm kiểm chứng điều kiện đa dạng.</a:t>
            </a:r>
          </a:p>
          <a:p>
            <a:pPr>
              <a:spcAft>
                <a:spcPts val="800"/>
              </a:spcAft>
              <a:defRPr sz="1300">
                <a:solidFill>
                  <a:srgbClr val="F1F5F9"/>
                </a:solidFill>
                <a:latin typeface="Verdana"/>
              </a:defRPr>
            </a:pPr>
            <a:r>
              <a:t>• Hỗ trợ kiểm tra so sánh giá trị: Assert.Equal(), kiểm tra logic: Assert.True().</a:t>
            </a:r>
          </a:p>
          <a:p>
            <a:pPr>
              <a:spcAft>
                <a:spcPts val="800"/>
              </a:spcAft>
              <a:defRPr sz="1300">
                <a:solidFill>
                  <a:srgbClr val="F1F5F9"/>
                </a:solidFill>
                <a:latin typeface="Verdana"/>
              </a:defRPr>
            </a:pPr>
            <a:r>
              <a:t>• Hỗ trợ kiểm tra ném ngoại lệ kỳ vọng khi truyền sai tham số: Assert.ThrowsAsync&lt;T&gt;().</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72 / 88</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MOCKING CORE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Giả lập dữ liệu và Phụ thuộc nghiệp vụ bằng Moq</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Tại sao phải giả lập (Mocking)?</a:t>
            </a:r>
          </a:p>
          <a:p>
            <a:pPr>
              <a:spcAft>
                <a:spcPts val="800"/>
              </a:spcAft>
              <a:defRPr sz="1300">
                <a:solidFill>
                  <a:srgbClr val="F1F5F9"/>
                </a:solidFill>
                <a:latin typeface="Verdana"/>
              </a:defRPr>
            </a:pPr>
            <a:r>
              <a:t>• Khi kiểm thử đơn vị một Service nghiệp vụ (ví dụ: OrderService), ta không muốn kết nối thật tới database SQL Server.</a:t>
            </a:r>
          </a:p>
          <a:p>
            <a:pPr>
              <a:spcAft>
                <a:spcPts val="800"/>
              </a:spcAft>
              <a:defRPr sz="1300">
                <a:solidFill>
                  <a:srgbClr val="F1F5F9"/>
                </a:solidFill>
                <a:latin typeface="Verdana"/>
              </a:defRPr>
            </a:pPr>
            <a:r>
              <a:t>• Kết nối database thật làm test chạy rất chậm và dễ bị sai lệch dữ liệu do các test case ghi đè dữ liệu lẫn nhau.</a:t>
            </a:r>
          </a:p>
          <a:p>
            <a:pPr>
              <a:spcAft>
                <a:spcPts val="800"/>
              </a:spcAft>
              <a:defRPr sz="1300">
                <a:solidFill>
                  <a:srgbClr val="F1F5F9"/>
                </a:solidFill>
                <a:latin typeface="Verdana"/>
              </a:defRPr>
            </a:pPr>
            <a:r>
              <a:t>• Ta cần tạo ra một đối tượng giả lập đóng vai trò thay thế cho Repository thực tế.</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Giải pháp thư viện Moq</a:t>
            </a:r>
          </a:p>
          <a:p>
            <a:pPr>
              <a:spcAft>
                <a:spcPts val="800"/>
              </a:spcAft>
              <a:defRPr sz="1300">
                <a:solidFill>
                  <a:srgbClr val="F1F5F9"/>
                </a:solidFill>
                <a:latin typeface="Verdana"/>
              </a:defRPr>
            </a:pPr>
            <a:r>
              <a:t>• Thư viện Moq hỗ trợ sinh nhanh các đối tượng giả lập dựa trên giao diện Interface chỉ định.</a:t>
            </a:r>
          </a:p>
          <a:p>
            <a:pPr>
              <a:spcAft>
                <a:spcPts val="800"/>
              </a:spcAft>
              <a:defRPr sz="1300">
                <a:solidFill>
                  <a:srgbClr val="F1F5F9"/>
                </a:solidFill>
                <a:latin typeface="Verdana"/>
              </a:defRPr>
            </a:pPr>
            <a:r>
              <a:t>• Cho phép cấu hình chính xác hành vi trả về của các phương thức thô qua cú pháp mượt mà Setup().</a:t>
            </a:r>
          </a:p>
          <a:p>
            <a:pPr>
              <a:spcAft>
                <a:spcPts val="800"/>
              </a:spcAft>
              <a:defRPr sz="1300">
                <a:solidFill>
                  <a:srgbClr val="F1F5F9"/>
                </a:solidFill>
                <a:latin typeface="Verdana"/>
              </a:defRPr>
            </a:pPr>
            <a:r>
              <a:t>• Mẫu cú pháp: _mockRepo.Setup(r =&gt; r.GetById(10)).ReturnsAsync(product).</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73 / 88</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UNIT TESTING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hành viết Unit Test cho Business Service</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Thực hiện viết kiểm thử nghiệp vụ đặt hàng PlaceOrderAsync.</a:t>
            </a:r>
          </a:p>
          <a:p>
            <a:pPr>
              <a:spcAft>
                <a:spcPts val="800"/>
              </a:spcAft>
              <a:defRPr sz="1200">
                <a:solidFill>
                  <a:srgbClr val="F1F5F9"/>
                </a:solidFill>
                <a:latin typeface="Verdana"/>
              </a:defRPr>
            </a:pPr>
            <a:r>
              <a:t>• Sử dụng Moq giả lập Interface IProductRepository.</a:t>
            </a:r>
          </a:p>
          <a:p>
            <a:pPr>
              <a:spcAft>
                <a:spcPts val="800"/>
              </a:spcAft>
              <a:defRPr sz="1200">
                <a:solidFill>
                  <a:srgbClr val="F1F5F9"/>
                </a:solidFill>
                <a:latin typeface="Verdana"/>
              </a:defRPr>
            </a:pPr>
            <a:r>
              <a:t>• Sử dụng Verify kiểm tra chắc chắn hàm cập nhật kho được kích hoạt đúng 1 lần.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Mock&lt;IProductRepository&gt;</a:t>
            </a:r>
          </a:p>
          <a:p>
            <a:pPr>
              <a:spcAft>
                <a:spcPts val="400"/>
              </a:spcAft>
              <a:defRPr sz="1100">
                <a:solidFill>
                  <a:srgbClr val="10B981"/>
                </a:solidFill>
                <a:latin typeface="Verdana"/>
              </a:defRPr>
            </a:pPr>
            <a:r>
              <a:t>✔ [Fact]</a:t>
            </a:r>
          </a:p>
          <a:p>
            <a:pPr>
              <a:spcAft>
                <a:spcPts val="400"/>
              </a:spcAft>
              <a:defRPr sz="1100">
                <a:solidFill>
                  <a:srgbClr val="10B981"/>
                </a:solidFill>
                <a:latin typeface="Verdana"/>
              </a:defRPr>
            </a:pPr>
            <a:r>
              <a:t>✔ _mockProductRepo.Verify()</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Moq;</a:t>
            </a:r>
            <a:br/>
            <a:r>
              <a:t>using Xunit;</a:t>
            </a:r>
            <a:br/>
            <a:br/>
            <a:r>
              <a:t>public class OrderServiceTests {</a:t>
            </a:r>
            <a:br/>
            <a:r>
              <a:t>    private readonly Mock&lt;IProductRepository&gt; _mockProductRepo;</a:t>
            </a:r>
            <a:br/>
            <a:r>
              <a:t>    private readonly OrderService _orderService;</a:t>
            </a:r>
            <a:br/>
            <a:br/>
            <a:r>
              <a:t>    public OrderServiceTests() {</a:t>
            </a:r>
            <a:br/>
            <a:r>
              <a:t>        _mockProductRepo = new Mock&lt;IProductRepository&gt;(); // Mock Repo</a:t>
            </a:r>
            <a:br/>
            <a:r>
              <a:t>        _orderService = new OrderService(_mockProductRepo.Object); // Inject Mock Object</a:t>
            </a:r>
            <a:br/>
            <a:r>
              <a:t>    }</a:t>
            </a:r>
            <a:br/>
            <a:br/>
            <a:r>
              <a:t>    [Fact] // Thẻ đánh dấu Test Case của xUnit</a:t>
            </a:r>
            <a:br/>
            <a:r>
              <a:t>    public async Task PlaceOrderAsync_WithValidStock_ShouldReturnTrue() {</a:t>
            </a:r>
            <a:br/>
            <a:r>
              <a:t>        // 1. ARRANGEMENT</a:t>
            </a:r>
            <a:br/>
            <a:r>
              <a:t>        int productId = 10;</a:t>
            </a:r>
            <a:br/>
            <a:r>
              <a:t>        var existingProduct = new Product("Laptop Dell", 1500, 50);</a:t>
            </a:r>
            <a:br/>
            <a:r>
              <a:t>        _mockProductRepo.Setup(r =&gt; r.GetByIdAsync(productId)).ReturnsAsync(existingProduct);</a:t>
            </a:r>
            <a:br/>
            <a:br/>
            <a:r>
              <a:t>        // 2. ACT</a:t>
            </a:r>
            <a:br/>
            <a:r>
              <a:t>        bool result = await _orderService.PlaceOrderAsync(productId, 5);</a:t>
            </a:r>
            <a:br/>
            <a:br/>
            <a:r>
              <a:t>        // 3. ASSERTION</a:t>
            </a:r>
            <a:br/>
            <a:r>
              <a:t>        Assert.True(result); // Phải trả về True</a:t>
            </a:r>
            <a:br/>
            <a:r>
              <a:t>        Assert.Equal(45, existingProduct.StockQuantity); // Kho giảm còn 45</a:t>
            </a:r>
            <a:br/>
            <a:r>
              <a:t>        _mockProductRepo.Verify(r =&gt; r.UpdateAsync(existingProduct), Times.Once); // Gọi 1 lần</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74 / 88</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INTEGRATION TESTING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Kiểm thử tích hợp Integration Testing toàn diện API</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Integration Testing là gì?</a:t>
            </a:r>
          </a:p>
          <a:p>
            <a:pPr>
              <a:spcAft>
                <a:spcPts val="800"/>
              </a:spcAft>
              <a:defRPr sz="1300">
                <a:solidFill>
                  <a:srgbClr val="F1F5F9"/>
                </a:solidFill>
                <a:latin typeface="Verdana"/>
              </a:defRPr>
            </a:pPr>
            <a:r>
              <a:t>• Khác với Unit Test chỉ chạy cô lập, Integration Test khởi động thực tế toàn bộ Pipeline HTTP Request.</a:t>
            </a:r>
          </a:p>
          <a:p>
            <a:pPr>
              <a:spcAft>
                <a:spcPts val="800"/>
              </a:spcAft>
              <a:defRPr sz="1300">
                <a:solidFill>
                  <a:srgbClr val="F1F5F9"/>
                </a:solidFill>
                <a:latin typeface="Verdana"/>
              </a:defRPr>
            </a:pPr>
            <a:r>
              <a:t>• Kiểm chứng sự liên kết vận hành mượt mà giữa các thành phần: Routing, Middlewares, Validation và DB.</a:t>
            </a:r>
          </a:p>
          <a:p>
            <a:pPr>
              <a:spcAft>
                <a:spcPts val="800"/>
              </a:spcAft>
              <a:defRPr sz="1300">
                <a:solidFill>
                  <a:srgbClr val="F1F5F9"/>
                </a:solidFill>
                <a:latin typeface="Verdana"/>
              </a:defRPr>
            </a:pPr>
            <a:r>
              <a:t>• Đảm bảo các Endpoint API hoạt động chính xác từ đầu đến cuối luồng dữ liệu.</a:t>
            </a:r>
          </a:p>
        </p:txBody>
      </p:sp>
      <p:sp>
        <p:nvSpPr>
          <p:cNvPr id="7" name="Rectangle 6"/>
          <p:cNvSpPr/>
          <p:nvPr/>
        </p:nvSpPr>
        <p:spPr>
          <a:xfrm>
            <a:off x="6385255"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4B8A6"/>
                </a:solidFill>
                <a:latin typeface="Georgia"/>
              </a:defRPr>
            </a:pPr>
            <a:r>
              <a:t>WebApplicationFactory ảo</a:t>
            </a:r>
          </a:p>
          <a:p>
            <a:pPr>
              <a:spcAft>
                <a:spcPts val="800"/>
              </a:spcAft>
              <a:defRPr sz="1300">
                <a:solidFill>
                  <a:srgbClr val="F1F5F9"/>
                </a:solidFill>
                <a:latin typeface="Verdana"/>
              </a:defRPr>
            </a:pPr>
            <a:r>
              <a:t>• Là lớp đặc biệt được Microsoft phát triển hỗ trợ Integration Testing cực đỉnh.</a:t>
            </a:r>
          </a:p>
          <a:p>
            <a:pPr>
              <a:spcAft>
                <a:spcPts val="800"/>
              </a:spcAft>
              <a:defRPr sz="1300">
                <a:solidFill>
                  <a:srgbClr val="F1F5F9"/>
                </a:solidFill>
                <a:latin typeface="Verdana"/>
              </a:defRPr>
            </a:pPr>
            <a:r>
              <a:t>• Tự khởi dựng ngầm một In-Memory Test Server giả lập ứng dụng đang chạy thực tế.</a:t>
            </a:r>
          </a:p>
          <a:p>
            <a:pPr>
              <a:spcAft>
                <a:spcPts val="800"/>
              </a:spcAft>
              <a:defRPr sz="1300">
                <a:solidFill>
                  <a:srgbClr val="F1F5F9"/>
                </a:solidFill>
                <a:latin typeface="Verdana"/>
              </a:defRPr>
            </a:pPr>
            <a:r>
              <a:t>• Sinh ra một HttpClient ảo kết nối trực tiếp vào In-Memory Server để bắn request test như thật.</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75 / 88</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INTEGRATION TESTING</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Thực hành viết Integration Test cho API Endpoint</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Reference tới NuGet Package Microsoft.AspNetCore.Mvc.Testing.</a:t>
            </a:r>
          </a:p>
          <a:p>
            <a:pPr>
              <a:spcAft>
                <a:spcPts val="800"/>
              </a:spcAft>
              <a:defRPr sz="1200">
                <a:solidFill>
                  <a:srgbClr val="F1F5F9"/>
                </a:solidFill>
                <a:latin typeface="Verdana"/>
              </a:defRPr>
            </a:pPr>
            <a:r>
              <a:t>• Kế thừa IClassFixture để sử dụng chung một In-Memory Server.</a:t>
            </a:r>
          </a:p>
          <a:p>
            <a:pPr>
              <a:spcAft>
                <a:spcPts val="800"/>
              </a:spcAft>
              <a:defRPr sz="1200">
                <a:solidFill>
                  <a:srgbClr val="F1F5F9"/>
                </a:solidFill>
                <a:latin typeface="Verdana"/>
              </a:defRPr>
            </a:pPr>
            <a:r>
              <a:t>• Thực hiện gọi API PostAsJsonAsync kiểm chứng lỗi Validation tự động trả về 400 Bad Request.</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IClassFixture&lt;WebApplicationFactory&lt;Program&gt;&gt;</a:t>
            </a:r>
          </a:p>
          <a:p>
            <a:pPr>
              <a:spcAft>
                <a:spcPts val="400"/>
              </a:spcAft>
              <a:defRPr sz="1100">
                <a:solidFill>
                  <a:srgbClr val="10B981"/>
                </a:solidFill>
                <a:latin typeface="Verdana"/>
              </a:defRPr>
            </a:pPr>
            <a:r>
              <a:t>✔ factory.CreateClient()</a:t>
            </a:r>
          </a:p>
          <a:p>
            <a:pPr>
              <a:spcAft>
                <a:spcPts val="400"/>
              </a:spcAft>
              <a:defRPr sz="1100">
                <a:solidFill>
                  <a:srgbClr val="10B981"/>
                </a:solidFill>
                <a:latin typeface="Verdana"/>
              </a:defRPr>
            </a:pPr>
            <a:r>
              <a:t>✔ PostAsJsonAsync</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using System.Net;</a:t>
            </a:r>
            <a:br/>
            <a:r>
              <a:t>using System.Net.Http.Json;</a:t>
            </a:r>
            <a:br/>
            <a:r>
              <a:t>using Microsoft.AspNetCore.Mvc.Testing;</a:t>
            </a:r>
            <a:br/>
            <a:r>
              <a:t>using Xunit;</a:t>
            </a:r>
            <a:br/>
            <a:br/>
            <a:r>
              <a:t>public class ProductsApiTests : IClassFixture&lt;WebApplicationFactory&lt;Program&gt;&gt;</a:t>
            </a:r>
            <a:br/>
            <a:r>
              <a:t>{</a:t>
            </a:r>
            <a:br/>
            <a:r>
              <a:t>    private readonly HttpClient _client;</a:t>
            </a:r>
            <a:br/>
            <a:r>
              <a:t>    public ProductsApiTests(WebApplicationFactory&lt;Program&gt; factory) {</a:t>
            </a:r>
            <a:br/>
            <a:r>
              <a:t>        _client = factory.CreateClient(); // Tạo client ảo kết nối Server ngầm</a:t>
            </a:r>
            <a:br/>
            <a:r>
              <a:t>    }</a:t>
            </a:r>
            <a:br/>
            <a:br/>
            <a:r>
              <a:t>    [Fact]</a:t>
            </a:r>
            <a:br/>
            <a:r>
              <a:t>    public async Task CreateProduct_WithInvalidData_ReturnsBadRequest() {</a:t>
            </a:r>
            <a:br/>
            <a:r>
              <a:t>        // ARRANGE: Dữ liệu cố tình truyền sai Validation</a:t>
            </a:r>
            <a:br/>
            <a:r>
              <a:t>        var invalidProduct = new { Name = "", Price = -100 };</a:t>
            </a:r>
            <a:br/>
            <a:br/>
            <a:r>
              <a:t>        // ACT: Bắn Request POST thực tế lên Endpoint ảo</a:t>
            </a:r>
            <a:br/>
            <a:r>
              <a:t>        var response = await _client.PostAsJsonAsync("/api/products", invalidProduct);</a:t>
            </a:r>
            <a:br/>
            <a:br/>
            <a:r>
              <a:t>        // ASSERT: Xác nhận API tự động chặn và trả về mã lỗi 400 Bad Request</a:t>
            </a:r>
            <a:br/>
            <a:r>
              <a:t>        Assert.Equal(HttpStatusCode.BadRequest, response.StatusCode);</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76 / 88</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CI/CD PIPELINE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Tự động hóa tích hợp liên tục CI/CD với GitHub Actions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Khái niệm CI/CD</a:t>
            </a:r>
          </a:p>
          <a:p>
            <a:pPr>
              <a:spcAft>
                <a:spcPts val="600"/>
              </a:spcAft>
              <a:defRPr sz="1300">
                <a:solidFill>
                  <a:srgbClr val="F1F5F9"/>
                </a:solidFill>
                <a:latin typeface="Verdana"/>
              </a:defRPr>
            </a:pPr>
            <a:r>
              <a:t>Continuous Integration (CI) tự động hóa quy trình kiểm tra mã nguồn (Build &amp; Test) mỗi khi push code mới lên GitHub. CD tự động hóa quy trình đóng gói và triển khai (Deploy) sản phẩm.</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Trình kích hoạt Trigger</a:t>
            </a:r>
          </a:p>
          <a:p>
            <a:pPr>
              <a:spcAft>
                <a:spcPts val="600"/>
              </a:spcAft>
              <a:defRPr sz="1300">
                <a:solidFill>
                  <a:srgbClr val="F1F5F9"/>
                </a:solidFill>
                <a:latin typeface="Verdana"/>
              </a:defRPr>
            </a:pPr>
            <a:r>
              <a:t>Cấu hình trigger lắng nghe sự kiện push hoặc tạo Pull Request trên nhánh bảo mật "main" để khởi chạy pipeline tự động.</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Workflow định nghĩa</a:t>
            </a:r>
          </a:p>
          <a:p>
            <a:pPr>
              <a:spcAft>
                <a:spcPts val="600"/>
              </a:spcAft>
              <a:defRPr sz="1300">
                <a:solidFill>
                  <a:srgbClr val="F1F5F9"/>
                </a:solidFill>
                <a:latin typeface="Verdana"/>
              </a:defRPr>
            </a:pPr>
            <a:r>
              <a:t>Toàn bộ quy trình từ khâu setup SDK, restore thư viện, build biên dịch và chạy phủ các bộ test được tự động hóa qua tệp YAML.</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77 / 88</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CI PIPELINE</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Cấu hình tệp workflow tự động ci-cd.yml</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Tạo tệp cấu hình .github/workflows/ci-cd.yml trong dự án.</a:t>
            </a:r>
          </a:p>
          <a:p>
            <a:pPr>
              <a:spcAft>
                <a:spcPts val="800"/>
              </a:spcAft>
              <a:defRPr sz="1200">
                <a:solidFill>
                  <a:srgbClr val="F1F5F9"/>
                </a:solidFill>
                <a:latin typeface="Verdana"/>
              </a:defRPr>
            </a:pPr>
            <a:r>
              <a:t>• Sử dụng môi trường chạy HDH Ubuntu mới nhất (ubuntu-latest).</a:t>
            </a:r>
          </a:p>
          <a:p>
            <a:pPr>
              <a:spcAft>
                <a:spcPts val="800"/>
              </a:spcAft>
              <a:defRPr sz="1200">
                <a:solidFill>
                  <a:srgbClr val="F1F5F9"/>
                </a:solidFill>
                <a:latin typeface="Verdana"/>
              </a:defRPr>
            </a:pPr>
            <a:r>
              <a:t>• Workflow tự động hóa khâu chạy kiểm thử 'dotnet test' báo cáo lỗi tức thì.</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on: push: branches:</a:t>
            </a:r>
          </a:p>
          <a:p>
            <a:pPr>
              <a:spcAft>
                <a:spcPts val="400"/>
              </a:spcAft>
              <a:defRPr sz="1100">
                <a:solidFill>
                  <a:srgbClr val="10B981"/>
                </a:solidFill>
                <a:latin typeface="Verdana"/>
              </a:defRPr>
            </a:pPr>
            <a:r>
              <a:t>✔ jobs:</a:t>
            </a:r>
          </a:p>
          <a:p>
            <a:pPr>
              <a:spcAft>
                <a:spcPts val="400"/>
              </a:spcAft>
              <a:defRPr sz="1100">
                <a:solidFill>
                  <a:srgbClr val="10B981"/>
                </a:solidFill>
                <a:latin typeface="Verdana"/>
              </a:defRPr>
            </a:pPr>
            <a:r>
              <a:t>✔ run: dotnet test</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name: Build and Test API Pipeline</a:t>
            </a:r>
            <a:br/>
            <a:br/>
            <a:r>
              <a:t>on:</a:t>
            </a:r>
            <a:br/>
            <a:r>
              <a:t>  push:</a:t>
            </a:r>
            <a:br/>
            <a:r>
              <a:t>    branches: [ "main" ]</a:t>
            </a:r>
            <a:br/>
            <a:r>
              <a:t>  pull_request:</a:t>
            </a:r>
            <a:br/>
            <a:r>
              <a:t>    branches: [ "main" ]</a:t>
            </a:r>
            <a:br/>
            <a:br/>
            <a:r>
              <a:t>jobs:</a:t>
            </a:r>
            <a:br/>
            <a:r>
              <a:t>  build-and-test:</a:t>
            </a:r>
            <a:br/>
            <a:r>
              <a:t>    runs-on: ubuntu-latest</a:t>
            </a:r>
            <a:br/>
            <a:br/>
            <a:r>
              <a:t>    steps:</a:t>
            </a:r>
            <a:br/>
            <a:r>
              <a:t>    - name: Checkout Code</a:t>
            </a:r>
            <a:br/>
            <a:r>
              <a:t>      uses: actions/checkout@v4 # Tải mã nguồn về máy ảo build</a:t>
            </a:r>
            <a:br/>
            <a:br/>
            <a:r>
              <a:t>    - name: Setup .NET SDK</a:t>
            </a:r>
            <a:br/>
            <a:r>
              <a:t>      uses: actions/setup-dotnet@v4</a:t>
            </a:r>
            <a:br/>
            <a:r>
              <a:t>      with:</a:t>
            </a:r>
            <a:br/>
            <a:r>
              <a:t>        dotnet-version: '8.0.x' # Nạp môi trường SDK tương thích</a:t>
            </a:r>
            <a:br/>
            <a:br/>
            <a:r>
              <a:t>    - name: Restore Dependencies</a:t>
            </a:r>
            <a:br/>
            <a:r>
              <a:t>      run: dotnet restore MySalesSystem.sln</a:t>
            </a:r>
            <a:br/>
            <a:br/>
            <a:r>
              <a:t>    - name: Build Solution</a:t>
            </a:r>
            <a:br/>
            <a:r>
              <a:t>      run: dotnet build MySalesSystem.sln --configuration Release --no-restore</a:t>
            </a:r>
            <a:br/>
            <a:br/>
            <a:r>
              <a:t>    - name: Execute All Tests</a:t>
            </a:r>
            <a:br/>
            <a:r>
              <a:t>      run: dotnet test MySalesSystem.sln --configuration Release --no-build</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78 / 88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7: CỦNG CỐ KIẾN THỨC</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Bài 7: Câu hỏi &amp; Bài tập củng cố</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51206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46634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 Câu hỏi ôn tập lý thuyết:</a:t>
            </a:r>
          </a:p>
          <a:p>
            <a:pPr>
              <a:spcAft>
                <a:spcPts val="1000"/>
              </a:spcAft>
              <a:defRPr sz="1300">
                <a:solidFill>
                  <a:srgbClr val="F1F5F9"/>
                </a:solidFill>
                <a:latin typeface="Verdana"/>
              </a:defRPr>
            </a:pPr>
            <a:r>
              <a:t>• Nêu sự khác biệt căn bản giữa Unit Test và Integration Test về phạm vi kiểm thử, tốc độ chạy và sự phụ thuộc?</a:t>
            </a:r>
          </a:p>
          <a:p>
            <a:pPr>
              <a:spcAft>
                <a:spcPts val="1000"/>
              </a:spcAft>
              <a:defRPr sz="1300">
                <a:solidFill>
                  <a:srgbClr val="F1F5F9"/>
                </a:solidFill>
                <a:latin typeface="Verdana"/>
              </a:defRPr>
            </a:pPr>
            <a:r>
              <a:t>• Tại sao việc tuân thủ cấu trúc AAA (Arrange-Act-Assert) giúp mã nguồn kiểm thử dễ đọc và bảo trì lâu dài hơn?</a:t>
            </a:r>
          </a:p>
        </p:txBody>
      </p:sp>
      <p:sp>
        <p:nvSpPr>
          <p:cNvPr id="7" name="Rectangle 6"/>
          <p:cNvSpPr/>
          <p:nvPr/>
        </p:nvSpPr>
        <p:spPr>
          <a:xfrm>
            <a:off x="6385255" y="1645920"/>
            <a:ext cx="5120640" cy="43891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874520"/>
            <a:ext cx="4663440" cy="3931920"/>
          </a:xfrm>
          <a:prstGeom prst="rect">
            <a:avLst/>
          </a:prstGeom>
          <a:noFill/>
        </p:spPr>
        <p:txBody>
          <a:bodyPr wrap="square" lIns="0" tIns="0" rIns="0" bIns="0">
            <a:spAutoFit/>
          </a:bodyPr>
          <a:lstStyle/>
          <a:p>
            <a:pPr>
              <a:spcAft>
                <a:spcPts val="1200"/>
              </a:spcAft>
              <a:defRPr sz="1800" b="1">
                <a:solidFill>
                  <a:srgbClr val="10B981"/>
                </a:solidFill>
                <a:latin typeface="Georgia"/>
              </a:defRPr>
            </a:pPr>
            <a:r>
              <a:t>💻 Bài tập thực hành gõ code:</a:t>
            </a:r>
          </a:p>
          <a:p>
            <a:pPr>
              <a:spcAft>
                <a:spcPts val="1000"/>
              </a:spcAft>
              <a:defRPr sz="1300">
                <a:solidFill>
                  <a:srgbClr val="F1F5F9"/>
                </a:solidFill>
                <a:latin typeface="Verdana"/>
              </a:defRPr>
            </a:pPr>
            <a:r>
              <a:t>✔ Thiết lập giao diện Interface IEmailService và viết Unit Test cho UserService bằng Moq nhằm xác nhận hàm gửi thư 'SendWelcomeEmail' luôn được kích hoạt khi đăng ký tài khoản thành công.</a:t>
            </a:r>
          </a:p>
          <a:p>
            <a:pPr>
              <a:spcAft>
                <a:spcPts val="1000"/>
              </a:spcAft>
              <a:defRPr sz="1300">
                <a:solidFill>
                  <a:srgbClr val="F1F5F9"/>
                </a:solidFill>
                <a:latin typeface="Verdana"/>
              </a:defRPr>
            </a:pPr>
            <a:r>
              <a:t>✔ Tạo dự án Git, đẩy mã nguồn lên GitHub kèm tệp workflow actions và theo dõi quy trình build tự động hoạt động.</a:t>
            </a:r>
          </a:p>
        </p:txBody>
      </p:sp>
      <p:sp>
        <p:nvSpPr>
          <p:cNvPr id="9" name="TextBox 8"/>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79 / 88</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1371600"/>
            <a:ext cx="10820095"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997135" cy="731520"/>
          </a:xfrm>
          <a:prstGeom prst="rect">
            <a:avLst/>
          </a:prstGeom>
          <a:noFill/>
        </p:spPr>
        <p:txBody>
          <a:bodyPr wrap="square">
            <a:spAutoFit/>
          </a:bodyPr>
          <a:lstStyle/>
          <a:p>
            <a:pPr>
              <a:defRPr sz="2400" b="1">
                <a:solidFill>
                  <a:srgbClr val="38BDF8"/>
                </a:solidFill>
                <a:latin typeface="Verdana"/>
              </a:defRPr>
            </a:pPr>
            <a:r>
              <a:t>BÀI 8</a:t>
            </a:r>
          </a:p>
        </p:txBody>
      </p:sp>
      <p:sp>
        <p:nvSpPr>
          <p:cNvPr id="4" name="TextBox 3"/>
          <p:cNvSpPr txBox="1"/>
          <p:nvPr/>
        </p:nvSpPr>
        <p:spPr>
          <a:xfrm>
            <a:off x="1097280" y="2560320"/>
            <a:ext cx="9997135" cy="1371600"/>
          </a:xfrm>
          <a:prstGeom prst="rect">
            <a:avLst/>
          </a:prstGeom>
          <a:noFill/>
        </p:spPr>
        <p:txBody>
          <a:bodyPr wrap="square">
            <a:spAutoFit/>
          </a:bodyPr>
          <a:lstStyle/>
          <a:p>
            <a:pPr>
              <a:defRPr sz="4000" b="1">
                <a:solidFill>
                  <a:srgbClr val="F1F5F9"/>
                </a:solidFill>
                <a:latin typeface="Georgia"/>
              </a:defRPr>
            </a:pPr>
            <a:r>
              <a:t>ỨNG DỤNG THỰC TẾ – HỆ THỐNG QUẢN LÝ BÁN HÀNG ONLINE</a:t>
            </a:r>
          </a:p>
        </p:txBody>
      </p:sp>
      <p:sp>
        <p:nvSpPr>
          <p:cNvPr id="5" name="Rectangle 4"/>
          <p:cNvSpPr/>
          <p:nvPr/>
        </p:nvSpPr>
        <p:spPr>
          <a:xfrm>
            <a:off x="1097280" y="3840480"/>
            <a:ext cx="3657600" cy="3175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9997135" cy="1097280"/>
          </a:xfrm>
          <a:prstGeom prst="rect">
            <a:avLst/>
          </a:prstGeom>
          <a:noFill/>
        </p:spPr>
        <p:txBody>
          <a:bodyPr wrap="square">
            <a:spAutoFit/>
          </a:bodyPr>
          <a:lstStyle/>
          <a:p>
            <a:pPr>
              <a:defRPr sz="1600">
                <a:solidFill>
                  <a:srgbClr val="94A3B8"/>
                </a:solidFill>
                <a:latin typeface="Verdana"/>
              </a:defRPr>
            </a:pPr>
            <a:r>
              <a:t>Đồ án cuối khóa tích hợp toàn diện kiến thức: Kiến trúc Clean Architecture, kết nối CSDL ADO.NET/Dapper Transaction, bảo mật JWT, Caching, Docker Compose và ReactJS.</a:t>
            </a:r>
          </a:p>
        </p:txBody>
      </p:sp>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80 / 88</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ĐỒ ÁN CUỐI KHÓA</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Phân hệ chức năng cốt lõi (Core Features)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1. Module 1: Auth &amp; Identity</a:t>
            </a:r>
          </a:p>
          <a:p>
            <a:pPr>
              <a:spcAft>
                <a:spcPts val="600"/>
              </a:spcAft>
              <a:defRPr sz="1300">
                <a:solidFill>
                  <a:srgbClr val="F1F5F9"/>
                </a:solidFill>
                <a:latin typeface="Verdana"/>
              </a:defRPr>
            </a:pPr>
            <a:r>
              <a:t>Đăng ký, Đăng nhập người dùng. Cấp phát bộ cặp bảo mật JWT Access Token (15 phút) và Refresh Token (7 ngày) lưu DB. Phân quyền Admin và Customer.</a:t>
            </a:r>
          </a:p>
        </p:txBody>
      </p:sp>
      <p:sp>
        <p:nvSpPr>
          <p:cNvPr id="7" name="Rectangle 6"/>
          <p:cNvSpPr/>
          <p:nvPr/>
        </p:nvSpPr>
        <p:spPr>
          <a:xfrm>
            <a:off x="43434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2. Module 2: Catalog Management</a:t>
            </a:r>
          </a:p>
          <a:p>
            <a:pPr>
              <a:spcAft>
                <a:spcPts val="600"/>
              </a:spcAft>
              <a:defRPr sz="1300">
                <a:solidFill>
                  <a:srgbClr val="F1F5F9"/>
                </a:solidFill>
                <a:latin typeface="Verdana"/>
              </a:defRPr>
            </a:pPr>
            <a:r>
              <a:t>API CRUD danh mục, sản phẩm (Chỉ Admin mới có quyền CUD). API Client xem công khai hỗ trợ tìm kiếm tên, lọc danh mục, phân trang và Redis cache.</a:t>
            </a:r>
          </a:p>
        </p:txBody>
      </p:sp>
      <p:sp>
        <p:nvSpPr>
          <p:cNvPr id="9" name="Rectangle 8"/>
          <p:cNvSpPr/>
          <p:nvPr/>
        </p:nvSpPr>
        <p:spPr>
          <a:xfrm>
            <a:off x="8001000" y="1645920"/>
            <a:ext cx="3291840" cy="438912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874520"/>
            <a:ext cx="2834640" cy="3931920"/>
          </a:xfrm>
          <a:prstGeom prst="rect">
            <a:avLst/>
          </a:prstGeom>
          <a:noFill/>
        </p:spPr>
        <p:txBody>
          <a:bodyPr wrap="square" lIns="0" tIns="0" rIns="0" bIns="0">
            <a:spAutoFit/>
          </a:bodyPr>
          <a:lstStyle/>
          <a:p>
            <a:pPr>
              <a:spcAft>
                <a:spcPts val="1200"/>
              </a:spcAft>
              <a:defRPr sz="1800" b="1">
                <a:solidFill>
                  <a:srgbClr val="38BDF8"/>
                </a:solidFill>
                <a:latin typeface="Georgia"/>
              </a:defRPr>
            </a:pPr>
            <a:r>
              <a:t>3. Module 3: Cart &amp; Order</a:t>
            </a:r>
          </a:p>
          <a:p>
            <a:pPr>
              <a:spcAft>
                <a:spcPts val="600"/>
              </a:spcAft>
              <a:defRPr sz="1300">
                <a:solidFill>
                  <a:srgbClr val="F1F5F9"/>
                </a:solidFill>
                <a:latin typeface="Verdana"/>
              </a:defRPr>
            </a:pPr>
            <a:r>
              <a:t>Quản lý giỏ hàng. API Đặt hàng: Xử lý trừ tồn kho, tạo đơn, tạo chi tiết đơn bọc trong giao dịch an toàn SqlTransaction đảm bảo ACID.</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81 / 88</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DATABASE DESIGN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Thiết kế CSDL SQL Server 5 bảng quan hệ chính</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Bảng Users: Lưu thông tin tài khoản, băm mật khẩu, RefreshToken.</a:t>
            </a:r>
          </a:p>
          <a:p>
            <a:pPr>
              <a:spcAft>
                <a:spcPts val="800"/>
              </a:spcAft>
              <a:defRPr sz="1200">
                <a:solidFill>
                  <a:srgbClr val="F1F5F9"/>
                </a:solidFill>
                <a:latin typeface="Verdana"/>
              </a:defRPr>
            </a:pPr>
            <a:r>
              <a:t>• Bảng Categories và Products: Liên kết khóa ngoại quan hệ 1-N.</a:t>
            </a:r>
          </a:p>
          <a:p>
            <a:pPr>
              <a:spcAft>
                <a:spcPts val="800"/>
              </a:spcAft>
              <a:defRPr sz="1200">
                <a:solidFill>
                  <a:srgbClr val="F1F5F9"/>
                </a:solidFill>
                <a:latin typeface="Verdana"/>
              </a:defRPr>
            </a:pPr>
            <a:r>
              <a:t>• Bảng Orders và OrderDetails: Lưu trữ hóa đơn bán hàng.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CREATE TABLE Users</a:t>
            </a:r>
          </a:p>
          <a:p>
            <a:pPr>
              <a:spcAft>
                <a:spcPts val="400"/>
              </a:spcAft>
              <a:defRPr sz="1100">
                <a:solidFill>
                  <a:srgbClr val="10B981"/>
                </a:solidFill>
                <a:latin typeface="Verdana"/>
              </a:defRPr>
            </a:pPr>
            <a:r>
              <a:t>✔ FOREIGN KEY REFERENCES Products</a:t>
            </a:r>
          </a:p>
          <a:p>
            <a:pPr>
              <a:spcAft>
                <a:spcPts val="400"/>
              </a:spcAft>
              <a:defRPr sz="1100">
                <a:solidFill>
                  <a:srgbClr val="10B981"/>
                </a:solidFill>
                <a:latin typeface="Verdana"/>
              </a:defRPr>
            </a:pPr>
            <a:r>
              <a:t>✔ StockQuantity</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-- 1. BẢNG NGƯỜI DÙNG (USERS)</a:t>
            </a:r>
            <a:br/>
            <a:r>
              <a:t>CREATE TABLE Users (</a:t>
            </a:r>
            <a:br/>
            <a:r>
              <a:t>    Id INT IDENTITY(1,1) PRIMARY KEY,</a:t>
            </a:r>
            <a:br/>
            <a:r>
              <a:t>    FullName NVARCHAR(100) NOT NULL,</a:t>
            </a:r>
            <a:br/>
            <a:r>
              <a:t>    Email VARCHAR(100) UNIQUE NOT NULL,</a:t>
            </a:r>
            <a:br/>
            <a:r>
              <a:t>    PasswordHash VARCHAR(255) NOT NULL,</a:t>
            </a:r>
            <a:br/>
            <a:r>
              <a:t>    Role VARCHAR(20) NOT NULL DEFAULT 'Customer', -- Admin, Customer</a:t>
            </a:r>
            <a:br/>
            <a:r>
              <a:t>    RefreshToken VARCHAR(255) NULL,</a:t>
            </a:r>
            <a:br/>
            <a:r>
              <a:t>    CreatedAt DATETIME2 DEFAULT GETUTCDATE()</a:t>
            </a:r>
            <a:br/>
            <a:r>
              <a:t>);</a:t>
            </a:r>
            <a:br/>
            <a:br/>
            <a:r>
              <a:t>-- 2. BẢNG SẢN PHẨM (PRODUCTS)</a:t>
            </a:r>
            <a:br/>
            <a:r>
              <a:t>CREATE TABLE Products (</a:t>
            </a:r>
            <a:br/>
            <a:r>
              <a:t>    Id INT IDENTITY(1,1) PRIMARY KEY,</a:t>
            </a:r>
            <a:br/>
            <a:r>
              <a:t>    CategoryId INT NOT NULL FOREIGN KEY REFERENCES Categories(Id),</a:t>
            </a:r>
            <a:br/>
            <a:r>
              <a:t>    Name NVARCHAR(150) NOT NULL,</a:t>
            </a:r>
            <a:br/>
            <a:r>
              <a:t>    Price DECIMAL(18,2) NOT NULL,</a:t>
            </a:r>
            <a:br/>
            <a:r>
              <a:t>    StockQuantity INT NOT NULL DEFAULT 0,</a:t>
            </a:r>
            <a:br/>
            <a:r>
              <a:t>    ImageUrl VARCHAR(500)</a:t>
            </a:r>
            <a:br/>
            <a:r>
              <a:t>);</a:t>
            </a:r>
            <a:br/>
            <a:br/>
            <a:r>
              <a:t>-- 3. BẢNG CHI TIẾT ĐƠN HÀNG (ORDERDETAILS)</a:t>
            </a:r>
            <a:br/>
            <a:r>
              <a:t>CREATE TABLE OrderDetails (</a:t>
            </a:r>
            <a:br/>
            <a:r>
              <a:t>    Id INT IDENTITY(1,1) PRIMARY KEY,</a:t>
            </a:r>
            <a:br/>
            <a:r>
              <a:t>    OrderId INT NOT NULL FOREIGN KEY REFERENCES Orders(Id),</a:t>
            </a:r>
            <a:br/>
            <a:r>
              <a:t>    ProductId INT NOT NULL FOREIGN KEY REFERENCES Products(Id),</a:t>
            </a:r>
            <a:br/>
            <a:r>
              <a:t>    Quantity INT NOT NULL,</a:t>
            </a:r>
            <a:br/>
            <a:r>
              <a:t>    UnitPrice DECIMAL(18,2) NOT NULL</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82 / 88</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APPLICATION LAYER</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Định nghĩa DTO &amp; Giao diện Interfaces</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kiểu C# Record định nghĩa DTO truyền tải thông tin đặt hàng.</a:t>
            </a:r>
          </a:p>
          <a:p>
            <a:pPr>
              <a:spcAft>
                <a:spcPts val="800"/>
              </a:spcAft>
              <a:defRPr sz="1200">
                <a:solidFill>
                  <a:srgbClr val="F1F5F9"/>
                </a:solidFill>
                <a:latin typeface="Verdana"/>
              </a:defRPr>
            </a:pPr>
            <a:r>
              <a:t>• CreateOrderDto bọc địa chỉ giao hàng và danh sách sản phẩm đặt hàng.</a:t>
            </a:r>
          </a:p>
          <a:p>
            <a:pPr>
              <a:spcAft>
                <a:spcPts val="800"/>
              </a:spcAft>
              <a:defRPr sz="1200">
                <a:solidFill>
                  <a:srgbClr val="F1F5F9"/>
                </a:solidFill>
                <a:latin typeface="Verdana"/>
              </a:defRPr>
            </a:pPr>
            <a:r>
              <a:t>• Định nghĩa giao thức trừu tượng IOrderRepository.</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record CreateOrderItemDto</a:t>
            </a:r>
          </a:p>
          <a:p>
            <a:pPr>
              <a:spcAft>
                <a:spcPts val="400"/>
              </a:spcAft>
              <a:defRPr sz="1100">
                <a:solidFill>
                  <a:srgbClr val="10B981"/>
                </a:solidFill>
                <a:latin typeface="Verdana"/>
              </a:defRPr>
            </a:pPr>
            <a:r>
              <a:t>✔ interface IOrderRepository</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namespace ECommerceSystem.Application.DTOs;</a:t>
            </a:r>
            <a:br/>
            <a:br/>
            <a:r>
              <a:t>// Khai báo sản phẩm và số lượng đặt mua</a:t>
            </a:r>
            <a:br/>
            <a:r>
              <a:t>public record CreateOrderItemDto(int ProductId, int Quantity);</a:t>
            </a:r>
            <a:br/>
            <a:br/>
            <a:r>
              <a:t>// Khai báo cấu trúc đơn đặt hàng</a:t>
            </a:r>
            <a:br/>
            <a:r>
              <a:t>public record CreateOrderDto(</a:t>
            </a:r>
            <a:br/>
            <a:r>
              <a:t>    string ShippingAddress,</a:t>
            </a:r>
            <a:br/>
            <a:r>
              <a:t>    List&lt;CreateOrderItemDto&gt; Items</a:t>
            </a:r>
            <a:br/>
            <a:r>
              <a:t>);</a:t>
            </a:r>
            <a:br/>
            <a:br/>
            <a:r>
              <a:t>namespace ECommerceSystem.Application.Abstracts;</a:t>
            </a:r>
            <a:br/>
            <a:br/>
            <a:r>
              <a:t>public interface IOrderRepository</a:t>
            </a:r>
            <a:br/>
            <a:r>
              <a:t>{</a:t>
            </a:r>
            <a:br/>
            <a:r>
              <a:t>    // Giao thức trừu tượng đặt hàng trả về ID hóa đơn vừa tạo</a:t>
            </a:r>
            <a:br/>
            <a:r>
              <a:t>    Task&lt;int&gt; CreateOrderWithDetailsAsync(</a:t>
            </a:r>
            <a:br/>
            <a:r>
              <a:t>        int userId, string shippingAddress, List&lt;CreateOrderItemDto&gt; items);</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83 / 88</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INFRASTRUCTURE LAYER</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Đặt hàng giao dịch Dapper Transaction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Kiểm tra tồn kho từng sản phẩm trước khi bán.</a:t>
            </a:r>
          </a:p>
          <a:p>
            <a:pPr>
              <a:spcAft>
                <a:spcPts val="800"/>
              </a:spcAft>
              <a:defRPr sz="1200">
                <a:solidFill>
                  <a:srgbClr val="F1F5F9"/>
                </a:solidFill>
                <a:latin typeface="Verdana"/>
              </a:defRPr>
            </a:pPr>
            <a:r>
              <a:t>• Trừ số lượng tồn kho của sản phẩm tự động.</a:t>
            </a:r>
          </a:p>
          <a:p>
            <a:pPr>
              <a:spcAft>
                <a:spcPts val="800"/>
              </a:spcAft>
              <a:defRPr sz="1200">
                <a:solidFill>
                  <a:srgbClr val="F1F5F9"/>
                </a:solidFill>
                <a:latin typeface="Verdana"/>
              </a:defRPr>
            </a:pPr>
            <a:r>
              <a:t>• Insert hóa đơn Orders và các dòng chi tiết OrderDetails trong cùng Transaction.</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conn.BeginTransaction()</a:t>
            </a:r>
          </a:p>
          <a:p>
            <a:pPr>
              <a:spcAft>
                <a:spcPts val="400"/>
              </a:spcAft>
              <a:defRPr sz="1100">
                <a:solidFill>
                  <a:srgbClr val="10B981"/>
                </a:solidFill>
                <a:latin typeface="Verdana"/>
              </a:defRPr>
            </a:pPr>
            <a:r>
              <a:t>✔ UPDATE Products SET StockQuantity</a:t>
            </a:r>
          </a:p>
          <a:p>
            <a:pPr>
              <a:spcAft>
                <a:spcPts val="400"/>
              </a:spcAft>
              <a:defRPr sz="1100">
                <a:solidFill>
                  <a:srgbClr val="10B981"/>
                </a:solidFill>
                <a:latin typeface="Verdana"/>
              </a:defRPr>
            </a:pPr>
            <a:r>
              <a:t>✔ trans.CommitAsync()</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public async Task&lt;int&gt; CreateOrderWithDetailsAsync(</a:t>
            </a:r>
            <a:br/>
            <a:r>
              <a:t>    int userId, string shippingAddress, List&lt;CreateOrderItemDto&gt; items) {</a:t>
            </a:r>
            <a:br/>
            <a:r>
              <a:t>    using var conn = new SqlConnection(_connectionString);</a:t>
            </a:r>
            <a:br/>
            <a:r>
              <a:t>    await conn.OpenAsync();</a:t>
            </a:r>
            <a:br/>
            <a:r>
              <a:t>    using var trans = conn.BeginTransaction();</a:t>
            </a:r>
            <a:br/>
            <a:r>
              <a:t>    try {</a:t>
            </a:r>
            <a:br/>
            <a:r>
              <a:t>        decimal totalAmount = 0;</a:t>
            </a:r>
            <a:br/>
            <a:r>
              <a:t>        foreach (var item in items) {</a:t>
            </a:r>
            <a:br/>
            <a:r>
              <a:t>            // 1. Đọc giá và kiểm tra tồn kho</a:t>
            </a:r>
            <a:br/>
            <a:r>
              <a:t>            var product = await conn.QueryFirstOrDefaultAsync&lt;(decimal Price, int Stock)&gt;(</a:t>
            </a:r>
            <a:br/>
            <a:r>
              <a:t>                "SELECT Price, StockQuantity FROM Products WHERE Id = @Id", </a:t>
            </a:r>
            <a:br/>
            <a:r>
              <a:t>                new { Id = item.ProductId }, trans);</a:t>
            </a:r>
            <a:br/>
            <a:r>
              <a:t>            if (product.Equals(default) || product.Stock &lt; item.Quantity)</a:t>
            </a:r>
            <a:br/>
            <a:r>
              <a:t>                throw new InvalidOperationException("Kho không đủ hàng!");</a:t>
            </a:r>
            <a:br/>
            <a:r>
              <a:t>            </a:t>
            </a:r>
            <a:br/>
            <a:r>
              <a:t>            totalAmount += product.Price * item.Quantity;</a:t>
            </a:r>
            <a:br/>
            <a:r>
              <a:t>            // 2. Trừ tồn kho sản phẩm</a:t>
            </a:r>
            <a:br/>
            <a:r>
              <a:t>            await conn.ExecuteAsync(</a:t>
            </a:r>
            <a:br/>
            <a:r>
              <a:t>                "UPDATE Products SET StockQuantity = StockQuantity - @Qty WHERE Id = @Id",</a:t>
            </a:r>
            <a:br/>
            <a:r>
              <a:t>                new { Qty = item.Quantity, Id = item.ProductId }, trans);</a:t>
            </a:r>
            <a:br/>
            <a:r>
              <a:t>        }</a:t>
            </a:r>
            <a:br/>
            <a:r>
              <a:t>        // 3. Tạo Đơn hàng</a:t>
            </a:r>
            <a:br/>
            <a:r>
              <a:t>        int orderId = await conn.ExecuteScalarAsync&lt;int&gt;(</a:t>
            </a:r>
            <a:br/>
            <a:r>
              <a:t>            @"INSERT INTO Orders (UserId, TotalAmount, ShippingAddress, OrderDate)</a:t>
            </a:r>
            <a:br/>
            <a:r>
              <a:t>              VALUES (@UserId, @Total, @Addr, GETUTCDATE()); SELECT CAST(SCOPE_IDENTITY() as int);",</a:t>
            </a:r>
            <a:br/>
            <a:r>
              <a:t>            new { UserId = userId, Total = totalAmount, Addr = shippingAddress }, trans);</a:t>
            </a:r>
            <a:br/>
            <a:r>
              <a:t>        // 4. Tạo chi tiết</a:t>
            </a:r>
            <a:br/>
            <a:r>
              <a:t>        foreach (var item in items) {</a:t>
            </a:r>
            <a:br/>
            <a:r>
              <a:t>            await conn.ExecuteAsync(</a:t>
            </a:r>
            <a:br/>
            <a:r>
              <a:t>                @"INSERT INTO OrderDetails (OrderId, ProductId, Quantity, UnitPrice)</a:t>
            </a:r>
            <a:br/>
            <a:r>
              <a:t>                  SELECT @OrderId, @ProdId, @Qty, Price FROM Products WHERE Id = @ProdId;",</a:t>
            </a:r>
            <a:br/>
            <a:r>
              <a:t>                new { OrderId = orderId, ProdId = item.ProductId, Qty = item.Quantity }, trans);</a:t>
            </a:r>
            <a:br/>
            <a:r>
              <a:t>        }</a:t>
            </a:r>
            <a:br/>
            <a:r>
              <a:t>        await trans.CommitAsync(); return orderId;</a:t>
            </a:r>
            <a:br/>
            <a:r>
              <a:t>    } catch { await trans.RollbackAsync(); throw;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84 / 88</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PRESENTATION LAYER</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Xây dựng OrdersController an toàn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Attribute [Authorize] bảo vệ chặn truy cập nặc danh.</a:t>
            </a:r>
          </a:p>
          <a:p>
            <a:pPr>
              <a:spcAft>
                <a:spcPts val="800"/>
              </a:spcAft>
              <a:defRPr sz="1200">
                <a:solidFill>
                  <a:srgbClr val="F1F5F9"/>
                </a:solidFill>
                <a:latin typeface="Verdana"/>
              </a:defRPr>
            </a:pPr>
            <a:r>
              <a:t>• Bóc tách thông tin UserId trực tiếp từ JWT Claim bảo mật.</a:t>
            </a:r>
          </a:p>
          <a:p>
            <a:pPr>
              <a:spcAft>
                <a:spcPts val="800"/>
              </a:spcAft>
              <a:defRPr sz="1200">
                <a:solidFill>
                  <a:srgbClr val="F1F5F9"/>
                </a:solidFill>
                <a:latin typeface="Verdana"/>
              </a:defRPr>
            </a:pPr>
            <a:r>
              <a:t>• Trả về mã thông báo đặt hàng thành công.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[Authorize]</a:t>
            </a:r>
          </a:p>
          <a:p>
            <a:pPr>
              <a:spcAft>
                <a:spcPts val="400"/>
              </a:spcAft>
              <a:defRPr sz="1100">
                <a:solidFill>
                  <a:srgbClr val="10B981"/>
                </a:solidFill>
                <a:latin typeface="Verdana"/>
              </a:defRPr>
            </a:pPr>
            <a:r>
              <a:t>✔ User.FindFirst(ClaimTypes.NameIdentifier)</a:t>
            </a:r>
          </a:p>
          <a:p>
            <a:pPr>
              <a:spcAft>
                <a:spcPts val="400"/>
              </a:spcAft>
              <a:defRPr sz="1100">
                <a:solidFill>
                  <a:srgbClr val="10B981"/>
                </a:solidFill>
                <a:latin typeface="Verdana"/>
              </a:defRPr>
            </a:pPr>
            <a:r>
              <a:t>✔ CreateOrderWithDetailsAsync</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namespace ECommerceSystem.Api.Controllers;</a:t>
            </a:r>
            <a:br/>
            <a:br/>
            <a:r>
              <a:t>using System.Security.Claims;</a:t>
            </a:r>
            <a:br/>
            <a:r>
              <a:t>using Microsoft.AspNetCore.Authorization;</a:t>
            </a:r>
            <a:br/>
            <a:r>
              <a:t>using Microsoft.AspNetCore.Mvc;</a:t>
            </a:r>
            <a:br/>
            <a:br/>
            <a:r>
              <a:t>[ApiController]</a:t>
            </a:r>
            <a:br/>
            <a:r>
              <a:t>[Route("api/[controller]")]</a:t>
            </a:r>
            <a:br/>
            <a:r>
              <a:t>[Authorize] // Bắt buộc đăng nhập JWT gửi kèm Bearer Token</a:t>
            </a:r>
            <a:br/>
            <a:r>
              <a:t>public class OrdersController : ControllerBase</a:t>
            </a:r>
            <a:br/>
            <a:r>
              <a:t>{</a:t>
            </a:r>
            <a:br/>
            <a:r>
              <a:t>    private readonly IOrderRepository _orderRepository;</a:t>
            </a:r>
            <a:br/>
            <a:r>
              <a:t>    public OrdersController(IOrderRepository orderRepo) =&gt; _orderRepository = orderRepo;</a:t>
            </a:r>
            <a:br/>
            <a:br/>
            <a:r>
              <a:t>    [HttpPost]</a:t>
            </a:r>
            <a:br/>
            <a:r>
              <a:t>    public async Task&lt;IActionResult&gt; CreateOrder([FromBody] CreateOrderDto dto)</a:t>
            </a:r>
            <a:br/>
            <a:r>
              <a:t>    {</a:t>
            </a:r>
            <a:br/>
            <a:r>
              <a:t>        // Trích bóc an toàn UserId từ JWT Claim tự động hóa bỏi framework</a:t>
            </a:r>
            <a:br/>
            <a:r>
              <a:t>        var userIdClaim = User.FindFirst(ClaimTypes.NameIdentifier)?.Value;</a:t>
            </a:r>
            <a:br/>
            <a:r>
              <a:t>        if (string.IsNullOrEmpty(userIdClaim)) return Unauthorized();</a:t>
            </a:r>
            <a:br/>
            <a:r>
              <a:t>        </a:t>
            </a:r>
            <a:br/>
            <a:r>
              <a:t>        int userId = int.Parse(userIdClaim);</a:t>
            </a:r>
            <a:br/>
            <a:r>
              <a:t>        </a:t>
            </a:r>
            <a:br/>
            <a:r>
              <a:t>        // Gọi xử lý nghiệp vụ bọc trong Transaction ở tầng hạ tầng</a:t>
            </a:r>
            <a:br/>
            <a:r>
              <a:t>        int orderId = await _orderRepository.CreateOrderWithDetailsAsync(</a:t>
            </a:r>
            <a:br/>
            <a:r>
              <a:t>            userId, dto.ShippingAddress, dto.Items);</a:t>
            </a:r>
            <a:br/>
            <a:r>
              <a:t>            </a:t>
            </a:r>
            <a:br/>
            <a:r>
              <a:t>        return Ok(new {</a:t>
            </a:r>
            <a:br/>
            <a:r>
              <a:t>            Success = true, Message = "Đặt hàng thành công!", OrderId = orderId</a:t>
            </a:r>
            <a:br/>
            <a:r>
              <a:t>        });</a:t>
            </a:r>
            <a:br/>
            <a:r>
              <a:t>    }</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85 / 88</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FRONTEND INTEGRATION</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Kết nối Frontend ReactJS qua Axios Interceptor</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Sử dụng Axios lập trình gọi gọi API Backend.</a:t>
            </a:r>
          </a:p>
          <a:p>
            <a:pPr>
              <a:spcAft>
                <a:spcPts val="800"/>
              </a:spcAft>
              <a:defRPr sz="1200">
                <a:solidFill>
                  <a:srgbClr val="F1F5F9"/>
                </a:solidFill>
                <a:latin typeface="Verdana"/>
              </a:defRPr>
            </a:pPr>
            <a:r>
              <a:t>• Viết Axios Interceptor tự động bóc lấy JWT Access Token từ LocalStorage để đính kèm vào Authorization Header cho mọi Request.</a:t>
            </a:r>
          </a:p>
          <a:p>
            <a:pPr>
              <a:spcAft>
                <a:spcPts val="800"/>
              </a:spcAft>
              <a:defRPr sz="1200">
                <a:solidFill>
                  <a:srgbClr val="F1F5F9"/>
                </a:solidFill>
                <a:latin typeface="Verdana"/>
              </a:defRPr>
            </a:pPr>
            <a:r>
              <a:t>• Xử lý lưu trữ cặp đôi Token mượt mà sau khi đăng nhập.</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apiClient.interceptors.request.use</a:t>
            </a:r>
          </a:p>
          <a:p>
            <a:pPr>
              <a:spcAft>
                <a:spcPts val="400"/>
              </a:spcAft>
              <a:defRPr sz="1100">
                <a:solidFill>
                  <a:srgbClr val="10B981"/>
                </a:solidFill>
                <a:latin typeface="Verdana"/>
              </a:defRPr>
            </a:pPr>
            <a:r>
              <a:t>✔ config.headers.Authorization</a:t>
            </a:r>
          </a:p>
          <a:p>
            <a:pPr>
              <a:spcAft>
                <a:spcPts val="400"/>
              </a:spcAft>
              <a:defRPr sz="1100">
                <a:solidFill>
                  <a:srgbClr val="10B981"/>
                </a:solidFill>
                <a:latin typeface="Verdana"/>
              </a:defRPr>
            </a:pPr>
            <a:r>
              <a:t>✔ Bearer ${token}</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import axios from 'axios';</a:t>
            </a:r>
            <a:br/>
            <a:r>
              <a:t>const API_BASE_URL = 'http://localhost:5000/api';</a:t>
            </a:r>
            <a:br/>
            <a:br/>
            <a:r>
              <a:t>const apiClient = axios.create({</a:t>
            </a:r>
            <a:br/>
            <a:r>
              <a:t>    baseURL: API_BASE_URL,</a:t>
            </a:r>
            <a:br/>
            <a:r>
              <a:t>    headers: { 'Content-Type': 'application/json' }</a:t>
            </a:r>
            <a:br/>
            <a:r>
              <a:t>});</a:t>
            </a:r>
            <a:br/>
            <a:br/>
            <a:r>
              <a:t>// Axios Interceptor: Tự động đính kèm token bảo mật JWT</a:t>
            </a:r>
            <a:br/>
            <a:r>
              <a:t>apiClient.interceptors.request.use((config) =&gt; {</a:t>
            </a:r>
            <a:br/>
            <a:r>
              <a:t>    const token = localStorage.getItem('accessToken');</a:t>
            </a:r>
            <a:br/>
            <a:r>
              <a:t>    if (token) {</a:t>
            </a:r>
            <a:br/>
            <a:r>
              <a:t>        config.headers.Authorization = `Bearer ${token}`; // Đính kèm Bearer Token</a:t>
            </a:r>
            <a:br/>
            <a:r>
              <a:t>    }</a:t>
            </a:r>
            <a:br/>
            <a:r>
              <a:t>    return config;</a:t>
            </a:r>
            <a:br/>
            <a:r>
              <a:t>});</a:t>
            </a:r>
            <a:br/>
            <a:br/>
            <a:r>
              <a:t>// Thực hiện gọi API đặt hàng đơn giản từ giao diện Client</a:t>
            </a:r>
            <a:br/>
            <a:r>
              <a:t>export const placeOrder = async (shippingAddress, items) =&gt; {</a:t>
            </a:r>
            <a:br/>
            <a:r>
              <a:t>    const response = await apiClient.post('/orders', { shippingAddress, items });</a:t>
            </a:r>
            <a:br/>
            <a:r>
              <a:t>    return response.data;</a:t>
            </a:r>
            <a:br/>
            <a:r>
              <a:t>};</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86 / 88</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DOCKER DEPLOYMENT</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Triển khai Docker Compose đa container tập trung</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4114800" cy="4389120"/>
          </a:xfrm>
          <a:prstGeom prst="rect">
            <a:avLst/>
          </a:prstGeom>
          <a:noFill/>
        </p:spPr>
        <p:txBody>
          <a:bodyPr wrap="square" lIns="0" tIns="0" rIns="0" bIns="0">
            <a:spAutoFit/>
          </a:bodyPr>
          <a:lstStyle/>
          <a:p>
            <a:pPr>
              <a:spcAft>
                <a:spcPts val="1000"/>
              </a:spcAft>
              <a:defRPr sz="1800" b="1">
                <a:solidFill>
                  <a:srgbClr val="38BDF8"/>
                </a:solidFill>
                <a:latin typeface="Georgia"/>
              </a:defRPr>
            </a:pPr>
            <a:r>
              <a:t>Mô Tả &amp; Điểm Cốt Lõi:</a:t>
            </a:r>
          </a:p>
          <a:p>
            <a:pPr>
              <a:spcAft>
                <a:spcPts val="800"/>
              </a:spcAft>
              <a:defRPr sz="1200">
                <a:solidFill>
                  <a:srgbClr val="F1F5F9"/>
                </a:solidFill>
                <a:latin typeface="Verdana"/>
              </a:defRPr>
            </a:pPr>
            <a:r>
              <a:t>• docker-compose.yml bọc chạy đồng thời Web API, SQL Server và Redis.</a:t>
            </a:r>
          </a:p>
          <a:p>
            <a:pPr>
              <a:spcAft>
                <a:spcPts val="800"/>
              </a:spcAft>
              <a:defRPr sz="1200">
                <a:solidFill>
                  <a:srgbClr val="F1F5F9"/>
                </a:solidFill>
                <a:latin typeface="Verdana"/>
              </a:defRPr>
            </a:pPr>
            <a:r>
              <a:t>• Sử dụng chung một mạng ảo biệt lập mang tên 'ecommerce-network'.</a:t>
            </a:r>
          </a:p>
          <a:p>
            <a:pPr>
              <a:spcAft>
                <a:spcPts val="800"/>
              </a:spcAft>
              <a:defRPr sz="1200">
                <a:solidFill>
                  <a:srgbClr val="F1F5F9"/>
                </a:solidFill>
                <a:latin typeface="Verdana"/>
              </a:defRPr>
            </a:pPr>
            <a:r>
              <a:t>• Mã hóa tham số kết nối, Jwt Security Key bí mật truyền qua biến môi trường.</a:t>
            </a:r>
          </a:p>
          <a:p>
            <a:pPr>
              <a:spcBef>
                <a:spcPts val="1000"/>
              </a:spcBef>
              <a:spcAft>
                <a:spcPts val="600"/>
              </a:spcAft>
              <a:defRPr sz="1400" b="1">
                <a:solidFill>
                  <a:srgbClr val="14B8A6"/>
                </a:solidFill>
                <a:latin typeface="Georgia"/>
              </a:defRPr>
            </a:pPr>
            <a:r>
              <a:t>Cú pháp quan trọng:</a:t>
            </a:r>
          </a:p>
          <a:p>
            <a:pPr>
              <a:spcAft>
                <a:spcPts val="400"/>
              </a:spcAft>
              <a:defRPr sz="1100">
                <a:solidFill>
                  <a:srgbClr val="10B981"/>
                </a:solidFill>
                <a:latin typeface="Verdana"/>
              </a:defRPr>
            </a:pPr>
            <a:r>
              <a:t>✔ ecommerce-api:</a:t>
            </a:r>
          </a:p>
          <a:p>
            <a:pPr>
              <a:spcAft>
                <a:spcPts val="400"/>
              </a:spcAft>
              <a:defRPr sz="1100">
                <a:solidFill>
                  <a:srgbClr val="10B981"/>
                </a:solidFill>
                <a:latin typeface="Verdana"/>
              </a:defRPr>
            </a:pPr>
            <a:r>
              <a:t>✔ sqlserver:</a:t>
            </a:r>
          </a:p>
          <a:p>
            <a:pPr>
              <a:spcAft>
                <a:spcPts val="400"/>
              </a:spcAft>
              <a:defRPr sz="1100">
                <a:solidFill>
                  <a:srgbClr val="10B981"/>
                </a:solidFill>
                <a:latin typeface="Verdana"/>
              </a:defRPr>
            </a:pPr>
            <a:r>
              <a:t>✔ redis:</a:t>
            </a:r>
          </a:p>
          <a:p>
            <a:pPr>
              <a:spcAft>
                <a:spcPts val="400"/>
              </a:spcAft>
              <a:defRPr sz="1100">
                <a:solidFill>
                  <a:srgbClr val="10B981"/>
                </a:solidFill>
                <a:latin typeface="Verdana"/>
              </a:defRPr>
            </a:pPr>
            <a:r>
              <a:t>✔ networks:</a:t>
            </a:r>
          </a:p>
        </p:txBody>
      </p:sp>
      <p:sp>
        <p:nvSpPr>
          <p:cNvPr id="6" name="Rectangle 5"/>
          <p:cNvSpPr/>
          <p:nvPr/>
        </p:nvSpPr>
        <p:spPr>
          <a:xfrm>
            <a:off x="5029200" y="1645920"/>
            <a:ext cx="6476695" cy="4389120"/>
          </a:xfrm>
          <a:prstGeom prst="rect">
            <a:avLst/>
          </a:prstGeom>
          <a:solidFill>
            <a:srgbClr val="090B14"/>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2080" y="178308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394960" y="17830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77840" y="178308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011680"/>
            <a:ext cx="6110935" cy="3840480"/>
          </a:xfrm>
          <a:prstGeom prst="rect">
            <a:avLst/>
          </a:prstGeom>
          <a:noFill/>
        </p:spPr>
        <p:txBody>
          <a:bodyPr wrap="square" lIns="0" tIns="0" rIns="0" bIns="0">
            <a:spAutoFit/>
          </a:bodyPr>
          <a:lstStyle/>
          <a:p>
            <a:pPr>
              <a:defRPr sz="1050">
                <a:solidFill>
                  <a:srgbClr val="C8DCF0"/>
                </a:solidFill>
                <a:latin typeface="Consolas"/>
              </a:defRPr>
            </a:pPr>
            <a:r>
              <a:t>version: '3.8'</a:t>
            </a:r>
            <a:br/>
            <a:r>
              <a:t>services:</a:t>
            </a:r>
            <a:br/>
            <a:r>
              <a:t>  ecommerce-api:</a:t>
            </a:r>
            <a:br/>
            <a:r>
              <a:t>    build:</a:t>
            </a:r>
            <a:br/>
            <a:r>
              <a:t>      context: .</a:t>
            </a:r>
            <a:br/>
            <a:r>
              <a:t>      dockerfile: Dockerfile</a:t>
            </a:r>
            <a:br/>
            <a:r>
              <a:t>    ports:</a:t>
            </a:r>
            <a:br/>
            <a:r>
              <a:t>      - "5000:8080"</a:t>
            </a:r>
            <a:br/>
            <a:r>
              <a:t>    environment:</a:t>
            </a:r>
            <a:br/>
            <a:r>
              <a:t>      - ASPNETCORE_ENVIRONMENT=Production</a:t>
            </a:r>
            <a:br/>
            <a:r>
              <a:t>      - ConnectionStrings__DefaultConnection=Server=sqlserver;Database=ECommerceDb;User Id=sa;Password=SecurePassword123!;TrustServerCertificate=True;</a:t>
            </a:r>
            <a:br/>
            <a:r>
              <a:t>      - ConnectionStrings__RedisConnection=redis:6379</a:t>
            </a:r>
            <a:br/>
            <a:r>
              <a:t>      - JwtSettings__SecretKey=C1S3cr3tK3yM3g4L0ngAndS3cur3N3v3rSh4r3Th1s1nPr0duct10n!</a:t>
            </a:r>
            <a:br/>
            <a:r>
              <a:t>      - JwtSettings__Issuer=ECommerceApi</a:t>
            </a:r>
            <a:br/>
            <a:r>
              <a:t>      - JwtSettings__Audience=ECommerceClient</a:t>
            </a:r>
            <a:br/>
            <a:r>
              <a:t>    depends_on:</a:t>
            </a:r>
            <a:br/>
            <a:r>
              <a:t>      - sqlserver</a:t>
            </a:r>
            <a:br/>
            <a:r>
              <a:t>      - redis</a:t>
            </a:r>
            <a:br/>
            <a:br/>
            <a:r>
              <a:t>  sqlserver:</a:t>
            </a:r>
            <a:br/>
            <a:r>
              <a:t>    image: mcr.microsoft.com/mssql/server:2022-latest</a:t>
            </a:r>
            <a:br/>
            <a:r>
              <a:t>    container_name: ecommerce-db</a:t>
            </a:r>
            <a:br/>
            <a:r>
              <a:t>    environment:</a:t>
            </a:r>
            <a:br/>
            <a:r>
              <a:t>      - ACCEPT_EULA=Y</a:t>
            </a:r>
            <a:br/>
            <a:r>
              <a:t>      - MSSQL_SA_PASSWORD=SecurePassword123!</a:t>
            </a:r>
            <a:br/>
            <a:r>
              <a:t>    ports:</a:t>
            </a:r>
            <a:br/>
            <a:r>
              <a:t>      - "1433:1433"</a:t>
            </a:r>
            <a:br/>
            <a:br/>
            <a:r>
              <a:t>  redis:</a:t>
            </a:r>
            <a:br/>
            <a:r>
              <a:t>    image: redis:alpine</a:t>
            </a:r>
            <a:br/>
            <a:r>
              <a:t>    container_name: ecommerce-cache</a:t>
            </a:r>
            <a:br/>
            <a:r>
              <a:t>    ports:</a:t>
            </a:r>
            <a:br/>
            <a:r>
              <a:t>      - "6379:6379"</a:t>
            </a:r>
            <a:br/>
            <a:br/>
            <a:r>
              <a:t>networks:</a:t>
            </a:r>
            <a:br/>
            <a:r>
              <a:t>  default:</a:t>
            </a:r>
            <a:br/>
            <a:r>
              <a:t>    name: ecommerce-network</a:t>
            </a:r>
          </a:p>
        </p:txBody>
      </p:sp>
      <p:sp>
        <p:nvSpPr>
          <p:cNvPr id="11" name="TextBox 10"/>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87 / 88</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365760"/>
            <a:ext cx="10820095" cy="365760"/>
          </a:xfrm>
          <a:prstGeom prst="rect">
            <a:avLst/>
          </a:prstGeom>
          <a:noFill/>
        </p:spPr>
        <p:txBody>
          <a:bodyPr wrap="square" lIns="0" tIns="0" rIns="0" bIns="0">
            <a:spAutoFit/>
          </a:bodyPr>
          <a:lstStyle/>
          <a:p>
            <a:pPr>
              <a:defRPr sz="1100" b="1">
                <a:solidFill>
                  <a:srgbClr val="38BDF8"/>
                </a:solidFill>
                <a:latin typeface="Verdana"/>
              </a:defRPr>
            </a:pPr>
            <a:r>
              <a:t>BÀI 8: ĐỒ ÁN CUỐI KHÓA</a:t>
            </a:r>
          </a:p>
        </p:txBody>
      </p:sp>
      <p:sp>
        <p:nvSpPr>
          <p:cNvPr id="3" name="TextBox 2"/>
          <p:cNvSpPr txBox="1"/>
          <p:nvPr/>
        </p:nvSpPr>
        <p:spPr>
          <a:xfrm>
            <a:off x="685800" y="731520"/>
            <a:ext cx="10820095" cy="731520"/>
          </a:xfrm>
          <a:prstGeom prst="rect">
            <a:avLst/>
          </a:prstGeom>
          <a:noFill/>
        </p:spPr>
        <p:txBody>
          <a:bodyPr wrap="square" lIns="0" tIns="0" rIns="0" bIns="0">
            <a:spAutoFit/>
          </a:bodyPr>
          <a:lstStyle/>
          <a:p>
            <a:pPr>
              <a:defRPr sz="2800" b="1">
                <a:solidFill>
                  <a:srgbClr val="F1F5F9"/>
                </a:solidFill>
                <a:latin typeface="Georgia"/>
              </a:defRPr>
            </a:pPr>
            <a:r>
              <a:t>Tiêu chí &amp; Rubric chấm điểm bảo vệ đồ án</a:t>
            </a:r>
          </a:p>
        </p:txBody>
      </p:sp>
      <p:sp>
        <p:nvSpPr>
          <p:cNvPr id="4" name="Rectangle 3"/>
          <p:cNvSpPr/>
          <p:nvPr/>
        </p:nvSpPr>
        <p:spPr>
          <a:xfrm>
            <a:off x="685800" y="1371600"/>
            <a:ext cx="1082009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10820095" cy="457200"/>
          </a:xfrm>
          <a:prstGeom prst="rect">
            <a:avLst/>
          </a:prstGeom>
          <a:noFill/>
        </p:spPr>
        <p:txBody>
          <a:bodyPr wrap="square">
            <a:spAutoFit/>
          </a:bodyPr>
          <a:lstStyle/>
          <a:p>
            <a:pPr>
              <a:defRPr sz="1300">
                <a:solidFill>
                  <a:srgbClr val="94A3B8"/>
                </a:solidFill>
                <a:latin typeface="Verdana"/>
              </a:defRPr>
            </a:pPr>
            <a:r>
              <a:t>Bảng quy chiếu đánh giá chất lượng sản phẩm cuối khóa dựa trên 4 khía cạnh kỹ thuật cốt lõi.</a:t>
            </a:r>
          </a:p>
        </p:txBody>
      </p:sp>
      <p:graphicFrame>
        <p:nvGraphicFramePr>
          <p:cNvPr id="6" name="Table 5"/>
          <p:cNvGraphicFramePr>
            <a:graphicFrameLocks noGrp="1"/>
          </p:cNvGraphicFramePr>
          <p:nvPr/>
        </p:nvGraphicFramePr>
        <p:xfrm>
          <a:off x="685800" y="2011680"/>
          <a:ext cx="11277295" cy="4023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962095">
                  <a:extLst>
                    <a:ext uri="{9D8B030D-6E8A-4147-A177-3AD203B41FA5}">
                      <a16:colId xmlns:a16="http://schemas.microsoft.com/office/drawing/2014/main" val="20003"/>
                    </a:ext>
                  </a:extLst>
                </a:gridCol>
              </a:tblGrid>
              <a:tr h="804672">
                <a:tc>
                  <a:txBody>
                    <a:bodyPr/>
                    <a:lstStyle/>
                    <a:p>
                      <a:pPr algn="l"/>
                      <a:r>
                        <a:rPr sz="1100" b="1">
                          <a:solidFill>
                            <a:srgbClr val="38BDF8"/>
                          </a:solidFill>
                          <a:latin typeface="Verdana"/>
                        </a:rPr>
                        <a:t>Nhóm tiêu chí đánh giá</a:t>
                      </a:r>
                    </a:p>
                  </a:txBody>
                  <a:tcPr marL="76200" marR="76200" marT="50800" marB="50800">
                    <a:solidFill>
                      <a:srgbClr val="1E293B"/>
                    </a:solidFill>
                  </a:tcPr>
                </a:tc>
                <a:tc>
                  <a:txBody>
                    <a:bodyPr/>
                    <a:lstStyle/>
                    <a:p>
                      <a:pPr algn="l"/>
                      <a:r>
                        <a:rPr sz="1100" b="1">
                          <a:solidFill>
                            <a:srgbClr val="38BDF8"/>
                          </a:solidFill>
                          <a:latin typeface="Verdana"/>
                        </a:rPr>
                        <a:t>Trọng số</a:t>
                      </a:r>
                    </a:p>
                  </a:txBody>
                  <a:tcPr marL="76200" marR="76200" marT="50800" marB="50800">
                    <a:solidFill>
                      <a:srgbClr val="1E293B"/>
                    </a:solidFill>
                  </a:tcPr>
                </a:tc>
                <a:tc>
                  <a:txBody>
                    <a:bodyPr/>
                    <a:lstStyle/>
                    <a:p>
                      <a:pPr algn="l"/>
                      <a:r>
                        <a:rPr sz="1100" b="1">
                          <a:solidFill>
                            <a:srgbClr val="38BDF8"/>
                          </a:solidFill>
                          <a:latin typeface="Verdana"/>
                        </a:rPr>
                        <a:t>Yêu cầu mức Đạt (Điểm trung bình)</a:t>
                      </a:r>
                    </a:p>
                  </a:txBody>
                  <a:tcPr marL="76200" marR="76200" marT="50800" marB="50800">
                    <a:solidFill>
                      <a:srgbClr val="1E293B"/>
                    </a:solidFill>
                  </a:tcPr>
                </a:tc>
                <a:tc>
                  <a:txBody>
                    <a:bodyPr/>
                    <a:lstStyle/>
                    <a:p>
                      <a:pPr algn="l"/>
                      <a:r>
                        <a:rPr sz="1100" b="1">
                          <a:solidFill>
                            <a:srgbClr val="38BDF8"/>
                          </a:solidFill>
                          <a:latin typeface="Verdana"/>
                        </a:rPr>
                        <a:t>Yêu cầu mức Xuất Sắc (Điểm tối đa)</a:t>
                      </a:r>
                    </a:p>
                  </a:txBody>
                  <a:tcPr marL="76200" marR="76200" marT="50800" marB="50800">
                    <a:solidFill>
                      <a:srgbClr val="1E293B"/>
                    </a:solidFill>
                  </a:tcPr>
                </a:tc>
                <a:extLst>
                  <a:ext uri="{0D108BD9-81ED-4DB2-BD59-A6C34878D82A}">
                    <a16:rowId xmlns:a16="http://schemas.microsoft.com/office/drawing/2014/main" val="10000"/>
                  </a:ext>
                </a:extLst>
              </a:tr>
              <a:tr h="804672">
                <a:tc>
                  <a:txBody>
                    <a:bodyPr/>
                    <a:lstStyle/>
                    <a:p>
                      <a:pPr algn="l"/>
                      <a:r>
                        <a:rPr sz="1000">
                          <a:solidFill>
                            <a:srgbClr val="F1F5F9"/>
                          </a:solidFill>
                          <a:latin typeface="Verdana"/>
                        </a:rPr>
                        <a:t>Kiến trúc &amp; Code Quality</a:t>
                      </a:r>
                    </a:p>
                  </a:txBody>
                  <a:tcPr marL="76200" marR="76200" marT="50800" marB="50800">
                    <a:solidFill>
                      <a:srgbClr val="0F172A"/>
                    </a:solidFill>
                  </a:tcPr>
                </a:tc>
                <a:tc>
                  <a:txBody>
                    <a:bodyPr/>
                    <a:lstStyle/>
                    <a:p>
                      <a:pPr algn="l"/>
                      <a:r>
                        <a:rPr sz="1000">
                          <a:solidFill>
                            <a:srgbClr val="F1F5F9"/>
                          </a:solidFill>
                          <a:latin typeface="Verdana"/>
                        </a:rPr>
                        <a:t>30%</a:t>
                      </a:r>
                    </a:p>
                  </a:txBody>
                  <a:tcPr marL="76200" marR="76200" marT="50800" marB="50800">
                    <a:solidFill>
                      <a:srgbClr val="0F172A"/>
                    </a:solidFill>
                  </a:tcPr>
                </a:tc>
                <a:tc>
                  <a:txBody>
                    <a:bodyPr/>
                    <a:lstStyle/>
                    <a:p>
                      <a:pPr algn="l"/>
                      <a:r>
                        <a:rPr sz="1000">
                          <a:solidFill>
                            <a:srgbClr val="F1F5F9"/>
                          </a:solidFill>
                          <a:latin typeface="Verdana"/>
                        </a:rPr>
                        <a:t>Phân tách 4 lớp cơ bản, sử dụng Dependency Injection, tách DTO.</a:t>
                      </a:r>
                    </a:p>
                  </a:txBody>
                  <a:tcPr marL="76200" marR="76200" marT="50800" marB="50800">
                    <a:solidFill>
                      <a:srgbClr val="0F172A"/>
                    </a:solidFill>
                  </a:tcPr>
                </a:tc>
                <a:tc>
                  <a:txBody>
                    <a:bodyPr/>
                    <a:lstStyle/>
                    <a:p>
                      <a:pPr algn="l"/>
                      <a:r>
                        <a:rPr sz="1000">
                          <a:solidFill>
                            <a:srgbClr val="F1F5F9"/>
                          </a:solidFill>
                          <a:latin typeface="Verdana"/>
                        </a:rPr>
                        <a:t>Tuân thủ chặt chẽ ranh giới Clean Architecture, không trùng lặp mã.</a:t>
                      </a:r>
                    </a:p>
                  </a:txBody>
                  <a:tcPr marL="76200" marR="76200" marT="50800" marB="50800">
                    <a:solidFill>
                      <a:srgbClr val="0F172A"/>
                    </a:solidFill>
                  </a:tcPr>
                </a:tc>
                <a:extLst>
                  <a:ext uri="{0D108BD9-81ED-4DB2-BD59-A6C34878D82A}">
                    <a16:rowId xmlns:a16="http://schemas.microsoft.com/office/drawing/2014/main" val="10001"/>
                  </a:ext>
                </a:extLst>
              </a:tr>
              <a:tr h="804672">
                <a:tc>
                  <a:txBody>
                    <a:bodyPr/>
                    <a:lstStyle/>
                    <a:p>
                      <a:pPr algn="l"/>
                      <a:r>
                        <a:rPr sz="1000">
                          <a:solidFill>
                            <a:srgbClr val="F1F5F9"/>
                          </a:solidFill>
                          <a:latin typeface="Verdana"/>
                        </a:rPr>
                        <a:t>Tính trọn vẹn nghiệp vụ</a:t>
                      </a:r>
                    </a:p>
                  </a:txBody>
                  <a:tcPr marL="76200" marR="76200" marT="50800" marB="50800">
                    <a:solidFill>
                      <a:srgbClr val="141E2D"/>
                    </a:solidFill>
                  </a:tcPr>
                </a:tc>
                <a:tc>
                  <a:txBody>
                    <a:bodyPr/>
                    <a:lstStyle/>
                    <a:p>
                      <a:pPr algn="l"/>
                      <a:r>
                        <a:rPr sz="1000">
                          <a:solidFill>
                            <a:srgbClr val="F1F5F9"/>
                          </a:solidFill>
                          <a:latin typeface="Verdana"/>
                        </a:rPr>
                        <a:t>30%</a:t>
                      </a:r>
                    </a:p>
                  </a:txBody>
                  <a:tcPr marL="76200" marR="76200" marT="50800" marB="50800">
                    <a:solidFill>
                      <a:srgbClr val="141E2D"/>
                    </a:solidFill>
                  </a:tcPr>
                </a:tc>
                <a:tc>
                  <a:txBody>
                    <a:bodyPr/>
                    <a:lstStyle/>
                    <a:p>
                      <a:pPr algn="l"/>
                      <a:r>
                        <a:rPr sz="1000">
                          <a:solidFill>
                            <a:srgbClr val="F1F5F9"/>
                          </a:solidFill>
                          <a:latin typeface="Verdana"/>
                        </a:rPr>
                        <a:t>Các luồng chính chạy ổn định (CRUD Sản phẩm, đăng nhập).</a:t>
                      </a:r>
                    </a:p>
                  </a:txBody>
                  <a:tcPr marL="76200" marR="76200" marT="50800" marB="50800">
                    <a:solidFill>
                      <a:srgbClr val="141E2D"/>
                    </a:solidFill>
                  </a:tcPr>
                </a:tc>
                <a:tc>
                  <a:txBody>
                    <a:bodyPr/>
                    <a:lstStyle/>
                    <a:p>
                      <a:pPr algn="l"/>
                      <a:r>
                        <a:rPr sz="1000">
                          <a:solidFill>
                            <a:srgbClr val="F1F5F9"/>
                          </a:solidFill>
                          <a:latin typeface="Verdana"/>
                        </a:rPr>
                        <a:t>Xử lý đầy đủ trường hợp biên, bọc nghiệp vụ Order an toàn SqlTransaction.</a:t>
                      </a:r>
                    </a:p>
                  </a:txBody>
                  <a:tcPr marL="76200" marR="76200" marT="50800" marB="50800">
                    <a:solidFill>
                      <a:srgbClr val="141E2D"/>
                    </a:solidFill>
                  </a:tcPr>
                </a:tc>
                <a:extLst>
                  <a:ext uri="{0D108BD9-81ED-4DB2-BD59-A6C34878D82A}">
                    <a16:rowId xmlns:a16="http://schemas.microsoft.com/office/drawing/2014/main" val="10002"/>
                  </a:ext>
                </a:extLst>
              </a:tr>
              <a:tr h="804672">
                <a:tc>
                  <a:txBody>
                    <a:bodyPr/>
                    <a:lstStyle/>
                    <a:p>
                      <a:pPr algn="l"/>
                      <a:r>
                        <a:rPr sz="1000">
                          <a:solidFill>
                            <a:srgbClr val="F1F5F9"/>
                          </a:solidFill>
                          <a:latin typeface="Verdana"/>
                        </a:rPr>
                        <a:t>Bảo mật &amp; Tối ưu hóa</a:t>
                      </a:r>
                    </a:p>
                  </a:txBody>
                  <a:tcPr marL="76200" marR="76200" marT="50800" marB="50800">
                    <a:solidFill>
                      <a:srgbClr val="0F172A"/>
                    </a:solidFill>
                  </a:tcPr>
                </a:tc>
                <a:tc>
                  <a:txBody>
                    <a:bodyPr/>
                    <a:lstStyle/>
                    <a:p>
                      <a:pPr algn="l"/>
                      <a:r>
                        <a:rPr sz="1000">
                          <a:solidFill>
                            <a:srgbClr val="F1F5F9"/>
                          </a:solidFill>
                          <a:latin typeface="Verdana"/>
                        </a:rPr>
                        <a:t>20%</a:t>
                      </a:r>
                    </a:p>
                  </a:txBody>
                  <a:tcPr marL="76200" marR="76200" marT="50800" marB="50800">
                    <a:solidFill>
                      <a:srgbClr val="0F172A"/>
                    </a:solidFill>
                  </a:tcPr>
                </a:tc>
                <a:tc>
                  <a:txBody>
                    <a:bodyPr/>
                    <a:lstStyle/>
                    <a:p>
                      <a:pPr algn="l"/>
                      <a:r>
                        <a:rPr sz="1000">
                          <a:solidFill>
                            <a:srgbClr val="F1F5F9"/>
                          </a:solidFill>
                          <a:latin typeface="Verdana"/>
                        </a:rPr>
                        <a:t>Có kiểm soát validation đầu vào, mã hóa mật khẩu, xác thực JWT.</a:t>
                      </a:r>
                    </a:p>
                  </a:txBody>
                  <a:tcPr marL="76200" marR="76200" marT="50800" marB="50800">
                    <a:solidFill>
                      <a:srgbClr val="0F172A"/>
                    </a:solidFill>
                  </a:tcPr>
                </a:tc>
                <a:tc>
                  <a:txBody>
                    <a:bodyPr/>
                    <a:lstStyle/>
                    <a:p>
                      <a:pPr algn="l"/>
                      <a:r>
                        <a:rPr sz="1000">
                          <a:solidFill>
                            <a:srgbClr val="F1F5F9"/>
                          </a:solidFill>
                          <a:latin typeface="Verdana"/>
                        </a:rPr>
                        <a:t>Phát triển chính sách Policy-based Auth, xoay vòng Refresh Token an toàn.</a:t>
                      </a:r>
                    </a:p>
                  </a:txBody>
                  <a:tcPr marL="76200" marR="76200" marT="50800" marB="50800">
                    <a:solidFill>
                      <a:srgbClr val="0F172A"/>
                    </a:solidFill>
                  </a:tcPr>
                </a:tc>
                <a:extLst>
                  <a:ext uri="{0D108BD9-81ED-4DB2-BD59-A6C34878D82A}">
                    <a16:rowId xmlns:a16="http://schemas.microsoft.com/office/drawing/2014/main" val="10003"/>
                  </a:ext>
                </a:extLst>
              </a:tr>
              <a:tr h="804672">
                <a:tc>
                  <a:txBody>
                    <a:bodyPr/>
                    <a:lstStyle/>
                    <a:p>
                      <a:pPr algn="l"/>
                      <a:r>
                        <a:rPr sz="1000">
                          <a:solidFill>
                            <a:srgbClr val="F1F5F9"/>
                          </a:solidFill>
                          <a:latin typeface="Verdana"/>
                        </a:rPr>
                        <a:t>Kiểm thử &amp; Triển khai</a:t>
                      </a:r>
                    </a:p>
                  </a:txBody>
                  <a:tcPr marL="76200" marR="76200" marT="50800" marB="50800">
                    <a:solidFill>
                      <a:srgbClr val="141E2D"/>
                    </a:solidFill>
                  </a:tcPr>
                </a:tc>
                <a:tc>
                  <a:txBody>
                    <a:bodyPr/>
                    <a:lstStyle/>
                    <a:p>
                      <a:pPr algn="l"/>
                      <a:r>
                        <a:rPr sz="1000">
                          <a:solidFill>
                            <a:srgbClr val="F1F5F9"/>
                          </a:solidFill>
                          <a:latin typeface="Verdana"/>
                        </a:rPr>
                        <a:t>20%</a:t>
                      </a:r>
                    </a:p>
                  </a:txBody>
                  <a:tcPr marL="76200" marR="76200" marT="50800" marB="50800">
                    <a:solidFill>
                      <a:srgbClr val="141E2D"/>
                    </a:solidFill>
                  </a:tcPr>
                </a:tc>
                <a:tc>
                  <a:txBody>
                    <a:bodyPr/>
                    <a:lstStyle/>
                    <a:p>
                      <a:pPr algn="l"/>
                      <a:r>
                        <a:rPr sz="1000">
                          <a:solidFill>
                            <a:srgbClr val="F1F5F9"/>
                          </a:solidFill>
                          <a:latin typeface="Verdana"/>
                        </a:rPr>
                        <a:t>Có tối thiểu 3 ca test (xUnit) chạy pass, đóng gói Docker thành công.</a:t>
                      </a:r>
                    </a:p>
                  </a:txBody>
                  <a:tcPr marL="76200" marR="76200" marT="50800" marB="50800">
                    <a:solidFill>
                      <a:srgbClr val="141E2D"/>
                    </a:solidFill>
                  </a:tcPr>
                </a:tc>
                <a:tc>
                  <a:txBody>
                    <a:bodyPr/>
                    <a:lstStyle/>
                    <a:p>
                      <a:pPr algn="l"/>
                      <a:r>
                        <a:rPr sz="1000">
                          <a:solidFill>
                            <a:srgbClr val="F1F5F9"/>
                          </a:solidFill>
                          <a:latin typeface="Verdana"/>
                        </a:rPr>
                        <a:t>Bộ test bao phủ các ca lỗi đặc thù, thiết lập pipeline GitHub Actions CI tự động.</a:t>
                      </a:r>
                    </a:p>
                  </a:txBody>
                  <a:tcPr marL="76200" marR="76200" marT="50800" marB="50800">
                    <a:solidFill>
                      <a:srgbClr val="141E2D"/>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85800" y="6309360"/>
            <a:ext cx="10820095" cy="274320"/>
          </a:xfrm>
          <a:prstGeom prst="rect">
            <a:avLst/>
          </a:prstGeom>
          <a:noFill/>
        </p:spPr>
        <p:txBody>
          <a:bodyPr wrap="square" lIns="0" tIns="0" rIns="0" bIns="0">
            <a:spAutoFit/>
          </a:bodyPr>
          <a:lstStyle/>
          <a:p>
            <a:pPr algn="l">
              <a:defRPr sz="900">
                <a:solidFill>
                  <a:srgbClr val="94A3B8"/>
                </a:solidFill>
                <a:latin typeface="Verdana"/>
              </a:defRPr>
            </a:pPr>
            <a:r>
              <a:t>Giáo trình: Phát triển phần mềm hướng dịch vụ (ASP.NET Core &amp; Dapper) | Trang 88 / 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18818</Words>
  <Application>Microsoft Office PowerPoint</Application>
  <PresentationFormat>Widescreen</PresentationFormat>
  <Paragraphs>1123</Paragraphs>
  <Slides>88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Arial</vt:lpstr>
      <vt:lpstr>Calibri</vt:lpstr>
      <vt:lpstr>Consolas</vt:lpstr>
      <vt:lpstr>Georgia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Hung Nguyen Huu</dc:creator>
  <cp:keywords/>
  <dc:description>generated using python-pptx</dc:description>
  <cp:lastModifiedBy>Hung Nguyen Huu</cp:lastModifiedBy>
  <cp:revision>1</cp:revision>
  <dcterms:created xsi:type="dcterms:W3CDTF">2013-01-27T09:14:16Z</dcterms:created>
  <dcterms:modified xsi:type="dcterms:W3CDTF">2026-08-14T10:46:08Z</dcterms:modified>
  <cp:category/>
</cp:coreProperties>
</file>